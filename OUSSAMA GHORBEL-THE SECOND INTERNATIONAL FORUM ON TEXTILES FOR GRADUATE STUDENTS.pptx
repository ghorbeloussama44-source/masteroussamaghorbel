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gif" ContentType="image/gif"/>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7.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38.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39.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40.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60"/>
  </p:notesMasterIdLst>
  <p:sldIdLst>
    <p:sldId id="256" r:id="rId3"/>
    <p:sldId id="257" r:id="rId4"/>
    <p:sldId id="258" r:id="rId5"/>
    <p:sldId id="260" r:id="rId6"/>
    <p:sldId id="262" r:id="rId7"/>
    <p:sldId id="268" r:id="rId8"/>
    <p:sldId id="267" r:id="rId9"/>
    <p:sldId id="270" r:id="rId10"/>
    <p:sldId id="261" r:id="rId11"/>
    <p:sldId id="271" r:id="rId12"/>
    <p:sldId id="272" r:id="rId13"/>
    <p:sldId id="273" r:id="rId14"/>
    <p:sldId id="263" r:id="rId15"/>
    <p:sldId id="283" r:id="rId16"/>
    <p:sldId id="294" r:id="rId17"/>
    <p:sldId id="298" r:id="rId18"/>
    <p:sldId id="325" r:id="rId19"/>
    <p:sldId id="299" r:id="rId20"/>
    <p:sldId id="295" r:id="rId21"/>
    <p:sldId id="300" r:id="rId22"/>
    <p:sldId id="301" r:id="rId23"/>
    <p:sldId id="302" r:id="rId24"/>
    <p:sldId id="303" r:id="rId25"/>
    <p:sldId id="304" r:id="rId26"/>
    <p:sldId id="306" r:id="rId27"/>
    <p:sldId id="285" r:id="rId28"/>
    <p:sldId id="307" r:id="rId29"/>
    <p:sldId id="284" r:id="rId30"/>
    <p:sldId id="309" r:id="rId31"/>
    <p:sldId id="310" r:id="rId32"/>
    <p:sldId id="311" r:id="rId33"/>
    <p:sldId id="312" r:id="rId34"/>
    <p:sldId id="314" r:id="rId35"/>
    <p:sldId id="313" r:id="rId36"/>
    <p:sldId id="315" r:id="rId37"/>
    <p:sldId id="316" r:id="rId38"/>
    <p:sldId id="318" r:id="rId39"/>
    <p:sldId id="279" r:id="rId40"/>
    <p:sldId id="286" r:id="rId41"/>
    <p:sldId id="319" r:id="rId42"/>
    <p:sldId id="320" r:id="rId43"/>
    <p:sldId id="321" r:id="rId44"/>
    <p:sldId id="322" r:id="rId45"/>
    <p:sldId id="323" r:id="rId46"/>
    <p:sldId id="287" r:id="rId47"/>
    <p:sldId id="282" r:id="rId48"/>
    <p:sldId id="324" r:id="rId49"/>
    <p:sldId id="326" r:id="rId50"/>
    <p:sldId id="329" r:id="rId51"/>
    <p:sldId id="259" r:id="rId52"/>
    <p:sldId id="331" r:id="rId53"/>
    <p:sldId id="328" r:id="rId54"/>
    <p:sldId id="327" r:id="rId55"/>
    <p:sldId id="332" r:id="rId56"/>
    <p:sldId id="330" r:id="rId57"/>
    <p:sldId id="333" r:id="rId58"/>
    <p:sldId id="334" r:id="rId5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61" Type="http://schemas.openxmlformats.org/officeDocument/2006/relationships/presProps" Target="pres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oleObject" Target="file:///C:\Users\Oussama\AppData\Roaming\Microsoft\Excel\Analysegeobranch2%20(version%201).xlsb"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Oussama\AppData\Roaming\Microsoft\Excel\Analysegeobranch2%20(version%201).xlsb"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Oussama\AppData\Roaming\Microsoft\Excel\Analysegeobranch2%20(version%201).xlsb"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Oussama\AppData\Roaming\Microsoft\Excel\Analysegeobranch2%20(version%201).xlsb"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Oussama\AppData\Roaming\Microsoft\Excel\Analysegeobranch2%20(version%201).xlsb"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Oussama\AppData\Roaming\Microsoft\Excel\Analysegeobranch2%20(version%201).xlsb"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Oussama\Desktop\Analysegeobranch2.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Oussama\Desktop\Analysegeobranch2.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Oussama\Desktop\Analysegeobranch2.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Oussama\Desktop\Analysegeobranch2.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Oussama\Desktop\Analysegeobranch2.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Oussama\Desktop\Analysegeobranch2.xlsx" TargetMode="External"/><Relationship Id="rId2" Type="http://schemas.microsoft.com/office/2011/relationships/chartColorStyle" Target="colors12.xml"/><Relationship Id="rId1" Type="http://schemas.microsoft.com/office/2011/relationships/chartStyle" Target="style1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800" b="0" i="0" baseline="0">
                <a:effectLst/>
              </a:rPr>
              <a:t>LOGIT (MOYENNE DONNEES/K)</a:t>
            </a:r>
            <a:endParaRPr lang="fr-FR">
              <a:effectLst/>
            </a:endParaRPr>
          </a:p>
        </c:rich>
      </c:tx>
      <c:layout>
        <c:manualLayout>
          <c:xMode val="edge"/>
          <c:yMode val="edge"/>
          <c:x val="0.22929155730533685"/>
          <c:y val="3.7037037037037035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scatterChart>
        <c:scatterStyle val="lineMarker"/>
        <c:varyColors val="0"/>
        <c:ser>
          <c:idx val="0"/>
          <c:order val="0"/>
          <c:tx>
            <c:strRef>
              <c:f>longbr1br2!$A$2</c:f>
              <c:strCache>
                <c:ptCount val="1"/>
                <c:pt idx="0">
                  <c:v>LOGIT (MOYENNE DONNEES/K)</c:v>
                </c:pt>
              </c:strCache>
            </c:strRef>
          </c:tx>
          <c:spPr>
            <a:ln w="25400" cap="rnd">
              <a:no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ysDot"/>
              </a:ln>
              <a:effectLst/>
            </c:spPr>
            <c:trendlineType val="linear"/>
            <c:dispRSqr val="1"/>
            <c:dispEq val="1"/>
            <c:trendlineLbl>
              <c:layout>
                <c:manualLayout>
                  <c:x val="0.13092672790901139"/>
                  <c:y val="0.21367162438028581"/>
                </c:manualLayout>
              </c:layout>
              <c:numFmt formatCode="General" sourceLinked="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trendlineLbl>
          </c:trendline>
          <c:xVal>
            <c:numRef>
              <c:f>longbr1br2!$A$4:$FL$4</c:f>
              <c:numCache>
                <c:formatCode>General</c:formatCode>
                <c:ptCount val="168"/>
                <c:pt idx="0">
                  <c:v>99</c:v>
                </c:pt>
                <c:pt idx="1">
                  <c:v>98</c:v>
                </c:pt>
                <c:pt idx="2">
                  <c:v>97</c:v>
                </c:pt>
                <c:pt idx="3">
                  <c:v>96</c:v>
                </c:pt>
                <c:pt idx="4">
                  <c:v>95</c:v>
                </c:pt>
                <c:pt idx="5">
                  <c:v>94</c:v>
                </c:pt>
                <c:pt idx="6">
                  <c:v>93</c:v>
                </c:pt>
                <c:pt idx="7">
                  <c:v>92</c:v>
                </c:pt>
                <c:pt idx="8">
                  <c:v>91</c:v>
                </c:pt>
                <c:pt idx="9">
                  <c:v>90</c:v>
                </c:pt>
                <c:pt idx="10">
                  <c:v>89</c:v>
                </c:pt>
                <c:pt idx="11">
                  <c:v>88</c:v>
                </c:pt>
                <c:pt idx="12">
                  <c:v>87</c:v>
                </c:pt>
                <c:pt idx="13">
                  <c:v>86</c:v>
                </c:pt>
                <c:pt idx="14">
                  <c:v>85</c:v>
                </c:pt>
                <c:pt idx="15">
                  <c:v>84</c:v>
                </c:pt>
                <c:pt idx="16">
                  <c:v>83</c:v>
                </c:pt>
                <c:pt idx="17">
                  <c:v>82</c:v>
                </c:pt>
                <c:pt idx="18">
                  <c:v>81</c:v>
                </c:pt>
                <c:pt idx="19">
                  <c:v>80</c:v>
                </c:pt>
                <c:pt idx="20">
                  <c:v>79</c:v>
                </c:pt>
                <c:pt idx="21">
                  <c:v>78</c:v>
                </c:pt>
                <c:pt idx="22">
                  <c:v>77</c:v>
                </c:pt>
                <c:pt idx="23">
                  <c:v>76</c:v>
                </c:pt>
                <c:pt idx="24">
                  <c:v>75</c:v>
                </c:pt>
                <c:pt idx="25">
                  <c:v>74</c:v>
                </c:pt>
                <c:pt idx="26">
                  <c:v>73</c:v>
                </c:pt>
                <c:pt idx="27">
                  <c:v>72</c:v>
                </c:pt>
                <c:pt idx="28">
                  <c:v>71</c:v>
                </c:pt>
                <c:pt idx="29">
                  <c:v>70</c:v>
                </c:pt>
                <c:pt idx="30">
                  <c:v>69</c:v>
                </c:pt>
                <c:pt idx="31">
                  <c:v>68</c:v>
                </c:pt>
                <c:pt idx="32">
                  <c:v>67</c:v>
                </c:pt>
                <c:pt idx="33">
                  <c:v>66</c:v>
                </c:pt>
                <c:pt idx="34">
                  <c:v>65</c:v>
                </c:pt>
                <c:pt idx="35">
                  <c:v>64</c:v>
                </c:pt>
                <c:pt idx="36">
                  <c:v>63</c:v>
                </c:pt>
                <c:pt idx="37">
                  <c:v>62</c:v>
                </c:pt>
                <c:pt idx="38">
                  <c:v>61</c:v>
                </c:pt>
                <c:pt idx="39">
                  <c:v>60</c:v>
                </c:pt>
                <c:pt idx="40">
                  <c:v>59</c:v>
                </c:pt>
                <c:pt idx="41">
                  <c:v>58</c:v>
                </c:pt>
                <c:pt idx="42">
                  <c:v>57</c:v>
                </c:pt>
                <c:pt idx="43">
                  <c:v>56</c:v>
                </c:pt>
                <c:pt idx="44">
                  <c:v>55</c:v>
                </c:pt>
                <c:pt idx="45">
                  <c:v>54</c:v>
                </c:pt>
                <c:pt idx="46">
                  <c:v>53</c:v>
                </c:pt>
                <c:pt idx="47">
                  <c:v>52</c:v>
                </c:pt>
                <c:pt idx="48">
                  <c:v>51</c:v>
                </c:pt>
                <c:pt idx="49">
                  <c:v>50</c:v>
                </c:pt>
                <c:pt idx="50">
                  <c:v>49</c:v>
                </c:pt>
                <c:pt idx="51">
                  <c:v>48</c:v>
                </c:pt>
                <c:pt idx="52">
                  <c:v>47</c:v>
                </c:pt>
                <c:pt idx="53">
                  <c:v>46</c:v>
                </c:pt>
                <c:pt idx="54">
                  <c:v>45</c:v>
                </c:pt>
                <c:pt idx="55">
                  <c:v>44</c:v>
                </c:pt>
                <c:pt idx="56">
                  <c:v>43</c:v>
                </c:pt>
                <c:pt idx="57">
                  <c:v>42</c:v>
                </c:pt>
                <c:pt idx="58">
                  <c:v>41</c:v>
                </c:pt>
                <c:pt idx="59">
                  <c:v>40</c:v>
                </c:pt>
                <c:pt idx="60">
                  <c:v>39</c:v>
                </c:pt>
                <c:pt idx="61">
                  <c:v>38</c:v>
                </c:pt>
                <c:pt idx="62">
                  <c:v>37</c:v>
                </c:pt>
                <c:pt idx="63">
                  <c:v>36</c:v>
                </c:pt>
                <c:pt idx="64">
                  <c:v>35</c:v>
                </c:pt>
                <c:pt idx="65">
                  <c:v>34</c:v>
                </c:pt>
                <c:pt idx="66">
                  <c:v>33</c:v>
                </c:pt>
                <c:pt idx="67">
                  <c:v>32</c:v>
                </c:pt>
                <c:pt idx="68">
                  <c:v>31</c:v>
                </c:pt>
                <c:pt idx="69">
                  <c:v>30</c:v>
                </c:pt>
                <c:pt idx="70">
                  <c:v>29</c:v>
                </c:pt>
                <c:pt idx="71">
                  <c:v>28</c:v>
                </c:pt>
                <c:pt idx="72">
                  <c:v>27</c:v>
                </c:pt>
                <c:pt idx="73">
                  <c:v>26</c:v>
                </c:pt>
                <c:pt idx="74">
                  <c:v>25</c:v>
                </c:pt>
                <c:pt idx="75">
                  <c:v>24</c:v>
                </c:pt>
                <c:pt idx="76">
                  <c:v>23</c:v>
                </c:pt>
                <c:pt idx="77">
                  <c:v>22</c:v>
                </c:pt>
                <c:pt idx="78">
                  <c:v>21</c:v>
                </c:pt>
                <c:pt idx="79">
                  <c:v>20</c:v>
                </c:pt>
                <c:pt idx="80">
                  <c:v>19</c:v>
                </c:pt>
                <c:pt idx="81">
                  <c:v>18</c:v>
                </c:pt>
                <c:pt idx="82">
                  <c:v>17</c:v>
                </c:pt>
                <c:pt idx="83">
                  <c:v>16</c:v>
                </c:pt>
                <c:pt idx="84">
                  <c:v>15</c:v>
                </c:pt>
                <c:pt idx="85">
                  <c:v>14</c:v>
                </c:pt>
                <c:pt idx="86">
                  <c:v>13</c:v>
                </c:pt>
                <c:pt idx="87">
                  <c:v>12</c:v>
                </c:pt>
                <c:pt idx="88">
                  <c:v>11</c:v>
                </c:pt>
                <c:pt idx="89">
                  <c:v>10</c:v>
                </c:pt>
                <c:pt idx="90">
                  <c:v>9</c:v>
                </c:pt>
                <c:pt idx="91">
                  <c:v>8</c:v>
                </c:pt>
                <c:pt idx="92">
                  <c:v>7</c:v>
                </c:pt>
                <c:pt idx="93">
                  <c:v>6</c:v>
                </c:pt>
                <c:pt idx="94">
                  <c:v>5</c:v>
                </c:pt>
                <c:pt idx="95">
                  <c:v>4</c:v>
                </c:pt>
                <c:pt idx="96">
                  <c:v>3</c:v>
                </c:pt>
                <c:pt idx="97">
                  <c:v>2</c:v>
                </c:pt>
                <c:pt idx="98">
                  <c:v>1</c:v>
                </c:pt>
                <c:pt idx="99">
                  <c:v>69</c:v>
                </c:pt>
                <c:pt idx="100">
                  <c:v>68</c:v>
                </c:pt>
                <c:pt idx="101">
                  <c:v>67</c:v>
                </c:pt>
                <c:pt idx="102">
                  <c:v>66</c:v>
                </c:pt>
                <c:pt idx="103">
                  <c:v>65</c:v>
                </c:pt>
                <c:pt idx="104">
                  <c:v>64</c:v>
                </c:pt>
                <c:pt idx="105">
                  <c:v>63</c:v>
                </c:pt>
                <c:pt idx="106">
                  <c:v>62</c:v>
                </c:pt>
                <c:pt idx="107">
                  <c:v>61</c:v>
                </c:pt>
                <c:pt idx="108">
                  <c:v>60</c:v>
                </c:pt>
                <c:pt idx="109">
                  <c:v>59</c:v>
                </c:pt>
                <c:pt idx="110">
                  <c:v>58</c:v>
                </c:pt>
                <c:pt idx="111">
                  <c:v>57</c:v>
                </c:pt>
                <c:pt idx="112">
                  <c:v>56</c:v>
                </c:pt>
                <c:pt idx="113">
                  <c:v>55</c:v>
                </c:pt>
                <c:pt idx="114">
                  <c:v>54</c:v>
                </c:pt>
                <c:pt idx="115">
                  <c:v>53</c:v>
                </c:pt>
                <c:pt idx="116">
                  <c:v>52</c:v>
                </c:pt>
                <c:pt idx="117">
                  <c:v>51</c:v>
                </c:pt>
                <c:pt idx="118">
                  <c:v>50</c:v>
                </c:pt>
                <c:pt idx="119">
                  <c:v>49</c:v>
                </c:pt>
                <c:pt idx="120">
                  <c:v>48</c:v>
                </c:pt>
                <c:pt idx="121">
                  <c:v>47</c:v>
                </c:pt>
                <c:pt idx="122">
                  <c:v>46</c:v>
                </c:pt>
                <c:pt idx="123">
                  <c:v>45</c:v>
                </c:pt>
                <c:pt idx="124">
                  <c:v>44</c:v>
                </c:pt>
                <c:pt idx="125">
                  <c:v>43</c:v>
                </c:pt>
                <c:pt idx="126">
                  <c:v>42</c:v>
                </c:pt>
                <c:pt idx="127">
                  <c:v>41</c:v>
                </c:pt>
                <c:pt idx="128">
                  <c:v>40</c:v>
                </c:pt>
                <c:pt idx="129">
                  <c:v>39</c:v>
                </c:pt>
                <c:pt idx="130">
                  <c:v>38</c:v>
                </c:pt>
                <c:pt idx="131">
                  <c:v>37</c:v>
                </c:pt>
                <c:pt idx="132">
                  <c:v>36</c:v>
                </c:pt>
                <c:pt idx="133">
                  <c:v>35</c:v>
                </c:pt>
                <c:pt idx="134">
                  <c:v>34</c:v>
                </c:pt>
                <c:pt idx="135">
                  <c:v>33</c:v>
                </c:pt>
                <c:pt idx="136">
                  <c:v>32</c:v>
                </c:pt>
                <c:pt idx="137">
                  <c:v>31</c:v>
                </c:pt>
                <c:pt idx="138">
                  <c:v>30</c:v>
                </c:pt>
                <c:pt idx="139">
                  <c:v>29</c:v>
                </c:pt>
                <c:pt idx="140">
                  <c:v>28</c:v>
                </c:pt>
                <c:pt idx="141">
                  <c:v>27</c:v>
                </c:pt>
                <c:pt idx="142">
                  <c:v>26</c:v>
                </c:pt>
                <c:pt idx="143">
                  <c:v>25</c:v>
                </c:pt>
                <c:pt idx="144">
                  <c:v>24</c:v>
                </c:pt>
                <c:pt idx="145">
                  <c:v>23</c:v>
                </c:pt>
                <c:pt idx="146">
                  <c:v>22</c:v>
                </c:pt>
                <c:pt idx="147">
                  <c:v>21</c:v>
                </c:pt>
                <c:pt idx="148">
                  <c:v>20</c:v>
                </c:pt>
                <c:pt idx="149">
                  <c:v>19</c:v>
                </c:pt>
                <c:pt idx="150">
                  <c:v>18</c:v>
                </c:pt>
                <c:pt idx="151">
                  <c:v>17</c:v>
                </c:pt>
                <c:pt idx="152">
                  <c:v>16</c:v>
                </c:pt>
                <c:pt idx="153">
                  <c:v>15</c:v>
                </c:pt>
                <c:pt idx="154">
                  <c:v>14</c:v>
                </c:pt>
                <c:pt idx="155">
                  <c:v>13</c:v>
                </c:pt>
                <c:pt idx="156">
                  <c:v>12</c:v>
                </c:pt>
                <c:pt idx="157">
                  <c:v>11</c:v>
                </c:pt>
                <c:pt idx="158">
                  <c:v>10</c:v>
                </c:pt>
                <c:pt idx="159">
                  <c:v>9</c:v>
                </c:pt>
                <c:pt idx="160">
                  <c:v>8</c:v>
                </c:pt>
                <c:pt idx="161">
                  <c:v>7</c:v>
                </c:pt>
                <c:pt idx="162">
                  <c:v>6</c:v>
                </c:pt>
                <c:pt idx="163">
                  <c:v>5</c:v>
                </c:pt>
                <c:pt idx="164">
                  <c:v>4</c:v>
                </c:pt>
                <c:pt idx="165">
                  <c:v>3</c:v>
                </c:pt>
                <c:pt idx="166">
                  <c:v>2</c:v>
                </c:pt>
                <c:pt idx="167">
                  <c:v>1</c:v>
                </c:pt>
              </c:numCache>
            </c:numRef>
          </c:xVal>
          <c:yVal>
            <c:numRef>
              <c:f>longbr1br2!$A$7:$FL$7</c:f>
              <c:numCache>
                <c:formatCode>General</c:formatCode>
                <c:ptCount val="168"/>
                <c:pt idx="0">
                  <c:v>-1.2526022613837322</c:v>
                </c:pt>
                <c:pt idx="1">
                  <c:v>-1.252602261383732</c:v>
                </c:pt>
                <c:pt idx="2">
                  <c:v>-1.252602261383732</c:v>
                </c:pt>
                <c:pt idx="3">
                  <c:v>-1.252602261383732</c:v>
                </c:pt>
                <c:pt idx="4">
                  <c:v>-1.252602261383732</c:v>
                </c:pt>
                <c:pt idx="5">
                  <c:v>-1.252602261383732</c:v>
                </c:pt>
                <c:pt idx="6">
                  <c:v>-1.252602261383732</c:v>
                </c:pt>
                <c:pt idx="7">
                  <c:v>-1.252602261383732</c:v>
                </c:pt>
                <c:pt idx="8">
                  <c:v>-1.252602261383732</c:v>
                </c:pt>
                <c:pt idx="9">
                  <c:v>-2.389512774467911</c:v>
                </c:pt>
                <c:pt idx="10">
                  <c:v>-2.389512774467911</c:v>
                </c:pt>
                <c:pt idx="11">
                  <c:v>-1.6089464266917499</c:v>
                </c:pt>
                <c:pt idx="12">
                  <c:v>-1.6089464266917499</c:v>
                </c:pt>
                <c:pt idx="13">
                  <c:v>-1.8098843105330844</c:v>
                </c:pt>
                <c:pt idx="14">
                  <c:v>-1.730084221351319</c:v>
                </c:pt>
                <c:pt idx="15">
                  <c:v>-1.730084221351319</c:v>
                </c:pt>
                <c:pt idx="16">
                  <c:v>-1.720133912676121</c:v>
                </c:pt>
                <c:pt idx="17">
                  <c:v>-1.720133912676121</c:v>
                </c:pt>
                <c:pt idx="18">
                  <c:v>-1.7195143040517697</c:v>
                </c:pt>
                <c:pt idx="19">
                  <c:v>-1.7195143040517697</c:v>
                </c:pt>
                <c:pt idx="20">
                  <c:v>-1.2103523110308212</c:v>
                </c:pt>
                <c:pt idx="21">
                  <c:v>-1.2110159398729752</c:v>
                </c:pt>
                <c:pt idx="22">
                  <c:v>-1.5651248073371427</c:v>
                </c:pt>
                <c:pt idx="23">
                  <c:v>-1.600203856765003</c:v>
                </c:pt>
                <c:pt idx="24">
                  <c:v>-1.6252003676800733</c:v>
                </c:pt>
                <c:pt idx="25">
                  <c:v>-1.6302122874146741</c:v>
                </c:pt>
                <c:pt idx="26">
                  <c:v>-1.6302122874146741</c:v>
                </c:pt>
                <c:pt idx="27">
                  <c:v>-1.631523273478749</c:v>
                </c:pt>
                <c:pt idx="28">
                  <c:v>-1.6329952536889634</c:v>
                </c:pt>
                <c:pt idx="29">
                  <c:v>-1.6164164740528864</c:v>
                </c:pt>
                <c:pt idx="30">
                  <c:v>-1.6156127776829856</c:v>
                </c:pt>
                <c:pt idx="31">
                  <c:v>-1.7349771457186915</c:v>
                </c:pt>
                <c:pt idx="32">
                  <c:v>-1.4112092067078974</c:v>
                </c:pt>
                <c:pt idx="33">
                  <c:v>-1.745704633372662</c:v>
                </c:pt>
                <c:pt idx="34">
                  <c:v>-1.745704633372662</c:v>
                </c:pt>
                <c:pt idx="35">
                  <c:v>-1.7320263454395644</c:v>
                </c:pt>
                <c:pt idx="36">
                  <c:v>-1.7320263454395644</c:v>
                </c:pt>
                <c:pt idx="37">
                  <c:v>-1.7590819438043501</c:v>
                </c:pt>
                <c:pt idx="38">
                  <c:v>-0.76013133047212111</c:v>
                </c:pt>
                <c:pt idx="39">
                  <c:v>-0.76704927079509433</c:v>
                </c:pt>
                <c:pt idx="40">
                  <c:v>-1.4538369060291965</c:v>
                </c:pt>
                <c:pt idx="41">
                  <c:v>-1.4379327923624909</c:v>
                </c:pt>
                <c:pt idx="42">
                  <c:v>-1.2622991619781225</c:v>
                </c:pt>
                <c:pt idx="43">
                  <c:v>-1.5900764990330252</c:v>
                </c:pt>
                <c:pt idx="44">
                  <c:v>-1.5914908908139127</c:v>
                </c:pt>
                <c:pt idx="45">
                  <c:v>-1.5911603736044815</c:v>
                </c:pt>
                <c:pt idx="46">
                  <c:v>-1.5911603736044815</c:v>
                </c:pt>
                <c:pt idx="47">
                  <c:v>-1.3585753747420648</c:v>
                </c:pt>
                <c:pt idx="48">
                  <c:v>-1.3642061708855033</c:v>
                </c:pt>
                <c:pt idx="49">
                  <c:v>-1.6407203851124692</c:v>
                </c:pt>
                <c:pt idx="50">
                  <c:v>-1.6411216298157492</c:v>
                </c:pt>
                <c:pt idx="51">
                  <c:v>-1.4419252097434183</c:v>
                </c:pt>
                <c:pt idx="52">
                  <c:v>-1.4826966312471104</c:v>
                </c:pt>
                <c:pt idx="53">
                  <c:v>-1.4889791557204768</c:v>
                </c:pt>
                <c:pt idx="54">
                  <c:v>-1.7805616439444794</c:v>
                </c:pt>
                <c:pt idx="55">
                  <c:v>-1.7425588268140439</c:v>
                </c:pt>
                <c:pt idx="56">
                  <c:v>-1.8168775659810452</c:v>
                </c:pt>
                <c:pt idx="57">
                  <c:v>-1.8207111899296127</c:v>
                </c:pt>
                <c:pt idx="58">
                  <c:v>-1.7912947026282058</c:v>
                </c:pt>
                <c:pt idx="59">
                  <c:v>-1.7006679371884172</c:v>
                </c:pt>
                <c:pt idx="60">
                  <c:v>-1.6921454383029801</c:v>
                </c:pt>
                <c:pt idx="61">
                  <c:v>-1.763701323513079</c:v>
                </c:pt>
                <c:pt idx="62">
                  <c:v>-1.8985759216167981</c:v>
                </c:pt>
                <c:pt idx="63">
                  <c:v>-1.8606382464985489</c:v>
                </c:pt>
                <c:pt idx="64">
                  <c:v>-1.8149331291745743</c:v>
                </c:pt>
                <c:pt idx="65">
                  <c:v>-1.7612850909238416</c:v>
                </c:pt>
                <c:pt idx="66">
                  <c:v>-1.7836666970500874</c:v>
                </c:pt>
                <c:pt idx="67">
                  <c:v>-1.849258339200796</c:v>
                </c:pt>
                <c:pt idx="68">
                  <c:v>-2.5123875269088995</c:v>
                </c:pt>
                <c:pt idx="69">
                  <c:v>-1.939204340188122</c:v>
                </c:pt>
                <c:pt idx="70">
                  <c:v>-1.8373136006252995</c:v>
                </c:pt>
                <c:pt idx="71">
                  <c:v>-1.8399052404982643</c:v>
                </c:pt>
                <c:pt idx="72">
                  <c:v>-1.7513163082191123</c:v>
                </c:pt>
                <c:pt idx="73">
                  <c:v>-1.7488330543242305</c:v>
                </c:pt>
                <c:pt idx="74">
                  <c:v>-1.8301813833984109</c:v>
                </c:pt>
                <c:pt idx="75">
                  <c:v>-1.8973715707768339</c:v>
                </c:pt>
                <c:pt idx="76">
                  <c:v>-1.8590126099344118</c:v>
                </c:pt>
                <c:pt idx="77">
                  <c:v>-1.6557781427090303</c:v>
                </c:pt>
                <c:pt idx="78">
                  <c:v>-1.6557781427090303</c:v>
                </c:pt>
                <c:pt idx="79">
                  <c:v>-1.6712216913616729</c:v>
                </c:pt>
                <c:pt idx="80">
                  <c:v>-1.5267990895246408</c:v>
                </c:pt>
                <c:pt idx="81">
                  <c:v>-1.3807233160704353</c:v>
                </c:pt>
                <c:pt idx="82">
                  <c:v>-1.3807233160704353</c:v>
                </c:pt>
                <c:pt idx="83">
                  <c:v>-1.3807233160704353</c:v>
                </c:pt>
                <c:pt idx="84">
                  <c:v>-1.3807233160704353</c:v>
                </c:pt>
                <c:pt idx="85">
                  <c:v>-1.3807233160704353</c:v>
                </c:pt>
                <c:pt idx="86">
                  <c:v>-1.7520746561302574</c:v>
                </c:pt>
                <c:pt idx="87">
                  <c:v>-1.8392260064669783</c:v>
                </c:pt>
                <c:pt idx="88">
                  <c:v>-1.5620188721214765</c:v>
                </c:pt>
                <c:pt idx="89">
                  <c:v>-1.5620188721214765</c:v>
                </c:pt>
                <c:pt idx="90">
                  <c:v>-1.710023141073246</c:v>
                </c:pt>
                <c:pt idx="91">
                  <c:v>-1.710023141073246</c:v>
                </c:pt>
                <c:pt idx="92">
                  <c:v>-1.7545438643517448</c:v>
                </c:pt>
                <c:pt idx="93">
                  <c:v>-1.7784065857797611</c:v>
                </c:pt>
                <c:pt idx="94">
                  <c:v>-1.7784065857797611</c:v>
                </c:pt>
                <c:pt idx="95">
                  <c:v>-1.6088380323921161</c:v>
                </c:pt>
                <c:pt idx="96">
                  <c:v>-1.7905932883378726</c:v>
                </c:pt>
                <c:pt idx="97">
                  <c:v>-1.7905932883378726</c:v>
                </c:pt>
                <c:pt idx="98">
                  <c:v>-1.7905932883378726</c:v>
                </c:pt>
                <c:pt idx="99">
                  <c:v>-0.96940055718810225</c:v>
                </c:pt>
                <c:pt idx="100">
                  <c:v>-0.96940055718810225</c:v>
                </c:pt>
                <c:pt idx="101">
                  <c:v>-0.96940055718810225</c:v>
                </c:pt>
                <c:pt idx="102">
                  <c:v>-0.96940055718810225</c:v>
                </c:pt>
                <c:pt idx="103">
                  <c:v>-0.96940055718810225</c:v>
                </c:pt>
                <c:pt idx="104">
                  <c:v>-1.2268467408828638</c:v>
                </c:pt>
                <c:pt idx="105">
                  <c:v>-1.2268467408828638</c:v>
                </c:pt>
                <c:pt idx="106">
                  <c:v>-1.2268467408828638</c:v>
                </c:pt>
                <c:pt idx="107">
                  <c:v>-1.2268467408828638</c:v>
                </c:pt>
                <c:pt idx="108">
                  <c:v>-1.2268467408828638</c:v>
                </c:pt>
                <c:pt idx="109">
                  <c:v>-1.2268467408828638</c:v>
                </c:pt>
                <c:pt idx="110">
                  <c:v>-1.1475085845031217</c:v>
                </c:pt>
                <c:pt idx="111">
                  <c:v>-1.1330223212744519</c:v>
                </c:pt>
                <c:pt idx="112">
                  <c:v>-1.1330223212744519</c:v>
                </c:pt>
                <c:pt idx="113">
                  <c:v>-1.1330223212744519</c:v>
                </c:pt>
                <c:pt idx="114">
                  <c:v>-1.1330223212744519</c:v>
                </c:pt>
                <c:pt idx="115">
                  <c:v>-2.0118020607385891</c:v>
                </c:pt>
                <c:pt idx="116">
                  <c:v>-2.0118020607385891</c:v>
                </c:pt>
                <c:pt idx="117">
                  <c:v>-2.0118020607385891</c:v>
                </c:pt>
                <c:pt idx="118">
                  <c:v>-2.136854366606034</c:v>
                </c:pt>
                <c:pt idx="119">
                  <c:v>-2.1313436703673179</c:v>
                </c:pt>
                <c:pt idx="120">
                  <c:v>-1.9272161745568985</c:v>
                </c:pt>
                <c:pt idx="121">
                  <c:v>-1.9237310925104751</c:v>
                </c:pt>
                <c:pt idx="122">
                  <c:v>-1.7555782350176243</c:v>
                </c:pt>
                <c:pt idx="123">
                  <c:v>-1.9814122910611143</c:v>
                </c:pt>
                <c:pt idx="124">
                  <c:v>-1.9076063958575717</c:v>
                </c:pt>
                <c:pt idx="125">
                  <c:v>-1.9076063958575717</c:v>
                </c:pt>
                <c:pt idx="126">
                  <c:v>-1.8021936824113194</c:v>
                </c:pt>
                <c:pt idx="127">
                  <c:v>-1.8961534783058847</c:v>
                </c:pt>
                <c:pt idx="128">
                  <c:v>-1.9834906683998534</c:v>
                </c:pt>
                <c:pt idx="129">
                  <c:v>-1.9661172186249081</c:v>
                </c:pt>
                <c:pt idx="130">
                  <c:v>-2.0312021366450002</c:v>
                </c:pt>
                <c:pt idx="131">
                  <c:v>-2.0194460556641509</c:v>
                </c:pt>
                <c:pt idx="132">
                  <c:v>-2.3324466868819083</c:v>
                </c:pt>
                <c:pt idx="133">
                  <c:v>-2.1036063708476118</c:v>
                </c:pt>
                <c:pt idx="134">
                  <c:v>-2.0805670342015699</c:v>
                </c:pt>
                <c:pt idx="135">
                  <c:v>-2.0796731801924282</c:v>
                </c:pt>
                <c:pt idx="136">
                  <c:v>-2.0817155244810728</c:v>
                </c:pt>
                <c:pt idx="137">
                  <c:v>-2.0996699314538274</c:v>
                </c:pt>
                <c:pt idx="138">
                  <c:v>-2.1164053880758762</c:v>
                </c:pt>
                <c:pt idx="139">
                  <c:v>-2.2910529602276601</c:v>
                </c:pt>
                <c:pt idx="140">
                  <c:v>-2.1405992277224297</c:v>
                </c:pt>
                <c:pt idx="141">
                  <c:v>-2.1165857765608926</c:v>
                </c:pt>
                <c:pt idx="142">
                  <c:v>-2.011049970387611</c:v>
                </c:pt>
                <c:pt idx="143">
                  <c:v>-2.0800604406221446</c:v>
                </c:pt>
                <c:pt idx="144">
                  <c:v>-2.038634173467389</c:v>
                </c:pt>
                <c:pt idx="145">
                  <c:v>-2.050286477726321</c:v>
                </c:pt>
                <c:pt idx="146">
                  <c:v>-2.3922203960393431</c:v>
                </c:pt>
                <c:pt idx="147">
                  <c:v>-2.4601425606915286</c:v>
                </c:pt>
                <c:pt idx="148">
                  <c:v>-2.6183183034433322</c:v>
                </c:pt>
                <c:pt idx="149">
                  <c:v>-1.7844867098989754</c:v>
                </c:pt>
                <c:pt idx="150">
                  <c:v>-2.503841919077046</c:v>
                </c:pt>
                <c:pt idx="151">
                  <c:v>-2.503841919077046</c:v>
                </c:pt>
                <c:pt idx="152">
                  <c:v>-2.0331326787651451</c:v>
                </c:pt>
                <c:pt idx="153">
                  <c:v>-2.0331326787651451</c:v>
                </c:pt>
                <c:pt idx="154">
                  <c:v>-2.0331326787651451</c:v>
                </c:pt>
                <c:pt idx="155">
                  <c:v>-2.02782295894959</c:v>
                </c:pt>
                <c:pt idx="156">
                  <c:v>-1.9596955482932574</c:v>
                </c:pt>
                <c:pt idx="157">
                  <c:v>-1.9596955482932574</c:v>
                </c:pt>
                <c:pt idx="158">
                  <c:v>-2.3924530824956856</c:v>
                </c:pt>
                <c:pt idx="159">
                  <c:v>-2.5341286395066236</c:v>
                </c:pt>
                <c:pt idx="160">
                  <c:v>-2.2540580520993854</c:v>
                </c:pt>
                <c:pt idx="161">
                  <c:v>-2.2374501529452817</c:v>
                </c:pt>
                <c:pt idx="162">
                  <c:v>-2.2374501529452817</c:v>
                </c:pt>
                <c:pt idx="163">
                  <c:v>-2.2790257545603776</c:v>
                </c:pt>
                <c:pt idx="164">
                  <c:v>-2.2790257545603776</c:v>
                </c:pt>
                <c:pt idx="165">
                  <c:v>-2.2790257545603776</c:v>
                </c:pt>
                <c:pt idx="166">
                  <c:v>-2.2168220690342779</c:v>
                </c:pt>
                <c:pt idx="167">
                  <c:v>-2.2168220690342779</c:v>
                </c:pt>
              </c:numCache>
            </c:numRef>
          </c:yVal>
          <c:smooth val="0"/>
          <c:extLst>
            <c:ext xmlns:c16="http://schemas.microsoft.com/office/drawing/2014/chart" uri="{C3380CC4-5D6E-409C-BE32-E72D297353CC}">
              <c16:uniqueId val="{00000001-71D7-424F-95AB-91D88861F79A}"/>
            </c:ext>
          </c:extLst>
        </c:ser>
        <c:dLbls>
          <c:showLegendKey val="0"/>
          <c:showVal val="0"/>
          <c:showCatName val="0"/>
          <c:showSerName val="0"/>
          <c:showPercent val="0"/>
          <c:showBubbleSize val="0"/>
        </c:dLbls>
        <c:axId val="291925232"/>
        <c:axId val="291928496"/>
      </c:scatterChart>
      <c:valAx>
        <c:axId val="29192523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a:t>AGE CHRONOLOGIQUE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291928496"/>
        <c:crosses val="autoZero"/>
        <c:crossBetween val="midCat"/>
      </c:valAx>
      <c:valAx>
        <c:axId val="291928496"/>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a:t>LOGIT</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291925232"/>
        <c:crosses val="autoZero"/>
        <c:crossBetween val="midCat"/>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sz="1800" b="0" i="0" baseline="0">
                <a:effectLst/>
              </a:rPr>
              <a:t>MOYENNE DE LA LONGUEUR (LONGUEUR ENTRENOEUD) EN FONCTION DE L’AGE CHRONOLOGIQUE</a:t>
            </a:r>
            <a:endParaRPr lang="fr-FR">
              <a:effectLs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scatterChart>
        <c:scatterStyle val="smoothMarker"/>
        <c:varyColors val="0"/>
        <c:ser>
          <c:idx val="0"/>
          <c:order val="0"/>
          <c:tx>
            <c:strRef>
              <c:f>longbr1br2!$A$1</c:f>
              <c:strCache>
                <c:ptCount val="1"/>
                <c:pt idx="0">
                  <c:v>FONCTION SIGMOIDE</c:v>
                </c:pt>
              </c:strCache>
            </c:strRef>
          </c:tx>
          <c:spPr>
            <a:ln w="19050" cap="rnd">
              <a:solidFill>
                <a:schemeClr val="accent1"/>
              </a:solidFill>
              <a:round/>
            </a:ln>
            <a:effectLst/>
          </c:spPr>
          <c:marker>
            <c:symbol val="none"/>
          </c:marker>
          <c:xVal>
            <c:numRef>
              <c:f>longbr1br2!$A$4:$CU$4</c:f>
              <c:numCache>
                <c:formatCode>General</c:formatCode>
                <c:ptCount val="99"/>
                <c:pt idx="0">
                  <c:v>99</c:v>
                </c:pt>
                <c:pt idx="1">
                  <c:v>98</c:v>
                </c:pt>
                <c:pt idx="2">
                  <c:v>97</c:v>
                </c:pt>
                <c:pt idx="3">
                  <c:v>96</c:v>
                </c:pt>
                <c:pt idx="4">
                  <c:v>95</c:v>
                </c:pt>
                <c:pt idx="5">
                  <c:v>94</c:v>
                </c:pt>
                <c:pt idx="6">
                  <c:v>93</c:v>
                </c:pt>
                <c:pt idx="7">
                  <c:v>92</c:v>
                </c:pt>
                <c:pt idx="8">
                  <c:v>91</c:v>
                </c:pt>
                <c:pt idx="9">
                  <c:v>90</c:v>
                </c:pt>
                <c:pt idx="10">
                  <c:v>89</c:v>
                </c:pt>
                <c:pt idx="11">
                  <c:v>88</c:v>
                </c:pt>
                <c:pt idx="12">
                  <c:v>87</c:v>
                </c:pt>
                <c:pt idx="13">
                  <c:v>86</c:v>
                </c:pt>
                <c:pt idx="14">
                  <c:v>85</c:v>
                </c:pt>
                <c:pt idx="15">
                  <c:v>84</c:v>
                </c:pt>
                <c:pt idx="16">
                  <c:v>83</c:v>
                </c:pt>
                <c:pt idx="17">
                  <c:v>82</c:v>
                </c:pt>
                <c:pt idx="18">
                  <c:v>81</c:v>
                </c:pt>
                <c:pt idx="19">
                  <c:v>80</c:v>
                </c:pt>
                <c:pt idx="20">
                  <c:v>79</c:v>
                </c:pt>
                <c:pt idx="21">
                  <c:v>78</c:v>
                </c:pt>
                <c:pt idx="22">
                  <c:v>77</c:v>
                </c:pt>
                <c:pt idx="23">
                  <c:v>76</c:v>
                </c:pt>
                <c:pt idx="24">
                  <c:v>75</c:v>
                </c:pt>
                <c:pt idx="25">
                  <c:v>74</c:v>
                </c:pt>
                <c:pt idx="26">
                  <c:v>73</c:v>
                </c:pt>
                <c:pt idx="27">
                  <c:v>72</c:v>
                </c:pt>
                <c:pt idx="28">
                  <c:v>71</c:v>
                </c:pt>
                <c:pt idx="29">
                  <c:v>70</c:v>
                </c:pt>
                <c:pt idx="30">
                  <c:v>69</c:v>
                </c:pt>
                <c:pt idx="31">
                  <c:v>68</c:v>
                </c:pt>
                <c:pt idx="32">
                  <c:v>67</c:v>
                </c:pt>
                <c:pt idx="33">
                  <c:v>66</c:v>
                </c:pt>
                <c:pt idx="34">
                  <c:v>65</c:v>
                </c:pt>
                <c:pt idx="35">
                  <c:v>64</c:v>
                </c:pt>
                <c:pt idx="36">
                  <c:v>63</c:v>
                </c:pt>
                <c:pt idx="37">
                  <c:v>62</c:v>
                </c:pt>
                <c:pt idx="38">
                  <c:v>61</c:v>
                </c:pt>
                <c:pt idx="39">
                  <c:v>60</c:v>
                </c:pt>
                <c:pt idx="40">
                  <c:v>59</c:v>
                </c:pt>
                <c:pt idx="41">
                  <c:v>58</c:v>
                </c:pt>
                <c:pt idx="42">
                  <c:v>57</c:v>
                </c:pt>
                <c:pt idx="43">
                  <c:v>56</c:v>
                </c:pt>
                <c:pt idx="44">
                  <c:v>55</c:v>
                </c:pt>
                <c:pt idx="45">
                  <c:v>54</c:v>
                </c:pt>
                <c:pt idx="46">
                  <c:v>53</c:v>
                </c:pt>
                <c:pt idx="47">
                  <c:v>52</c:v>
                </c:pt>
                <c:pt idx="48">
                  <c:v>51</c:v>
                </c:pt>
                <c:pt idx="49">
                  <c:v>50</c:v>
                </c:pt>
                <c:pt idx="50">
                  <c:v>49</c:v>
                </c:pt>
                <c:pt idx="51">
                  <c:v>48</c:v>
                </c:pt>
                <c:pt idx="52">
                  <c:v>47</c:v>
                </c:pt>
                <c:pt idx="53">
                  <c:v>46</c:v>
                </c:pt>
                <c:pt idx="54">
                  <c:v>45</c:v>
                </c:pt>
                <c:pt idx="55">
                  <c:v>44</c:v>
                </c:pt>
                <c:pt idx="56">
                  <c:v>43</c:v>
                </c:pt>
                <c:pt idx="57">
                  <c:v>42</c:v>
                </c:pt>
                <c:pt idx="58">
                  <c:v>41</c:v>
                </c:pt>
                <c:pt idx="59">
                  <c:v>40</c:v>
                </c:pt>
                <c:pt idx="60">
                  <c:v>39</c:v>
                </c:pt>
                <c:pt idx="61">
                  <c:v>38</c:v>
                </c:pt>
                <c:pt idx="62">
                  <c:v>37</c:v>
                </c:pt>
                <c:pt idx="63">
                  <c:v>36</c:v>
                </c:pt>
                <c:pt idx="64">
                  <c:v>35</c:v>
                </c:pt>
                <c:pt idx="65">
                  <c:v>34</c:v>
                </c:pt>
                <c:pt idx="66">
                  <c:v>33</c:v>
                </c:pt>
                <c:pt idx="67">
                  <c:v>32</c:v>
                </c:pt>
                <c:pt idx="68">
                  <c:v>31</c:v>
                </c:pt>
                <c:pt idx="69">
                  <c:v>30</c:v>
                </c:pt>
                <c:pt idx="70">
                  <c:v>29</c:v>
                </c:pt>
                <c:pt idx="71">
                  <c:v>28</c:v>
                </c:pt>
                <c:pt idx="72">
                  <c:v>27</c:v>
                </c:pt>
                <c:pt idx="73">
                  <c:v>26</c:v>
                </c:pt>
                <c:pt idx="74">
                  <c:v>25</c:v>
                </c:pt>
                <c:pt idx="75">
                  <c:v>24</c:v>
                </c:pt>
                <c:pt idx="76">
                  <c:v>23</c:v>
                </c:pt>
                <c:pt idx="77">
                  <c:v>22</c:v>
                </c:pt>
                <c:pt idx="78">
                  <c:v>21</c:v>
                </c:pt>
                <c:pt idx="79">
                  <c:v>20</c:v>
                </c:pt>
                <c:pt idx="80">
                  <c:v>19</c:v>
                </c:pt>
                <c:pt idx="81">
                  <c:v>18</c:v>
                </c:pt>
                <c:pt idx="82">
                  <c:v>17</c:v>
                </c:pt>
                <c:pt idx="83">
                  <c:v>16</c:v>
                </c:pt>
                <c:pt idx="84">
                  <c:v>15</c:v>
                </c:pt>
                <c:pt idx="85">
                  <c:v>14</c:v>
                </c:pt>
                <c:pt idx="86">
                  <c:v>13</c:v>
                </c:pt>
                <c:pt idx="87">
                  <c:v>12</c:v>
                </c:pt>
                <c:pt idx="88">
                  <c:v>11</c:v>
                </c:pt>
                <c:pt idx="89">
                  <c:v>10</c:v>
                </c:pt>
                <c:pt idx="90">
                  <c:v>9</c:v>
                </c:pt>
                <c:pt idx="91">
                  <c:v>8</c:v>
                </c:pt>
                <c:pt idx="92">
                  <c:v>7</c:v>
                </c:pt>
                <c:pt idx="93">
                  <c:v>6</c:v>
                </c:pt>
                <c:pt idx="94">
                  <c:v>5</c:v>
                </c:pt>
                <c:pt idx="95">
                  <c:v>4</c:v>
                </c:pt>
                <c:pt idx="96">
                  <c:v>3</c:v>
                </c:pt>
                <c:pt idx="97">
                  <c:v>2</c:v>
                </c:pt>
                <c:pt idx="98">
                  <c:v>1</c:v>
                </c:pt>
              </c:numCache>
            </c:numRef>
          </c:xVal>
          <c:yVal>
            <c:numRef>
              <c:f>longbr1br2!$A$5:$CU$5</c:f>
              <c:numCache>
                <c:formatCode>General</c:formatCode>
                <c:ptCount val="99"/>
                <c:pt idx="0">
                  <c:v>1.6898762322540761</c:v>
                </c:pt>
                <c:pt idx="1">
                  <c:v>1.6799010125888201</c:v>
                </c:pt>
                <c:pt idx="2">
                  <c:v>1.6699690925967476</c:v>
                </c:pt>
                <c:pt idx="3">
                  <c:v>1.6600804684770847</c:v>
                </c:pt>
                <c:pt idx="4">
                  <c:v>1.6502351340373771</c:v>
                </c:pt>
                <c:pt idx="5">
                  <c:v>1.6404330807149188</c:v>
                </c:pt>
                <c:pt idx="6">
                  <c:v>1.6306742975982957</c:v>
                </c:pt>
                <c:pt idx="7">
                  <c:v>1.6209587714490432</c:v>
                </c:pt>
                <c:pt idx="8">
                  <c:v>1.6112864867234122</c:v>
                </c:pt>
                <c:pt idx="9">
                  <c:v>1.6016574255942342</c:v>
                </c:pt>
                <c:pt idx="10">
                  <c:v>1.5920715679728865</c:v>
                </c:pt>
                <c:pt idx="11">
                  <c:v>1.5825288915313458</c:v>
                </c:pt>
                <c:pt idx="12">
                  <c:v>1.5730293717243267</c:v>
                </c:pt>
                <c:pt idx="13">
                  <c:v>1.5635729818115012</c:v>
                </c:pt>
                <c:pt idx="14">
                  <c:v>1.5541596928797912</c:v>
                </c:pt>
                <c:pt idx="15">
                  <c:v>1.5447894738657315</c:v>
                </c:pt>
                <c:pt idx="16">
                  <c:v>1.5354622915778944</c:v>
                </c:pt>
                <c:pt idx="17">
                  <c:v>1.526178110719375</c:v>
                </c:pt>
                <c:pt idx="18">
                  <c:v>1.5169368939103287</c:v>
                </c:pt>
                <c:pt idx="19">
                  <c:v>1.5077386017105558</c:v>
                </c:pt>
                <c:pt idx="20">
                  <c:v>1.4985831926421305</c:v>
                </c:pt>
                <c:pt idx="21">
                  <c:v>1.4894706232120682</c:v>
                </c:pt>
                <c:pt idx="22">
                  <c:v>1.4804008479350275</c:v>
                </c:pt>
                <c:pt idx="23">
                  <c:v>1.4713738193560342</c:v>
                </c:pt>
                <c:pt idx="24">
                  <c:v>1.4623894880732369</c:v>
                </c:pt>
                <c:pt idx="25">
                  <c:v>1.4534478027606768</c:v>
                </c:pt>
                <c:pt idx="26">
                  <c:v>1.4445487101910726</c:v>
                </c:pt>
                <c:pt idx="27">
                  <c:v>1.4356921552586146</c:v>
                </c:pt>
                <c:pt idx="28">
                  <c:v>1.4268780810017641</c:v>
                </c:pt>
                <c:pt idx="29">
                  <c:v>1.4181064286260552</c:v>
                </c:pt>
                <c:pt idx="30">
                  <c:v>1.409377137526888</c:v>
                </c:pt>
                <c:pt idx="31">
                  <c:v>1.4006901453123186</c:v>
                </c:pt>
                <c:pt idx="32">
                  <c:v>1.3920453878258334</c:v>
                </c:pt>
                <c:pt idx="33">
                  <c:v>1.3834427991691094</c:v>
                </c:pt>
                <c:pt idx="34">
                  <c:v>1.3748823117247488</c:v>
                </c:pt>
                <c:pt idx="35">
                  <c:v>1.3663638561789959</c:v>
                </c:pt>
                <c:pt idx="36">
                  <c:v>1.3578873615444171</c:v>
                </c:pt>
                <c:pt idx="37">
                  <c:v>1.3494527551825561</c:v>
                </c:pt>
                <c:pt idx="38">
                  <c:v>1.341059962826544</c:v>
                </c:pt>
                <c:pt idx="39">
                  <c:v>1.3327089086036772</c:v>
                </c:pt>
                <c:pt idx="40">
                  <c:v>1.3243995150579431</c:v>
                </c:pt>
                <c:pt idx="41">
                  <c:v>1.3161317031725053</c:v>
                </c:pt>
                <c:pt idx="42">
                  <c:v>1.3079053923921313</c:v>
                </c:pt>
                <c:pt idx="43">
                  <c:v>1.2997205006455685</c:v>
                </c:pt>
                <c:pt idx="44">
                  <c:v>1.2915769443678613</c:v>
                </c:pt>
                <c:pt idx="45">
                  <c:v>1.2834746385226046</c:v>
                </c:pt>
                <c:pt idx="46">
                  <c:v>1.2754134966241337</c:v>
                </c:pt>
                <c:pt idx="47">
                  <c:v>1.2673934307596466</c:v>
                </c:pt>
                <c:pt idx="48">
                  <c:v>1.2594143516112508</c:v>
                </c:pt>
                <c:pt idx="49">
                  <c:v>1.2514761684779403</c:v>
                </c:pt>
                <c:pt idx="50">
                  <c:v>1.2435787892974912</c:v>
                </c:pt>
                <c:pt idx="51">
                  <c:v>1.2357221206682776</c:v>
                </c:pt>
                <c:pt idx="52">
                  <c:v>1.2279060678710039</c:v>
                </c:pt>
                <c:pt idx="53">
                  <c:v>1.2201305348903502</c:v>
                </c:pt>
                <c:pt idx="54">
                  <c:v>1.2123954244365298</c:v>
                </c:pt>
                <c:pt idx="55">
                  <c:v>1.2047006379667513</c:v>
                </c:pt>
                <c:pt idx="56">
                  <c:v>1.1970460757065904</c:v>
                </c:pt>
                <c:pt idx="57">
                  <c:v>1.189431636671259</c:v>
                </c:pt>
                <c:pt idx="58">
                  <c:v>1.1818572186867808</c:v>
                </c:pt>
                <c:pt idx="59">
                  <c:v>1.174322718411059</c:v>
                </c:pt>
                <c:pt idx="60">
                  <c:v>1.1668280313548423</c:v>
                </c:pt>
                <c:pt idx="61">
                  <c:v>1.1593730519025829</c:v>
                </c:pt>
                <c:pt idx="62">
                  <c:v>1.1519576733331858</c:v>
                </c:pt>
                <c:pt idx="63">
                  <c:v>1.1445817878406466</c:v>
                </c:pt>
                <c:pt idx="64">
                  <c:v>1.1372452865545737</c:v>
                </c:pt>
                <c:pt idx="65">
                  <c:v>1.1299480595605988</c:v>
                </c:pt>
                <c:pt idx="66">
                  <c:v>1.1226899959206655</c:v>
                </c:pt>
                <c:pt idx="67">
                  <c:v>1.1154709836932004</c:v>
                </c:pt>
                <c:pt idx="68">
                  <c:v>1.108290909953163</c:v>
                </c:pt>
                <c:pt idx="69">
                  <c:v>1.1011496608119702</c:v>
                </c:pt>
                <c:pt idx="70">
                  <c:v>1.0940471214372978</c:v>
                </c:pt>
                <c:pt idx="71">
                  <c:v>1.0869831760727542</c:v>
                </c:pt>
                <c:pt idx="72">
                  <c:v>1.0799577080574245</c:v>
                </c:pt>
                <c:pt idx="73">
                  <c:v>1.0729705998452863</c:v>
                </c:pt>
                <c:pt idx="74">
                  <c:v>1.066021733024493</c:v>
                </c:pt>
                <c:pt idx="75">
                  <c:v>1.0591109883365231</c:v>
                </c:pt>
                <c:pt idx="76">
                  <c:v>1.052238245695196</c:v>
                </c:pt>
                <c:pt idx="77">
                  <c:v>1.0454033842055517</c:v>
                </c:pt>
                <c:pt idx="78">
                  <c:v>1.0386062821825921</c:v>
                </c:pt>
                <c:pt idx="79">
                  <c:v>1.0318468171698854</c:v>
                </c:pt>
                <c:pt idx="80">
                  <c:v>1.0251248659580294</c:v>
                </c:pt>
                <c:pt idx="81">
                  <c:v>1.0184403046029735</c:v>
                </c:pt>
                <c:pt idx="82">
                  <c:v>1.0117930084442008</c:v>
                </c:pt>
                <c:pt idx="83">
                  <c:v>1.0051828521227653</c:v>
                </c:pt>
                <c:pt idx="84">
                  <c:v>0.99860970959918383</c:v>
                </c:pt>
                <c:pt idx="85">
                  <c:v>0.99207345417118631</c:v>
                </c:pt>
                <c:pt idx="86">
                  <c:v>0.98557395849131713</c:v>
                </c:pt>
                <c:pt idx="87">
                  <c:v>0.97911109458439094</c:v>
                </c:pt>
                <c:pt idx="88">
                  <c:v>0.97268473386480025</c:v>
                </c:pt>
                <c:pt idx="89">
                  <c:v>0.96629474715367492</c:v>
                </c:pt>
                <c:pt idx="90">
                  <c:v>0.95994100469589327</c:v>
                </c:pt>
                <c:pt idx="91">
                  <c:v>0.95362337617694037</c:v>
                </c:pt>
                <c:pt idx="92">
                  <c:v>0.94734173073962114</c:v>
                </c:pt>
                <c:pt idx="93">
                  <c:v>0.94109593700061667</c:v>
                </c:pt>
                <c:pt idx="94">
                  <c:v>0.93488586306689359</c:v>
                </c:pt>
                <c:pt idx="95">
                  <c:v>0.92871137655195868</c:v>
                </c:pt>
                <c:pt idx="96">
                  <c:v>0.92257234459196202</c:v>
                </c:pt>
                <c:pt idx="97">
                  <c:v>0.91646863386164679</c:v>
                </c:pt>
                <c:pt idx="98">
                  <c:v>0.91040011059014769</c:v>
                </c:pt>
              </c:numCache>
            </c:numRef>
          </c:yVal>
          <c:smooth val="1"/>
          <c:extLst>
            <c:ext xmlns:c16="http://schemas.microsoft.com/office/drawing/2014/chart" uri="{C3380CC4-5D6E-409C-BE32-E72D297353CC}">
              <c16:uniqueId val="{00000000-3EA8-446E-933D-F1BDE47FB917}"/>
            </c:ext>
          </c:extLst>
        </c:ser>
        <c:ser>
          <c:idx val="1"/>
          <c:order val="1"/>
          <c:tx>
            <c:strRef>
              <c:f>longbr1br2!$B$1</c:f>
              <c:strCache>
                <c:ptCount val="1"/>
                <c:pt idx="0">
                  <c:v>MOYENNE DONNEES BRANCHE 1</c:v>
                </c:pt>
              </c:strCache>
            </c:strRef>
          </c:tx>
          <c:spPr>
            <a:ln w="19050" cap="rnd">
              <a:solidFill>
                <a:schemeClr val="accent2"/>
              </a:solidFill>
              <a:round/>
            </a:ln>
            <a:effectLst/>
          </c:spPr>
          <c:marker>
            <c:symbol val="none"/>
          </c:marker>
          <c:xVal>
            <c:numRef>
              <c:f>longbr1br2!$CV$4:$FL$4</c:f>
              <c:numCache>
                <c:formatCode>General</c:formatCode>
                <c:ptCount val="69"/>
                <c:pt idx="0">
                  <c:v>69</c:v>
                </c:pt>
                <c:pt idx="1">
                  <c:v>68</c:v>
                </c:pt>
                <c:pt idx="2">
                  <c:v>67</c:v>
                </c:pt>
                <c:pt idx="3">
                  <c:v>66</c:v>
                </c:pt>
                <c:pt idx="4">
                  <c:v>65</c:v>
                </c:pt>
                <c:pt idx="5">
                  <c:v>64</c:v>
                </c:pt>
                <c:pt idx="6">
                  <c:v>63</c:v>
                </c:pt>
                <c:pt idx="7">
                  <c:v>62</c:v>
                </c:pt>
                <c:pt idx="8">
                  <c:v>61</c:v>
                </c:pt>
                <c:pt idx="9">
                  <c:v>60</c:v>
                </c:pt>
                <c:pt idx="10">
                  <c:v>59</c:v>
                </c:pt>
                <c:pt idx="11">
                  <c:v>58</c:v>
                </c:pt>
                <c:pt idx="12">
                  <c:v>57</c:v>
                </c:pt>
                <c:pt idx="13">
                  <c:v>56</c:v>
                </c:pt>
                <c:pt idx="14">
                  <c:v>55</c:v>
                </c:pt>
                <c:pt idx="15">
                  <c:v>54</c:v>
                </c:pt>
                <c:pt idx="16">
                  <c:v>53</c:v>
                </c:pt>
                <c:pt idx="17">
                  <c:v>52</c:v>
                </c:pt>
                <c:pt idx="18">
                  <c:v>51</c:v>
                </c:pt>
                <c:pt idx="19">
                  <c:v>50</c:v>
                </c:pt>
                <c:pt idx="20">
                  <c:v>49</c:v>
                </c:pt>
                <c:pt idx="21">
                  <c:v>48</c:v>
                </c:pt>
                <c:pt idx="22">
                  <c:v>47</c:v>
                </c:pt>
                <c:pt idx="23">
                  <c:v>46</c:v>
                </c:pt>
                <c:pt idx="24">
                  <c:v>45</c:v>
                </c:pt>
                <c:pt idx="25">
                  <c:v>44</c:v>
                </c:pt>
                <c:pt idx="26">
                  <c:v>43</c:v>
                </c:pt>
                <c:pt idx="27">
                  <c:v>42</c:v>
                </c:pt>
                <c:pt idx="28">
                  <c:v>41</c:v>
                </c:pt>
                <c:pt idx="29">
                  <c:v>40</c:v>
                </c:pt>
                <c:pt idx="30">
                  <c:v>39</c:v>
                </c:pt>
                <c:pt idx="31">
                  <c:v>38</c:v>
                </c:pt>
                <c:pt idx="32">
                  <c:v>37</c:v>
                </c:pt>
                <c:pt idx="33">
                  <c:v>36</c:v>
                </c:pt>
                <c:pt idx="34">
                  <c:v>35</c:v>
                </c:pt>
                <c:pt idx="35">
                  <c:v>34</c:v>
                </c:pt>
                <c:pt idx="36">
                  <c:v>33</c:v>
                </c:pt>
                <c:pt idx="37">
                  <c:v>32</c:v>
                </c:pt>
                <c:pt idx="38">
                  <c:v>31</c:v>
                </c:pt>
                <c:pt idx="39">
                  <c:v>30</c:v>
                </c:pt>
                <c:pt idx="40">
                  <c:v>29</c:v>
                </c:pt>
                <c:pt idx="41">
                  <c:v>28</c:v>
                </c:pt>
                <c:pt idx="42">
                  <c:v>27</c:v>
                </c:pt>
                <c:pt idx="43">
                  <c:v>26</c:v>
                </c:pt>
                <c:pt idx="44">
                  <c:v>25</c:v>
                </c:pt>
                <c:pt idx="45">
                  <c:v>24</c:v>
                </c:pt>
                <c:pt idx="46">
                  <c:v>23</c:v>
                </c:pt>
                <c:pt idx="47">
                  <c:v>22</c:v>
                </c:pt>
                <c:pt idx="48">
                  <c:v>21</c:v>
                </c:pt>
                <c:pt idx="49">
                  <c:v>20</c:v>
                </c:pt>
                <c:pt idx="50">
                  <c:v>19</c:v>
                </c:pt>
                <c:pt idx="51">
                  <c:v>18</c:v>
                </c:pt>
                <c:pt idx="52">
                  <c:v>17</c:v>
                </c:pt>
                <c:pt idx="53">
                  <c:v>16</c:v>
                </c:pt>
                <c:pt idx="54">
                  <c:v>15</c:v>
                </c:pt>
                <c:pt idx="55">
                  <c:v>14</c:v>
                </c:pt>
                <c:pt idx="56">
                  <c:v>13</c:v>
                </c:pt>
                <c:pt idx="57">
                  <c:v>12</c:v>
                </c:pt>
                <c:pt idx="58">
                  <c:v>11</c:v>
                </c:pt>
                <c:pt idx="59">
                  <c:v>10</c:v>
                </c:pt>
                <c:pt idx="60">
                  <c:v>9</c:v>
                </c:pt>
                <c:pt idx="61">
                  <c:v>8</c:v>
                </c:pt>
                <c:pt idx="62">
                  <c:v>7</c:v>
                </c:pt>
                <c:pt idx="63">
                  <c:v>6</c:v>
                </c:pt>
                <c:pt idx="64">
                  <c:v>5</c:v>
                </c:pt>
                <c:pt idx="65">
                  <c:v>4</c:v>
                </c:pt>
                <c:pt idx="66">
                  <c:v>3</c:v>
                </c:pt>
                <c:pt idx="67">
                  <c:v>2</c:v>
                </c:pt>
                <c:pt idx="68">
                  <c:v>1</c:v>
                </c:pt>
              </c:numCache>
            </c:numRef>
          </c:xVal>
          <c:yVal>
            <c:numRef>
              <c:f>longbr1br2!$CV$6:$FL$6</c:f>
              <c:numCache>
                <c:formatCode>General</c:formatCode>
                <c:ptCount val="69"/>
                <c:pt idx="0">
                  <c:v>2.200000000000002</c:v>
                </c:pt>
                <c:pt idx="1">
                  <c:v>2.200000000000002</c:v>
                </c:pt>
                <c:pt idx="2">
                  <c:v>2.200000000000002</c:v>
                </c:pt>
                <c:pt idx="3">
                  <c:v>2.200000000000002</c:v>
                </c:pt>
                <c:pt idx="4">
                  <c:v>2.200000000000002</c:v>
                </c:pt>
                <c:pt idx="5">
                  <c:v>1.8138703703703694</c:v>
                </c:pt>
                <c:pt idx="6">
                  <c:v>1.8138703703703694</c:v>
                </c:pt>
                <c:pt idx="7">
                  <c:v>1.8138703703703694</c:v>
                </c:pt>
                <c:pt idx="8">
                  <c:v>1.8138703703703694</c:v>
                </c:pt>
                <c:pt idx="9">
                  <c:v>1.8138703703703694</c:v>
                </c:pt>
                <c:pt idx="10">
                  <c:v>1.8138703703703694</c:v>
                </c:pt>
                <c:pt idx="11">
                  <c:v>1.9275555555555555</c:v>
                </c:pt>
                <c:pt idx="12">
                  <c:v>1.9488301886792452</c:v>
                </c:pt>
                <c:pt idx="13">
                  <c:v>1.9488301886792452</c:v>
                </c:pt>
                <c:pt idx="14">
                  <c:v>1.9488301886792452</c:v>
                </c:pt>
                <c:pt idx="15">
                  <c:v>1.9488301886792452</c:v>
                </c:pt>
                <c:pt idx="16">
                  <c:v>0.94375471698113322</c:v>
                </c:pt>
                <c:pt idx="17">
                  <c:v>0.94375471698113322</c:v>
                </c:pt>
                <c:pt idx="18">
                  <c:v>0.94375471698113322</c:v>
                </c:pt>
                <c:pt idx="19">
                  <c:v>0.84452830188679251</c:v>
                </c:pt>
                <c:pt idx="20">
                  <c:v>0.84870000000000001</c:v>
                </c:pt>
                <c:pt idx="21">
                  <c:v>1.0164722222222224</c:v>
                </c:pt>
                <c:pt idx="22">
                  <c:v>1.019568627450981</c:v>
                </c:pt>
                <c:pt idx="23">
                  <c:v>1.1787600000000007</c:v>
                </c:pt>
                <c:pt idx="24">
                  <c:v>0.96934693877551048</c:v>
                </c:pt>
                <c:pt idx="25">
                  <c:v>1.0340000000000003</c:v>
                </c:pt>
                <c:pt idx="26">
                  <c:v>1.0340000000000003</c:v>
                </c:pt>
                <c:pt idx="27">
                  <c:v>1.1326739130434789</c:v>
                </c:pt>
                <c:pt idx="28">
                  <c:v>1.0443555555555559</c:v>
                </c:pt>
                <c:pt idx="29">
                  <c:v>0.96757777777777798</c:v>
                </c:pt>
                <c:pt idx="30">
                  <c:v>0.9824523809523813</c:v>
                </c:pt>
                <c:pt idx="31">
                  <c:v>0.92772500000000035</c:v>
                </c:pt>
                <c:pt idx="32">
                  <c:v>0.93741025641025666</c:v>
                </c:pt>
                <c:pt idx="33">
                  <c:v>0.70776923076923126</c:v>
                </c:pt>
                <c:pt idx="34">
                  <c:v>0.86997435897435926</c:v>
                </c:pt>
                <c:pt idx="35">
                  <c:v>0.88800000000000034</c:v>
                </c:pt>
                <c:pt idx="36">
                  <c:v>0.88870588235294168</c:v>
                </c:pt>
                <c:pt idx="37">
                  <c:v>0.88709375000000013</c:v>
                </c:pt>
                <c:pt idx="38">
                  <c:v>0.87303125000000004</c:v>
                </c:pt>
                <c:pt idx="39">
                  <c:v>0.86009999999999998</c:v>
                </c:pt>
                <c:pt idx="40">
                  <c:v>0.73493333333333311</c:v>
                </c:pt>
                <c:pt idx="41">
                  <c:v>0.84170370370370362</c:v>
                </c:pt>
                <c:pt idx="42">
                  <c:v>0.85996153846153855</c:v>
                </c:pt>
                <c:pt idx="43">
                  <c:v>0.94438095238095243</c:v>
                </c:pt>
                <c:pt idx="44">
                  <c:v>0.88839999999999986</c:v>
                </c:pt>
                <c:pt idx="45">
                  <c:v>0.92164705882352937</c:v>
                </c:pt>
                <c:pt idx="46">
                  <c:v>0.91218749999999993</c:v>
                </c:pt>
                <c:pt idx="47">
                  <c:v>0.67014285714285726</c:v>
                </c:pt>
                <c:pt idx="48">
                  <c:v>0.62960000000000005</c:v>
                </c:pt>
                <c:pt idx="49">
                  <c:v>0.54375000000000007</c:v>
                </c:pt>
                <c:pt idx="50">
                  <c:v>1.1499999999999999</c:v>
                </c:pt>
                <c:pt idx="51">
                  <c:v>0.60471428571428576</c:v>
                </c:pt>
                <c:pt idx="52">
                  <c:v>0.60471428571428576</c:v>
                </c:pt>
                <c:pt idx="53">
                  <c:v>0.92614285714285705</c:v>
                </c:pt>
                <c:pt idx="54">
                  <c:v>0.92614285714285705</c:v>
                </c:pt>
                <c:pt idx="55">
                  <c:v>0.92614285714285705</c:v>
                </c:pt>
                <c:pt idx="56">
                  <c:v>0.93049999999999988</c:v>
                </c:pt>
                <c:pt idx="57">
                  <c:v>0.98799999999999988</c:v>
                </c:pt>
                <c:pt idx="58">
                  <c:v>0.98799999999999988</c:v>
                </c:pt>
                <c:pt idx="59">
                  <c:v>0.66999999999999993</c:v>
                </c:pt>
                <c:pt idx="60">
                  <c:v>0.58799999999999986</c:v>
                </c:pt>
                <c:pt idx="61">
                  <c:v>0.76</c:v>
                </c:pt>
                <c:pt idx="62">
                  <c:v>0.77149999999999996</c:v>
                </c:pt>
                <c:pt idx="63">
                  <c:v>0.77149999999999996</c:v>
                </c:pt>
                <c:pt idx="64">
                  <c:v>0.74299999999999999</c:v>
                </c:pt>
                <c:pt idx="65">
                  <c:v>0.74299999999999999</c:v>
                </c:pt>
                <c:pt idx="66">
                  <c:v>0.74299999999999999</c:v>
                </c:pt>
                <c:pt idx="67">
                  <c:v>0.78600000000000003</c:v>
                </c:pt>
                <c:pt idx="68">
                  <c:v>0.78600000000000003</c:v>
                </c:pt>
              </c:numCache>
            </c:numRef>
          </c:yVal>
          <c:smooth val="1"/>
          <c:extLst>
            <c:ext xmlns:c16="http://schemas.microsoft.com/office/drawing/2014/chart" uri="{C3380CC4-5D6E-409C-BE32-E72D297353CC}">
              <c16:uniqueId val="{00000001-3EA8-446E-933D-F1BDE47FB917}"/>
            </c:ext>
          </c:extLst>
        </c:ser>
        <c:ser>
          <c:idx val="2"/>
          <c:order val="2"/>
          <c:tx>
            <c:strRef>
              <c:f>longbr1br2!$C$1</c:f>
              <c:strCache>
                <c:ptCount val="1"/>
                <c:pt idx="0">
                  <c:v>MOYENNE DONNEES BRANCHE2</c:v>
                </c:pt>
              </c:strCache>
            </c:strRef>
          </c:tx>
          <c:spPr>
            <a:ln w="19050" cap="rnd">
              <a:solidFill>
                <a:schemeClr val="accent6"/>
              </a:solidFill>
              <a:round/>
            </a:ln>
            <a:effectLst/>
          </c:spPr>
          <c:marker>
            <c:symbol val="none"/>
          </c:marker>
          <c:xVal>
            <c:numRef>
              <c:f>longbr1br2!$A$4:$CU$4</c:f>
              <c:numCache>
                <c:formatCode>General</c:formatCode>
                <c:ptCount val="99"/>
                <c:pt idx="0">
                  <c:v>99</c:v>
                </c:pt>
                <c:pt idx="1">
                  <c:v>98</c:v>
                </c:pt>
                <c:pt idx="2">
                  <c:v>97</c:v>
                </c:pt>
                <c:pt idx="3">
                  <c:v>96</c:v>
                </c:pt>
                <c:pt idx="4">
                  <c:v>95</c:v>
                </c:pt>
                <c:pt idx="5">
                  <c:v>94</c:v>
                </c:pt>
                <c:pt idx="6">
                  <c:v>93</c:v>
                </c:pt>
                <c:pt idx="7">
                  <c:v>92</c:v>
                </c:pt>
                <c:pt idx="8">
                  <c:v>91</c:v>
                </c:pt>
                <c:pt idx="9">
                  <c:v>90</c:v>
                </c:pt>
                <c:pt idx="10">
                  <c:v>89</c:v>
                </c:pt>
                <c:pt idx="11">
                  <c:v>88</c:v>
                </c:pt>
                <c:pt idx="12">
                  <c:v>87</c:v>
                </c:pt>
                <c:pt idx="13">
                  <c:v>86</c:v>
                </c:pt>
                <c:pt idx="14">
                  <c:v>85</c:v>
                </c:pt>
                <c:pt idx="15">
                  <c:v>84</c:v>
                </c:pt>
                <c:pt idx="16">
                  <c:v>83</c:v>
                </c:pt>
                <c:pt idx="17">
                  <c:v>82</c:v>
                </c:pt>
                <c:pt idx="18">
                  <c:v>81</c:v>
                </c:pt>
                <c:pt idx="19">
                  <c:v>80</c:v>
                </c:pt>
                <c:pt idx="20">
                  <c:v>79</c:v>
                </c:pt>
                <c:pt idx="21">
                  <c:v>78</c:v>
                </c:pt>
                <c:pt idx="22">
                  <c:v>77</c:v>
                </c:pt>
                <c:pt idx="23">
                  <c:v>76</c:v>
                </c:pt>
                <c:pt idx="24">
                  <c:v>75</c:v>
                </c:pt>
                <c:pt idx="25">
                  <c:v>74</c:v>
                </c:pt>
                <c:pt idx="26">
                  <c:v>73</c:v>
                </c:pt>
                <c:pt idx="27">
                  <c:v>72</c:v>
                </c:pt>
                <c:pt idx="28">
                  <c:v>71</c:v>
                </c:pt>
                <c:pt idx="29">
                  <c:v>70</c:v>
                </c:pt>
                <c:pt idx="30">
                  <c:v>69</c:v>
                </c:pt>
                <c:pt idx="31">
                  <c:v>68</c:v>
                </c:pt>
                <c:pt idx="32">
                  <c:v>67</c:v>
                </c:pt>
                <c:pt idx="33">
                  <c:v>66</c:v>
                </c:pt>
                <c:pt idx="34">
                  <c:v>65</c:v>
                </c:pt>
                <c:pt idx="35">
                  <c:v>64</c:v>
                </c:pt>
                <c:pt idx="36">
                  <c:v>63</c:v>
                </c:pt>
                <c:pt idx="37">
                  <c:v>62</c:v>
                </c:pt>
                <c:pt idx="38">
                  <c:v>61</c:v>
                </c:pt>
                <c:pt idx="39">
                  <c:v>60</c:v>
                </c:pt>
                <c:pt idx="40">
                  <c:v>59</c:v>
                </c:pt>
                <c:pt idx="41">
                  <c:v>58</c:v>
                </c:pt>
                <c:pt idx="42">
                  <c:v>57</c:v>
                </c:pt>
                <c:pt idx="43">
                  <c:v>56</c:v>
                </c:pt>
                <c:pt idx="44">
                  <c:v>55</c:v>
                </c:pt>
                <c:pt idx="45">
                  <c:v>54</c:v>
                </c:pt>
                <c:pt idx="46">
                  <c:v>53</c:v>
                </c:pt>
                <c:pt idx="47">
                  <c:v>52</c:v>
                </c:pt>
                <c:pt idx="48">
                  <c:v>51</c:v>
                </c:pt>
                <c:pt idx="49">
                  <c:v>50</c:v>
                </c:pt>
                <c:pt idx="50">
                  <c:v>49</c:v>
                </c:pt>
                <c:pt idx="51">
                  <c:v>48</c:v>
                </c:pt>
                <c:pt idx="52">
                  <c:v>47</c:v>
                </c:pt>
                <c:pt idx="53">
                  <c:v>46</c:v>
                </c:pt>
                <c:pt idx="54">
                  <c:v>45</c:v>
                </c:pt>
                <c:pt idx="55">
                  <c:v>44</c:v>
                </c:pt>
                <c:pt idx="56">
                  <c:v>43</c:v>
                </c:pt>
                <c:pt idx="57">
                  <c:v>42</c:v>
                </c:pt>
                <c:pt idx="58">
                  <c:v>41</c:v>
                </c:pt>
                <c:pt idx="59">
                  <c:v>40</c:v>
                </c:pt>
                <c:pt idx="60">
                  <c:v>39</c:v>
                </c:pt>
                <c:pt idx="61">
                  <c:v>38</c:v>
                </c:pt>
                <c:pt idx="62">
                  <c:v>37</c:v>
                </c:pt>
                <c:pt idx="63">
                  <c:v>36</c:v>
                </c:pt>
                <c:pt idx="64">
                  <c:v>35</c:v>
                </c:pt>
                <c:pt idx="65">
                  <c:v>34</c:v>
                </c:pt>
                <c:pt idx="66">
                  <c:v>33</c:v>
                </c:pt>
                <c:pt idx="67">
                  <c:v>32</c:v>
                </c:pt>
                <c:pt idx="68">
                  <c:v>31</c:v>
                </c:pt>
                <c:pt idx="69">
                  <c:v>30</c:v>
                </c:pt>
                <c:pt idx="70">
                  <c:v>29</c:v>
                </c:pt>
                <c:pt idx="71">
                  <c:v>28</c:v>
                </c:pt>
                <c:pt idx="72">
                  <c:v>27</c:v>
                </c:pt>
                <c:pt idx="73">
                  <c:v>26</c:v>
                </c:pt>
                <c:pt idx="74">
                  <c:v>25</c:v>
                </c:pt>
                <c:pt idx="75">
                  <c:v>24</c:v>
                </c:pt>
                <c:pt idx="76">
                  <c:v>23</c:v>
                </c:pt>
                <c:pt idx="77">
                  <c:v>22</c:v>
                </c:pt>
                <c:pt idx="78">
                  <c:v>21</c:v>
                </c:pt>
                <c:pt idx="79">
                  <c:v>20</c:v>
                </c:pt>
                <c:pt idx="80">
                  <c:v>19</c:v>
                </c:pt>
                <c:pt idx="81">
                  <c:v>18</c:v>
                </c:pt>
                <c:pt idx="82">
                  <c:v>17</c:v>
                </c:pt>
                <c:pt idx="83">
                  <c:v>16</c:v>
                </c:pt>
                <c:pt idx="84">
                  <c:v>15</c:v>
                </c:pt>
                <c:pt idx="85">
                  <c:v>14</c:v>
                </c:pt>
                <c:pt idx="86">
                  <c:v>13</c:v>
                </c:pt>
                <c:pt idx="87">
                  <c:v>12</c:v>
                </c:pt>
                <c:pt idx="88">
                  <c:v>11</c:v>
                </c:pt>
                <c:pt idx="89">
                  <c:v>10</c:v>
                </c:pt>
                <c:pt idx="90">
                  <c:v>9</c:v>
                </c:pt>
                <c:pt idx="91">
                  <c:v>8</c:v>
                </c:pt>
                <c:pt idx="92">
                  <c:v>7</c:v>
                </c:pt>
                <c:pt idx="93">
                  <c:v>6</c:v>
                </c:pt>
                <c:pt idx="94">
                  <c:v>5</c:v>
                </c:pt>
                <c:pt idx="95">
                  <c:v>4</c:v>
                </c:pt>
                <c:pt idx="96">
                  <c:v>3</c:v>
                </c:pt>
                <c:pt idx="97">
                  <c:v>2</c:v>
                </c:pt>
                <c:pt idx="98">
                  <c:v>1</c:v>
                </c:pt>
              </c:numCache>
            </c:numRef>
          </c:xVal>
          <c:yVal>
            <c:numRef>
              <c:f>longbr1br2!$A$6:$CU$6</c:f>
              <c:numCache>
                <c:formatCode>General</c:formatCode>
                <c:ptCount val="99"/>
                <c:pt idx="0">
                  <c:v>1.778</c:v>
                </c:pt>
                <c:pt idx="1">
                  <c:v>1.7780000000000009</c:v>
                </c:pt>
                <c:pt idx="2">
                  <c:v>1.7780000000000009</c:v>
                </c:pt>
                <c:pt idx="3">
                  <c:v>1.7780000000000009</c:v>
                </c:pt>
                <c:pt idx="4">
                  <c:v>1.7780000000000009</c:v>
                </c:pt>
                <c:pt idx="5">
                  <c:v>1.7780000000000009</c:v>
                </c:pt>
                <c:pt idx="6">
                  <c:v>1.7780000000000009</c:v>
                </c:pt>
                <c:pt idx="7">
                  <c:v>1.7780000000000009</c:v>
                </c:pt>
                <c:pt idx="8">
                  <c:v>1.7780000000000009</c:v>
                </c:pt>
                <c:pt idx="9">
                  <c:v>0.6718072289156638</c:v>
                </c:pt>
                <c:pt idx="10">
                  <c:v>0.6718072289156638</c:v>
                </c:pt>
                <c:pt idx="11">
                  <c:v>1.3338795180722878</c:v>
                </c:pt>
                <c:pt idx="12">
                  <c:v>1.3338795180722878</c:v>
                </c:pt>
                <c:pt idx="13">
                  <c:v>1.1252168674698784</c:v>
                </c:pt>
                <c:pt idx="14">
                  <c:v>1.2046144578313271</c:v>
                </c:pt>
                <c:pt idx="15">
                  <c:v>1.2046144578313271</c:v>
                </c:pt>
                <c:pt idx="16">
                  <c:v>1.2148313253012066</c:v>
                </c:pt>
                <c:pt idx="17">
                  <c:v>1.2148313253012066</c:v>
                </c:pt>
                <c:pt idx="18">
                  <c:v>1.2154698795180741</c:v>
                </c:pt>
                <c:pt idx="19">
                  <c:v>1.2154698795180741</c:v>
                </c:pt>
                <c:pt idx="20">
                  <c:v>1.8371097560975638</c:v>
                </c:pt>
                <c:pt idx="21">
                  <c:v>1.8361707317073199</c:v>
                </c:pt>
                <c:pt idx="22">
                  <c:v>1.3833000000000002</c:v>
                </c:pt>
                <c:pt idx="23">
                  <c:v>1.3436249999999983</c:v>
                </c:pt>
                <c:pt idx="24">
                  <c:v>1.3159113924050618</c:v>
                </c:pt>
                <c:pt idx="25">
                  <c:v>1.3104102564102551</c:v>
                </c:pt>
                <c:pt idx="26">
                  <c:v>1.3104102564102551</c:v>
                </c:pt>
                <c:pt idx="27">
                  <c:v>1.3089743589743574</c:v>
                </c:pt>
                <c:pt idx="28">
                  <c:v>1.307363636363635</c:v>
                </c:pt>
                <c:pt idx="29">
                  <c:v>1.3255974025974011</c:v>
                </c:pt>
                <c:pt idx="30">
                  <c:v>1.3264864864864852</c:v>
                </c:pt>
                <c:pt idx="31">
                  <c:v>1.1996164383561632</c:v>
                </c:pt>
                <c:pt idx="32">
                  <c:v>1.5683472222222201</c:v>
                </c:pt>
                <c:pt idx="33">
                  <c:v>1.1887183098591538</c:v>
                </c:pt>
                <c:pt idx="34">
                  <c:v>1.1887183098591538</c:v>
                </c:pt>
                <c:pt idx="35">
                  <c:v>1.2026285714285703</c:v>
                </c:pt>
                <c:pt idx="36">
                  <c:v>1.2026285714285703</c:v>
                </c:pt>
                <c:pt idx="37">
                  <c:v>1.1752428571428564</c:v>
                </c:pt>
                <c:pt idx="38">
                  <c:v>2.5489420289855094</c:v>
                </c:pt>
                <c:pt idx="39">
                  <c:v>2.5369420289855098</c:v>
                </c:pt>
                <c:pt idx="40">
                  <c:v>1.5152941176470578</c:v>
                </c:pt>
                <c:pt idx="41">
                  <c:v>1.5349253731343271</c:v>
                </c:pt>
                <c:pt idx="42">
                  <c:v>1.7646268656716428</c:v>
                </c:pt>
                <c:pt idx="43">
                  <c:v>1.3549850746268661</c:v>
                </c:pt>
                <c:pt idx="44">
                  <c:v>1.35339393939394</c:v>
                </c:pt>
                <c:pt idx="45">
                  <c:v>1.3537656250000007</c:v>
                </c:pt>
                <c:pt idx="46">
                  <c:v>1.3537656250000007</c:v>
                </c:pt>
                <c:pt idx="47">
                  <c:v>1.6357755102040832</c:v>
                </c:pt>
                <c:pt idx="48">
                  <c:v>1.6284603174603189</c:v>
                </c:pt>
                <c:pt idx="49">
                  <c:v>1.2989365079365094</c:v>
                </c:pt>
                <c:pt idx="50">
                  <c:v>1.2984999999999989</c:v>
                </c:pt>
                <c:pt idx="51">
                  <c:v>1.5299791666666653</c:v>
                </c:pt>
                <c:pt idx="52">
                  <c:v>1.480163636363635</c:v>
                </c:pt>
                <c:pt idx="53">
                  <c:v>1.4725999999999986</c:v>
                </c:pt>
                <c:pt idx="54">
                  <c:v>1.1538703703703712</c:v>
                </c:pt>
                <c:pt idx="55">
                  <c:v>1.1919056603773592</c:v>
                </c:pt>
                <c:pt idx="56">
                  <c:v>1.1184716981132079</c:v>
                </c:pt>
                <c:pt idx="57">
                  <c:v>1.1147884615384609</c:v>
                </c:pt>
                <c:pt idx="58">
                  <c:v>1.1433124999999993</c:v>
                </c:pt>
                <c:pt idx="59">
                  <c:v>1.2350243902439018</c:v>
                </c:pt>
                <c:pt idx="60">
                  <c:v>1.2439512195121956</c:v>
                </c:pt>
                <c:pt idx="61">
                  <c:v>1.1706190476190481</c:v>
                </c:pt>
                <c:pt idx="62">
                  <c:v>1.0421578947368424</c:v>
                </c:pt>
                <c:pt idx="63">
                  <c:v>1.0770294117647061</c:v>
                </c:pt>
                <c:pt idx="64">
                  <c:v>1.1203437500000002</c:v>
                </c:pt>
                <c:pt idx="65">
                  <c:v>1.1730357142857148</c:v>
                </c:pt>
                <c:pt idx="66">
                  <c:v>1.1508076923076926</c:v>
                </c:pt>
                <c:pt idx="67">
                  <c:v>1.0876800000000002</c:v>
                </c:pt>
                <c:pt idx="68">
                  <c:v>0.59995454545454541</c:v>
                </c:pt>
                <c:pt idx="69">
                  <c:v>1.0058823529411764</c:v>
                </c:pt>
                <c:pt idx="70">
                  <c:v>1.0989545454545455</c:v>
                </c:pt>
                <c:pt idx="71">
                  <c:v>1.0965</c:v>
                </c:pt>
                <c:pt idx="72">
                  <c:v>1.1830500000000002</c:v>
                </c:pt>
                <c:pt idx="73">
                  <c:v>1.1855555555555553</c:v>
                </c:pt>
                <c:pt idx="74">
                  <c:v>1.1057333333333332</c:v>
                </c:pt>
                <c:pt idx="75">
                  <c:v>1.04325</c:v>
                </c:pt>
                <c:pt idx="76">
                  <c:v>1.0785454545454543</c:v>
                </c:pt>
                <c:pt idx="77">
                  <c:v>1.2826363636363634</c:v>
                </c:pt>
                <c:pt idx="78">
                  <c:v>1.2826363636363634</c:v>
                </c:pt>
                <c:pt idx="79">
                  <c:v>1.2660909090909087</c:v>
                </c:pt>
                <c:pt idx="80">
                  <c:v>1.4276999999999997</c:v>
                </c:pt>
                <c:pt idx="81">
                  <c:v>1.607142857142857</c:v>
                </c:pt>
                <c:pt idx="82">
                  <c:v>1.607142857142857</c:v>
                </c:pt>
                <c:pt idx="83">
                  <c:v>1.607142857142857</c:v>
                </c:pt>
                <c:pt idx="84">
                  <c:v>1.607142857142857</c:v>
                </c:pt>
                <c:pt idx="85">
                  <c:v>1.607142857142857</c:v>
                </c:pt>
                <c:pt idx="86">
                  <c:v>1.1822857142857142</c:v>
                </c:pt>
                <c:pt idx="87">
                  <c:v>1.0971428571428574</c:v>
                </c:pt>
                <c:pt idx="88">
                  <c:v>1.3868571428571428</c:v>
                </c:pt>
                <c:pt idx="89">
                  <c:v>1.3868571428571428</c:v>
                </c:pt>
                <c:pt idx="90">
                  <c:v>1.2252857142857143</c:v>
                </c:pt>
                <c:pt idx="91">
                  <c:v>1.2252857142857143</c:v>
                </c:pt>
                <c:pt idx="92">
                  <c:v>1.1798000000000002</c:v>
                </c:pt>
                <c:pt idx="93">
                  <c:v>1.1560000000000001</c:v>
                </c:pt>
                <c:pt idx="94">
                  <c:v>1.1560000000000001</c:v>
                </c:pt>
                <c:pt idx="95">
                  <c:v>1.3339999999999999</c:v>
                </c:pt>
                <c:pt idx="96">
                  <c:v>1.1439999999999999</c:v>
                </c:pt>
                <c:pt idx="97">
                  <c:v>1.1439999999999999</c:v>
                </c:pt>
                <c:pt idx="98">
                  <c:v>1.1439999999999999</c:v>
                </c:pt>
              </c:numCache>
            </c:numRef>
          </c:yVal>
          <c:smooth val="1"/>
          <c:extLst>
            <c:ext xmlns:c16="http://schemas.microsoft.com/office/drawing/2014/chart" uri="{C3380CC4-5D6E-409C-BE32-E72D297353CC}">
              <c16:uniqueId val="{00000002-3EA8-446E-933D-F1BDE47FB917}"/>
            </c:ext>
          </c:extLst>
        </c:ser>
        <c:dLbls>
          <c:showLegendKey val="0"/>
          <c:showVal val="0"/>
          <c:showCatName val="0"/>
          <c:showSerName val="0"/>
          <c:showPercent val="0"/>
          <c:showBubbleSize val="0"/>
        </c:dLbls>
        <c:axId val="291924144"/>
        <c:axId val="291922512"/>
      </c:scatterChart>
      <c:valAx>
        <c:axId val="29192414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a:t>AGE CHRONOLOGIQUE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291922512"/>
        <c:crosses val="autoZero"/>
        <c:crossBetween val="midCat"/>
      </c:valAx>
      <c:valAx>
        <c:axId val="291922512"/>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a:t>LONGUEUR</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291924144"/>
        <c:crosses val="autoZero"/>
        <c:crossBetween val="midCat"/>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800" b="0" i="0" baseline="0">
                <a:effectLst/>
              </a:rPr>
              <a:t>LOGIT (MOYENNE DONNEES/K)</a:t>
            </a:r>
            <a:endParaRPr lang="fr-FR">
              <a:effectLst/>
            </a:endParaRPr>
          </a:p>
        </c:rich>
      </c:tx>
      <c:layout>
        <c:manualLayout>
          <c:xMode val="edge"/>
          <c:yMode val="edge"/>
          <c:x val="0.22373600174978128"/>
          <c:y val="3.7037037037037035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scatterChart>
        <c:scatterStyle val="lineMarker"/>
        <c:varyColors val="0"/>
        <c:ser>
          <c:idx val="0"/>
          <c:order val="0"/>
          <c:tx>
            <c:strRef>
              <c:f>RAYONBASbr1br2!$A$2</c:f>
              <c:strCache>
                <c:ptCount val="1"/>
                <c:pt idx="0">
                  <c:v>LOGIT (MOYENNE DONNEES/K)</c:v>
                </c:pt>
              </c:strCache>
            </c:strRef>
          </c:tx>
          <c:spPr>
            <a:ln w="25400" cap="rnd">
              <a:no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ysDot"/>
              </a:ln>
              <a:effectLst/>
            </c:spPr>
            <c:trendlineType val="linear"/>
            <c:dispRSqr val="1"/>
            <c:dispEq val="1"/>
            <c:trendlineLbl>
              <c:layout>
                <c:manualLayout>
                  <c:x val="7.0345800524934388E-2"/>
                  <c:y val="0.37995625546806638"/>
                </c:manualLayout>
              </c:layout>
              <c:numFmt formatCode="General" sourceLinked="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trendlineLbl>
          </c:trendline>
          <c:xVal>
            <c:numRef>
              <c:f>RAYONBASbr1br2!$A$4:$FL$4</c:f>
              <c:numCache>
                <c:formatCode>General</c:formatCode>
                <c:ptCount val="168"/>
                <c:pt idx="0">
                  <c:v>99</c:v>
                </c:pt>
                <c:pt idx="1">
                  <c:v>98</c:v>
                </c:pt>
                <c:pt idx="2">
                  <c:v>97</c:v>
                </c:pt>
                <c:pt idx="3">
                  <c:v>96</c:v>
                </c:pt>
                <c:pt idx="4">
                  <c:v>95</c:v>
                </c:pt>
                <c:pt idx="5">
                  <c:v>94</c:v>
                </c:pt>
                <c:pt idx="6">
                  <c:v>93</c:v>
                </c:pt>
                <c:pt idx="7">
                  <c:v>92</c:v>
                </c:pt>
                <c:pt idx="8">
                  <c:v>91</c:v>
                </c:pt>
                <c:pt idx="9">
                  <c:v>90</c:v>
                </c:pt>
                <c:pt idx="10">
                  <c:v>89</c:v>
                </c:pt>
                <c:pt idx="11">
                  <c:v>88</c:v>
                </c:pt>
                <c:pt idx="12">
                  <c:v>87</c:v>
                </c:pt>
                <c:pt idx="13">
                  <c:v>86</c:v>
                </c:pt>
                <c:pt idx="14">
                  <c:v>85</c:v>
                </c:pt>
                <c:pt idx="15">
                  <c:v>84</c:v>
                </c:pt>
                <c:pt idx="16">
                  <c:v>83</c:v>
                </c:pt>
                <c:pt idx="17">
                  <c:v>82</c:v>
                </c:pt>
                <c:pt idx="18">
                  <c:v>81</c:v>
                </c:pt>
                <c:pt idx="19">
                  <c:v>80</c:v>
                </c:pt>
                <c:pt idx="20">
                  <c:v>79</c:v>
                </c:pt>
                <c:pt idx="21">
                  <c:v>78</c:v>
                </c:pt>
                <c:pt idx="22">
                  <c:v>77</c:v>
                </c:pt>
                <c:pt idx="23">
                  <c:v>76</c:v>
                </c:pt>
                <c:pt idx="24">
                  <c:v>75</c:v>
                </c:pt>
                <c:pt idx="25">
                  <c:v>74</c:v>
                </c:pt>
                <c:pt idx="26">
                  <c:v>73</c:v>
                </c:pt>
                <c:pt idx="27">
                  <c:v>72</c:v>
                </c:pt>
                <c:pt idx="28">
                  <c:v>71</c:v>
                </c:pt>
                <c:pt idx="29">
                  <c:v>70</c:v>
                </c:pt>
                <c:pt idx="30">
                  <c:v>69</c:v>
                </c:pt>
                <c:pt idx="31">
                  <c:v>68</c:v>
                </c:pt>
                <c:pt idx="32">
                  <c:v>67</c:v>
                </c:pt>
                <c:pt idx="33">
                  <c:v>66</c:v>
                </c:pt>
                <c:pt idx="34">
                  <c:v>65</c:v>
                </c:pt>
                <c:pt idx="35">
                  <c:v>64</c:v>
                </c:pt>
                <c:pt idx="36">
                  <c:v>63</c:v>
                </c:pt>
                <c:pt idx="37">
                  <c:v>62</c:v>
                </c:pt>
                <c:pt idx="38">
                  <c:v>61</c:v>
                </c:pt>
                <c:pt idx="39">
                  <c:v>60</c:v>
                </c:pt>
                <c:pt idx="40">
                  <c:v>59</c:v>
                </c:pt>
                <c:pt idx="41">
                  <c:v>58</c:v>
                </c:pt>
                <c:pt idx="42">
                  <c:v>57</c:v>
                </c:pt>
                <c:pt idx="43">
                  <c:v>56</c:v>
                </c:pt>
                <c:pt idx="44">
                  <c:v>55</c:v>
                </c:pt>
                <c:pt idx="45">
                  <c:v>54</c:v>
                </c:pt>
                <c:pt idx="46">
                  <c:v>53</c:v>
                </c:pt>
                <c:pt idx="47">
                  <c:v>52</c:v>
                </c:pt>
                <c:pt idx="48">
                  <c:v>51</c:v>
                </c:pt>
                <c:pt idx="49">
                  <c:v>50</c:v>
                </c:pt>
                <c:pt idx="50">
                  <c:v>49</c:v>
                </c:pt>
                <c:pt idx="51">
                  <c:v>48</c:v>
                </c:pt>
                <c:pt idx="52">
                  <c:v>47</c:v>
                </c:pt>
                <c:pt idx="53">
                  <c:v>46</c:v>
                </c:pt>
                <c:pt idx="54">
                  <c:v>45</c:v>
                </c:pt>
                <c:pt idx="55">
                  <c:v>44</c:v>
                </c:pt>
                <c:pt idx="56">
                  <c:v>43</c:v>
                </c:pt>
                <c:pt idx="57">
                  <c:v>42</c:v>
                </c:pt>
                <c:pt idx="58">
                  <c:v>41</c:v>
                </c:pt>
                <c:pt idx="59">
                  <c:v>40</c:v>
                </c:pt>
                <c:pt idx="60">
                  <c:v>39</c:v>
                </c:pt>
                <c:pt idx="61">
                  <c:v>38</c:v>
                </c:pt>
                <c:pt idx="62">
                  <c:v>37</c:v>
                </c:pt>
                <c:pt idx="63">
                  <c:v>36</c:v>
                </c:pt>
                <c:pt idx="64">
                  <c:v>35</c:v>
                </c:pt>
                <c:pt idx="65">
                  <c:v>34</c:v>
                </c:pt>
                <c:pt idx="66">
                  <c:v>33</c:v>
                </c:pt>
                <c:pt idx="67">
                  <c:v>32</c:v>
                </c:pt>
                <c:pt idx="68">
                  <c:v>31</c:v>
                </c:pt>
                <c:pt idx="69">
                  <c:v>30</c:v>
                </c:pt>
                <c:pt idx="70">
                  <c:v>29</c:v>
                </c:pt>
                <c:pt idx="71">
                  <c:v>28</c:v>
                </c:pt>
                <c:pt idx="72">
                  <c:v>27</c:v>
                </c:pt>
                <c:pt idx="73">
                  <c:v>26</c:v>
                </c:pt>
                <c:pt idx="74">
                  <c:v>25</c:v>
                </c:pt>
                <c:pt idx="75">
                  <c:v>24</c:v>
                </c:pt>
                <c:pt idx="76">
                  <c:v>23</c:v>
                </c:pt>
                <c:pt idx="77">
                  <c:v>22</c:v>
                </c:pt>
                <c:pt idx="78">
                  <c:v>21</c:v>
                </c:pt>
                <c:pt idx="79">
                  <c:v>20</c:v>
                </c:pt>
                <c:pt idx="80">
                  <c:v>19</c:v>
                </c:pt>
                <c:pt idx="81">
                  <c:v>18</c:v>
                </c:pt>
                <c:pt idx="82">
                  <c:v>17</c:v>
                </c:pt>
                <c:pt idx="83">
                  <c:v>16</c:v>
                </c:pt>
                <c:pt idx="84">
                  <c:v>15</c:v>
                </c:pt>
                <c:pt idx="85">
                  <c:v>14</c:v>
                </c:pt>
                <c:pt idx="86">
                  <c:v>13</c:v>
                </c:pt>
                <c:pt idx="87">
                  <c:v>12</c:v>
                </c:pt>
                <c:pt idx="88">
                  <c:v>11</c:v>
                </c:pt>
                <c:pt idx="89">
                  <c:v>10</c:v>
                </c:pt>
                <c:pt idx="90">
                  <c:v>9</c:v>
                </c:pt>
                <c:pt idx="91">
                  <c:v>8</c:v>
                </c:pt>
                <c:pt idx="92">
                  <c:v>7</c:v>
                </c:pt>
                <c:pt idx="93">
                  <c:v>6</c:v>
                </c:pt>
                <c:pt idx="94">
                  <c:v>5</c:v>
                </c:pt>
                <c:pt idx="95">
                  <c:v>4</c:v>
                </c:pt>
                <c:pt idx="96">
                  <c:v>3</c:v>
                </c:pt>
                <c:pt idx="97">
                  <c:v>2</c:v>
                </c:pt>
                <c:pt idx="98">
                  <c:v>1</c:v>
                </c:pt>
                <c:pt idx="99">
                  <c:v>69</c:v>
                </c:pt>
                <c:pt idx="100">
                  <c:v>68</c:v>
                </c:pt>
                <c:pt idx="101">
                  <c:v>67</c:v>
                </c:pt>
                <c:pt idx="102">
                  <c:v>66</c:v>
                </c:pt>
                <c:pt idx="103">
                  <c:v>65</c:v>
                </c:pt>
                <c:pt idx="104">
                  <c:v>64</c:v>
                </c:pt>
                <c:pt idx="105">
                  <c:v>63</c:v>
                </c:pt>
                <c:pt idx="106">
                  <c:v>62</c:v>
                </c:pt>
                <c:pt idx="107">
                  <c:v>61</c:v>
                </c:pt>
                <c:pt idx="108">
                  <c:v>60</c:v>
                </c:pt>
                <c:pt idx="109">
                  <c:v>59</c:v>
                </c:pt>
                <c:pt idx="110">
                  <c:v>58</c:v>
                </c:pt>
                <c:pt idx="111">
                  <c:v>57</c:v>
                </c:pt>
                <c:pt idx="112">
                  <c:v>56</c:v>
                </c:pt>
                <c:pt idx="113">
                  <c:v>55</c:v>
                </c:pt>
                <c:pt idx="114">
                  <c:v>54</c:v>
                </c:pt>
                <c:pt idx="115">
                  <c:v>53</c:v>
                </c:pt>
                <c:pt idx="116">
                  <c:v>52</c:v>
                </c:pt>
                <c:pt idx="117">
                  <c:v>51</c:v>
                </c:pt>
                <c:pt idx="118">
                  <c:v>50</c:v>
                </c:pt>
                <c:pt idx="119">
                  <c:v>49</c:v>
                </c:pt>
                <c:pt idx="120">
                  <c:v>48</c:v>
                </c:pt>
                <c:pt idx="121">
                  <c:v>47</c:v>
                </c:pt>
                <c:pt idx="122">
                  <c:v>46</c:v>
                </c:pt>
                <c:pt idx="123">
                  <c:v>45</c:v>
                </c:pt>
                <c:pt idx="124">
                  <c:v>44</c:v>
                </c:pt>
                <c:pt idx="125">
                  <c:v>43</c:v>
                </c:pt>
                <c:pt idx="126">
                  <c:v>42</c:v>
                </c:pt>
                <c:pt idx="127">
                  <c:v>41</c:v>
                </c:pt>
                <c:pt idx="128">
                  <c:v>40</c:v>
                </c:pt>
                <c:pt idx="129">
                  <c:v>39</c:v>
                </c:pt>
                <c:pt idx="130">
                  <c:v>38</c:v>
                </c:pt>
                <c:pt idx="131">
                  <c:v>37</c:v>
                </c:pt>
                <c:pt idx="132">
                  <c:v>36</c:v>
                </c:pt>
                <c:pt idx="133">
                  <c:v>35</c:v>
                </c:pt>
                <c:pt idx="134">
                  <c:v>34</c:v>
                </c:pt>
                <c:pt idx="135">
                  <c:v>33</c:v>
                </c:pt>
                <c:pt idx="136">
                  <c:v>32</c:v>
                </c:pt>
                <c:pt idx="137">
                  <c:v>31</c:v>
                </c:pt>
                <c:pt idx="138">
                  <c:v>30</c:v>
                </c:pt>
                <c:pt idx="139">
                  <c:v>29</c:v>
                </c:pt>
                <c:pt idx="140">
                  <c:v>28</c:v>
                </c:pt>
                <c:pt idx="141">
                  <c:v>27</c:v>
                </c:pt>
                <c:pt idx="142">
                  <c:v>26</c:v>
                </c:pt>
                <c:pt idx="143">
                  <c:v>25</c:v>
                </c:pt>
                <c:pt idx="144">
                  <c:v>24</c:v>
                </c:pt>
                <c:pt idx="145">
                  <c:v>23</c:v>
                </c:pt>
                <c:pt idx="146">
                  <c:v>22</c:v>
                </c:pt>
                <c:pt idx="147">
                  <c:v>21</c:v>
                </c:pt>
                <c:pt idx="148">
                  <c:v>20</c:v>
                </c:pt>
                <c:pt idx="149">
                  <c:v>19</c:v>
                </c:pt>
                <c:pt idx="150">
                  <c:v>18</c:v>
                </c:pt>
                <c:pt idx="151">
                  <c:v>17</c:v>
                </c:pt>
                <c:pt idx="152">
                  <c:v>16</c:v>
                </c:pt>
                <c:pt idx="153">
                  <c:v>15</c:v>
                </c:pt>
                <c:pt idx="154">
                  <c:v>14</c:v>
                </c:pt>
                <c:pt idx="155">
                  <c:v>13</c:v>
                </c:pt>
                <c:pt idx="156">
                  <c:v>12</c:v>
                </c:pt>
                <c:pt idx="157">
                  <c:v>11</c:v>
                </c:pt>
                <c:pt idx="158">
                  <c:v>10</c:v>
                </c:pt>
                <c:pt idx="159">
                  <c:v>9</c:v>
                </c:pt>
                <c:pt idx="160">
                  <c:v>8</c:v>
                </c:pt>
                <c:pt idx="161">
                  <c:v>7</c:v>
                </c:pt>
                <c:pt idx="162">
                  <c:v>6</c:v>
                </c:pt>
                <c:pt idx="163">
                  <c:v>5</c:v>
                </c:pt>
                <c:pt idx="164">
                  <c:v>4</c:v>
                </c:pt>
                <c:pt idx="165">
                  <c:v>3</c:v>
                </c:pt>
                <c:pt idx="166">
                  <c:v>2</c:v>
                </c:pt>
                <c:pt idx="167">
                  <c:v>1</c:v>
                </c:pt>
              </c:numCache>
            </c:numRef>
          </c:xVal>
          <c:yVal>
            <c:numRef>
              <c:f>RAYONBASbr1br2!$A$7:$FL$7</c:f>
              <c:numCache>
                <c:formatCode>General</c:formatCode>
                <c:ptCount val="168"/>
                <c:pt idx="0">
                  <c:v>-6.7393917733974032E-2</c:v>
                </c:pt>
                <c:pt idx="1">
                  <c:v>-9.2697900613594009E-2</c:v>
                </c:pt>
                <c:pt idx="2">
                  <c:v>-0.1180315754861711</c:v>
                </c:pt>
                <c:pt idx="3">
                  <c:v>-0.14340314110367652</c:v>
                </c:pt>
                <c:pt idx="4">
                  <c:v>-0.16882086957505302</c:v>
                </c:pt>
                <c:pt idx="5">
                  <c:v>-0.19429312282535144</c:v>
                </c:pt>
                <c:pt idx="6">
                  <c:v>-0.21769781748192077</c:v>
                </c:pt>
                <c:pt idx="7">
                  <c:v>-0.24329835329266988</c:v>
                </c:pt>
                <c:pt idx="8">
                  <c:v>-0.26897847647931911</c:v>
                </c:pt>
                <c:pt idx="9">
                  <c:v>-0.3833982362235378</c:v>
                </c:pt>
                <c:pt idx="10">
                  <c:v>-0.39546130297928633</c:v>
                </c:pt>
                <c:pt idx="11">
                  <c:v>-0.42765634714457673</c:v>
                </c:pt>
                <c:pt idx="12">
                  <c:v>-0.44608626685193947</c:v>
                </c:pt>
                <c:pt idx="13">
                  <c:v>-0.48193822324923263</c:v>
                </c:pt>
                <c:pt idx="14">
                  <c:v>-0.52504173712251989</c:v>
                </c:pt>
                <c:pt idx="15">
                  <c:v>-0.54199539095235461</c:v>
                </c:pt>
                <c:pt idx="16">
                  <c:v>-0.5655520770852217</c:v>
                </c:pt>
                <c:pt idx="17">
                  <c:v>-0.58266506021703723</c:v>
                </c:pt>
                <c:pt idx="18">
                  <c:v>-0.60060983662432077</c:v>
                </c:pt>
                <c:pt idx="19">
                  <c:v>-0.6178687392071166</c:v>
                </c:pt>
                <c:pt idx="20">
                  <c:v>-0.63646435674418977</c:v>
                </c:pt>
                <c:pt idx="21">
                  <c:v>-0.66060670164032953</c:v>
                </c:pt>
                <c:pt idx="22">
                  <c:v>-0.69262091092232669</c:v>
                </c:pt>
                <c:pt idx="23">
                  <c:v>-0.70398554277214453</c:v>
                </c:pt>
                <c:pt idx="24">
                  <c:v>-0.70923987346575001</c:v>
                </c:pt>
                <c:pt idx="25">
                  <c:v>-0.70952817832893977</c:v>
                </c:pt>
                <c:pt idx="26">
                  <c:v>-0.72729102921213884</c:v>
                </c:pt>
                <c:pt idx="27">
                  <c:v>-0.74671062348203643</c:v>
                </c:pt>
                <c:pt idx="28">
                  <c:v>-0.74802931660590832</c:v>
                </c:pt>
                <c:pt idx="29">
                  <c:v>-0.76554495460814231</c:v>
                </c:pt>
                <c:pt idx="30">
                  <c:v>-0.73302810254772865</c:v>
                </c:pt>
                <c:pt idx="31">
                  <c:v>-0.81461944972691158</c:v>
                </c:pt>
                <c:pt idx="32">
                  <c:v>-0.9022103033500406</c:v>
                </c:pt>
                <c:pt idx="33">
                  <c:v>-0.92589466595520586</c:v>
                </c:pt>
                <c:pt idx="34">
                  <c:v>-0.94527070012841585</c:v>
                </c:pt>
                <c:pt idx="35">
                  <c:v>-0.94699912815165066</c:v>
                </c:pt>
                <c:pt idx="36">
                  <c:v>-0.96480446311671997</c:v>
                </c:pt>
                <c:pt idx="37">
                  <c:v>-0.98567638829427806</c:v>
                </c:pt>
                <c:pt idx="38">
                  <c:v>-1.1935964908347929</c:v>
                </c:pt>
                <c:pt idx="39">
                  <c:v>-1.233987036128003</c:v>
                </c:pt>
                <c:pt idx="40">
                  <c:v>-1.3380384650484682</c:v>
                </c:pt>
                <c:pt idx="41">
                  <c:v>-1.3445933709736542</c:v>
                </c:pt>
                <c:pt idx="42">
                  <c:v>-1.2999629705567328</c:v>
                </c:pt>
                <c:pt idx="43">
                  <c:v>-1.3550188618931946</c:v>
                </c:pt>
                <c:pt idx="44">
                  <c:v>-1.3660820453930917</c:v>
                </c:pt>
                <c:pt idx="45">
                  <c:v>-1.3672319530510459</c:v>
                </c:pt>
                <c:pt idx="46">
                  <c:v>-1.3930927639340422</c:v>
                </c:pt>
                <c:pt idx="47">
                  <c:v>-1.4345348062429863</c:v>
                </c:pt>
                <c:pt idx="48">
                  <c:v>-1.456809932762775</c:v>
                </c:pt>
                <c:pt idx="49">
                  <c:v>-1.5476780145659035</c:v>
                </c:pt>
                <c:pt idx="50">
                  <c:v>-1.6134364489133941</c:v>
                </c:pt>
                <c:pt idx="51">
                  <c:v>-1.5839921414810063</c:v>
                </c:pt>
                <c:pt idx="52">
                  <c:v>-1.6770898677885537</c:v>
                </c:pt>
                <c:pt idx="53">
                  <c:v>-1.7228658492942472</c:v>
                </c:pt>
                <c:pt idx="54">
                  <c:v>-1.8270229935631743</c:v>
                </c:pt>
                <c:pt idx="55">
                  <c:v>-1.8355624356069571</c:v>
                </c:pt>
                <c:pt idx="56">
                  <c:v>-1.8695410470338338</c:v>
                </c:pt>
                <c:pt idx="57">
                  <c:v>-1.9239743629528516</c:v>
                </c:pt>
                <c:pt idx="58">
                  <c:v>-1.9348101976746899</c:v>
                </c:pt>
                <c:pt idx="59">
                  <c:v>-1.921653028530653</c:v>
                </c:pt>
                <c:pt idx="60">
                  <c:v>-2.0036923904930646</c:v>
                </c:pt>
                <c:pt idx="61">
                  <c:v>-2.0611495300581608</c:v>
                </c:pt>
                <c:pt idx="62">
                  <c:v>-2.063463169645646</c:v>
                </c:pt>
                <c:pt idx="63">
                  <c:v>-2.0027317056461844</c:v>
                </c:pt>
                <c:pt idx="64">
                  <c:v>-1.9995478911504869</c:v>
                </c:pt>
                <c:pt idx="65">
                  <c:v>-1.9789224070484943</c:v>
                </c:pt>
                <c:pt idx="66">
                  <c:v>-1.9381594239956144</c:v>
                </c:pt>
                <c:pt idx="67">
                  <c:v>-1.9742153018439319</c:v>
                </c:pt>
                <c:pt idx="68">
                  <c:v>-1.978906942429312</c:v>
                </c:pt>
                <c:pt idx="69">
                  <c:v>-2.2384920595872284</c:v>
                </c:pt>
                <c:pt idx="70">
                  <c:v>-2.1869004703879629</c:v>
                </c:pt>
                <c:pt idx="71">
                  <c:v>-2.259579945041482</c:v>
                </c:pt>
                <c:pt idx="72">
                  <c:v>-2.3511591110478629</c:v>
                </c:pt>
                <c:pt idx="73">
                  <c:v>-2.3883638265328178</c:v>
                </c:pt>
                <c:pt idx="74">
                  <c:v>-2.3778528482537484</c:v>
                </c:pt>
                <c:pt idx="75">
                  <c:v>-2.3656484700375948</c:v>
                </c:pt>
                <c:pt idx="76">
                  <c:v>-2.3020062826961105</c:v>
                </c:pt>
                <c:pt idx="77">
                  <c:v>-2.3939348715822737</c:v>
                </c:pt>
                <c:pt idx="78">
                  <c:v>-2.4262045305758866</c:v>
                </c:pt>
                <c:pt idx="79">
                  <c:v>-2.4475591810163992</c:v>
                </c:pt>
                <c:pt idx="80">
                  <c:v>-2.4699694676076036</c:v>
                </c:pt>
                <c:pt idx="81">
                  <c:v>-2.2632749903707841</c:v>
                </c:pt>
                <c:pt idx="82">
                  <c:v>-2.2927003337615033</c:v>
                </c:pt>
                <c:pt idx="83">
                  <c:v>-2.3274840315388912</c:v>
                </c:pt>
                <c:pt idx="84">
                  <c:v>-2.3585194720598559</c:v>
                </c:pt>
                <c:pt idx="85">
                  <c:v>-2.3913512821650875</c:v>
                </c:pt>
                <c:pt idx="86">
                  <c:v>-2.4515769234761011</c:v>
                </c:pt>
                <c:pt idx="87">
                  <c:v>-2.5117638534568489</c:v>
                </c:pt>
                <c:pt idx="88">
                  <c:v>-2.5994638761955011</c:v>
                </c:pt>
                <c:pt idx="89">
                  <c:v>-2.6398631963685171</c:v>
                </c:pt>
                <c:pt idx="90">
                  <c:v>-2.7422415658504895</c:v>
                </c:pt>
                <c:pt idx="91">
                  <c:v>-2.7964041767658578</c:v>
                </c:pt>
                <c:pt idx="92">
                  <c:v>-2.8967231080118481</c:v>
                </c:pt>
                <c:pt idx="93">
                  <c:v>-2.8362825428941014</c:v>
                </c:pt>
                <c:pt idx="94">
                  <c:v>-2.8798657171092734</c:v>
                </c:pt>
                <c:pt idx="95">
                  <c:v>-2.890371757896165</c:v>
                </c:pt>
                <c:pt idx="96">
                  <c:v>-2.7991815198315679</c:v>
                </c:pt>
                <c:pt idx="97">
                  <c:v>-2.848926349720772</c:v>
                </c:pt>
                <c:pt idx="98">
                  <c:v>-2.8903717578961645</c:v>
                </c:pt>
                <c:pt idx="99">
                  <c:v>-0.29474706881754736</c:v>
                </c:pt>
                <c:pt idx="100">
                  <c:v>-0.34224946879375406</c:v>
                </c:pt>
                <c:pt idx="101">
                  <c:v>-0.38795152561545487</c:v>
                </c:pt>
                <c:pt idx="102">
                  <c:v>-0.43405733513624162</c:v>
                </c:pt>
                <c:pt idx="103">
                  <c:v>-0.48062198556324703</c:v>
                </c:pt>
                <c:pt idx="104">
                  <c:v>-0.55175173063893124</c:v>
                </c:pt>
                <c:pt idx="105">
                  <c:v>-0.59219837429500233</c:v>
                </c:pt>
                <c:pt idx="106">
                  <c:v>-0.63307832283464771</c:v>
                </c:pt>
                <c:pt idx="107">
                  <c:v>-0.67216739009074999</c:v>
                </c:pt>
                <c:pt idx="108">
                  <c:v>-0.71414220801623296</c:v>
                </c:pt>
                <c:pt idx="109">
                  <c:v>-0.75668476603975443</c:v>
                </c:pt>
                <c:pt idx="110">
                  <c:v>-0.85939440688382573</c:v>
                </c:pt>
                <c:pt idx="111">
                  <c:v>-0.88671845236110902</c:v>
                </c:pt>
                <c:pt idx="112">
                  <c:v>-0.93384654915003007</c:v>
                </c:pt>
                <c:pt idx="113">
                  <c:v>-0.98216323911846681</c:v>
                </c:pt>
                <c:pt idx="114">
                  <c:v>-1.0313613758955431</c:v>
                </c:pt>
                <c:pt idx="115">
                  <c:v>-1.2835802029337324</c:v>
                </c:pt>
                <c:pt idx="116">
                  <c:v>-1.3126978297636394</c:v>
                </c:pt>
                <c:pt idx="117">
                  <c:v>-1.3425540031127665</c:v>
                </c:pt>
                <c:pt idx="118">
                  <c:v>-1.4181906944785225</c:v>
                </c:pt>
                <c:pt idx="119">
                  <c:v>-1.5531789250614767</c:v>
                </c:pt>
                <c:pt idx="120">
                  <c:v>-1.735224280676946</c:v>
                </c:pt>
                <c:pt idx="121">
                  <c:v>-1.9668197833970966</c:v>
                </c:pt>
                <c:pt idx="122">
                  <c:v>-2.0154001910673687</c:v>
                </c:pt>
                <c:pt idx="123">
                  <c:v>-2.0070647873594565</c:v>
                </c:pt>
                <c:pt idx="124">
                  <c:v>-2.0083085548169843</c:v>
                </c:pt>
                <c:pt idx="125">
                  <c:v>-2.0195372054112424</c:v>
                </c:pt>
                <c:pt idx="126">
                  <c:v>-2.0191371780247152</c:v>
                </c:pt>
                <c:pt idx="127">
                  <c:v>-2.0758938078490199</c:v>
                </c:pt>
                <c:pt idx="128">
                  <c:v>-2.1442954408075088</c:v>
                </c:pt>
                <c:pt idx="129">
                  <c:v>-2.1577334331851716</c:v>
                </c:pt>
                <c:pt idx="130">
                  <c:v>-2.2104522834337712</c:v>
                </c:pt>
                <c:pt idx="131">
                  <c:v>-2.2164146739474391</c:v>
                </c:pt>
                <c:pt idx="132">
                  <c:v>-2.2535087882168598</c:v>
                </c:pt>
                <c:pt idx="133">
                  <c:v>-2.3548610897987401</c:v>
                </c:pt>
                <c:pt idx="134">
                  <c:v>-2.3736440053665655</c:v>
                </c:pt>
                <c:pt idx="135">
                  <c:v>-2.3841289487248751</c:v>
                </c:pt>
                <c:pt idx="136">
                  <c:v>-2.4452952252115314</c:v>
                </c:pt>
                <c:pt idx="137">
                  <c:v>-2.4680995314716188</c:v>
                </c:pt>
                <c:pt idx="138">
                  <c:v>-2.4975919656976422</c:v>
                </c:pt>
                <c:pt idx="139">
                  <c:v>-2.6236530199702517</c:v>
                </c:pt>
                <c:pt idx="140">
                  <c:v>-2.6590675449802146</c:v>
                </c:pt>
                <c:pt idx="141">
                  <c:v>-2.6893748821398775</c:v>
                </c:pt>
                <c:pt idx="142">
                  <c:v>-2.6716834704106818</c:v>
                </c:pt>
                <c:pt idx="143">
                  <c:v>-2.6644285488073978</c:v>
                </c:pt>
                <c:pt idx="144">
                  <c:v>-2.6234075579481311</c:v>
                </c:pt>
                <c:pt idx="145">
                  <c:v>-2.6479022484138954</c:v>
                </c:pt>
                <c:pt idx="146">
                  <c:v>-2.6686362325613335</c:v>
                </c:pt>
                <c:pt idx="147">
                  <c:v>-2.5939884689836976</c:v>
                </c:pt>
                <c:pt idx="148">
                  <c:v>-2.6184481262597123</c:v>
                </c:pt>
                <c:pt idx="149">
                  <c:v>-2.6436482194809288</c:v>
                </c:pt>
                <c:pt idx="150">
                  <c:v>-2.6918052189178767</c:v>
                </c:pt>
                <c:pt idx="151">
                  <c:v>-2.688016142069094</c:v>
                </c:pt>
                <c:pt idx="152">
                  <c:v>-2.6956068723259152</c:v>
                </c:pt>
                <c:pt idx="153">
                  <c:v>-2.7515353130419489</c:v>
                </c:pt>
                <c:pt idx="154">
                  <c:v>-2.8005727561472678</c:v>
                </c:pt>
                <c:pt idx="155">
                  <c:v>-2.8089563664106563</c:v>
                </c:pt>
                <c:pt idx="156">
                  <c:v>-2.828763948506674</c:v>
                </c:pt>
                <c:pt idx="157">
                  <c:v>-2.9009774950413663</c:v>
                </c:pt>
                <c:pt idx="158">
                  <c:v>-3.0562742359410042</c:v>
                </c:pt>
                <c:pt idx="159">
                  <c:v>-3.1429890156985572</c:v>
                </c:pt>
                <c:pt idx="160">
                  <c:v>-3.2372026791655397</c:v>
                </c:pt>
                <c:pt idx="161">
                  <c:v>-3.297475539046149</c:v>
                </c:pt>
                <c:pt idx="162">
                  <c:v>-3.3285312865362298</c:v>
                </c:pt>
                <c:pt idx="163">
                  <c:v>-3.2343116329980397</c:v>
                </c:pt>
                <c:pt idx="164">
                  <c:v>-3.2635760037861075</c:v>
                </c:pt>
                <c:pt idx="165">
                  <c:v>-3.2785110400772512</c:v>
                </c:pt>
                <c:pt idx="166">
                  <c:v>-3.3564614878207641</c:v>
                </c:pt>
                <c:pt idx="167">
                  <c:v>-3.3727543588235931</c:v>
                </c:pt>
              </c:numCache>
            </c:numRef>
          </c:yVal>
          <c:smooth val="0"/>
          <c:extLst>
            <c:ext xmlns:c16="http://schemas.microsoft.com/office/drawing/2014/chart" uri="{C3380CC4-5D6E-409C-BE32-E72D297353CC}">
              <c16:uniqueId val="{00000001-742B-40EC-960F-D08BA529CA18}"/>
            </c:ext>
          </c:extLst>
        </c:ser>
        <c:dLbls>
          <c:showLegendKey val="0"/>
          <c:showVal val="0"/>
          <c:showCatName val="0"/>
          <c:showSerName val="0"/>
          <c:showPercent val="0"/>
          <c:showBubbleSize val="0"/>
        </c:dLbls>
        <c:axId val="291935024"/>
        <c:axId val="291923056"/>
      </c:scatterChart>
      <c:valAx>
        <c:axId val="29193502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a:t>AGE CHRONOLOGIQUE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291923056"/>
        <c:crosses val="autoZero"/>
        <c:crossBetween val="midCat"/>
      </c:valAx>
      <c:valAx>
        <c:axId val="291923056"/>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a:t>LOGIT</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291935024"/>
        <c:crosses val="autoZero"/>
        <c:crossBetween val="midCat"/>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sz="1800" b="0" i="0" baseline="0">
                <a:effectLst/>
              </a:rPr>
              <a:t>MOYENNE DU RAYON BAS (DEMI-EPAISSEUR BASSE ENTRENOEUD) EN FONCTION DE L’AGE CHRONOLOGIQUE</a:t>
            </a:r>
            <a:endParaRPr lang="fr-FR">
              <a:effectLs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scatterChart>
        <c:scatterStyle val="smoothMarker"/>
        <c:varyColors val="0"/>
        <c:ser>
          <c:idx val="0"/>
          <c:order val="0"/>
          <c:tx>
            <c:strRef>
              <c:f>RAYONBASbr1br2!$A$1</c:f>
              <c:strCache>
                <c:ptCount val="1"/>
                <c:pt idx="0">
                  <c:v>FONCTION SIGMOIDE</c:v>
                </c:pt>
              </c:strCache>
            </c:strRef>
          </c:tx>
          <c:spPr>
            <a:ln w="19050" cap="rnd">
              <a:solidFill>
                <a:schemeClr val="accent1"/>
              </a:solidFill>
              <a:round/>
            </a:ln>
            <a:effectLst/>
          </c:spPr>
          <c:marker>
            <c:symbol val="none"/>
          </c:marker>
          <c:xVal>
            <c:numRef>
              <c:f>RAYONBASbr1br2!$A$4:$CU$4</c:f>
              <c:numCache>
                <c:formatCode>General</c:formatCode>
                <c:ptCount val="99"/>
                <c:pt idx="0">
                  <c:v>99</c:v>
                </c:pt>
                <c:pt idx="1">
                  <c:v>98</c:v>
                </c:pt>
                <c:pt idx="2">
                  <c:v>97</c:v>
                </c:pt>
                <c:pt idx="3">
                  <c:v>96</c:v>
                </c:pt>
                <c:pt idx="4">
                  <c:v>95</c:v>
                </c:pt>
                <c:pt idx="5">
                  <c:v>94</c:v>
                </c:pt>
                <c:pt idx="6">
                  <c:v>93</c:v>
                </c:pt>
                <c:pt idx="7">
                  <c:v>92</c:v>
                </c:pt>
                <c:pt idx="8">
                  <c:v>91</c:v>
                </c:pt>
                <c:pt idx="9">
                  <c:v>90</c:v>
                </c:pt>
                <c:pt idx="10">
                  <c:v>89</c:v>
                </c:pt>
                <c:pt idx="11">
                  <c:v>88</c:v>
                </c:pt>
                <c:pt idx="12">
                  <c:v>87</c:v>
                </c:pt>
                <c:pt idx="13">
                  <c:v>86</c:v>
                </c:pt>
                <c:pt idx="14">
                  <c:v>85</c:v>
                </c:pt>
                <c:pt idx="15">
                  <c:v>84</c:v>
                </c:pt>
                <c:pt idx="16">
                  <c:v>83</c:v>
                </c:pt>
                <c:pt idx="17">
                  <c:v>82</c:v>
                </c:pt>
                <c:pt idx="18">
                  <c:v>81</c:v>
                </c:pt>
                <c:pt idx="19">
                  <c:v>80</c:v>
                </c:pt>
                <c:pt idx="20">
                  <c:v>79</c:v>
                </c:pt>
                <c:pt idx="21">
                  <c:v>78</c:v>
                </c:pt>
                <c:pt idx="22">
                  <c:v>77</c:v>
                </c:pt>
                <c:pt idx="23">
                  <c:v>76</c:v>
                </c:pt>
                <c:pt idx="24">
                  <c:v>75</c:v>
                </c:pt>
                <c:pt idx="25">
                  <c:v>74</c:v>
                </c:pt>
                <c:pt idx="26">
                  <c:v>73</c:v>
                </c:pt>
                <c:pt idx="27">
                  <c:v>72</c:v>
                </c:pt>
                <c:pt idx="28">
                  <c:v>71</c:v>
                </c:pt>
                <c:pt idx="29">
                  <c:v>70</c:v>
                </c:pt>
                <c:pt idx="30">
                  <c:v>69</c:v>
                </c:pt>
                <c:pt idx="31">
                  <c:v>68</c:v>
                </c:pt>
                <c:pt idx="32">
                  <c:v>67</c:v>
                </c:pt>
                <c:pt idx="33">
                  <c:v>66</c:v>
                </c:pt>
                <c:pt idx="34">
                  <c:v>65</c:v>
                </c:pt>
                <c:pt idx="35">
                  <c:v>64</c:v>
                </c:pt>
                <c:pt idx="36">
                  <c:v>63</c:v>
                </c:pt>
                <c:pt idx="37">
                  <c:v>62</c:v>
                </c:pt>
                <c:pt idx="38">
                  <c:v>61</c:v>
                </c:pt>
                <c:pt idx="39">
                  <c:v>60</c:v>
                </c:pt>
                <c:pt idx="40">
                  <c:v>59</c:v>
                </c:pt>
                <c:pt idx="41">
                  <c:v>58</c:v>
                </c:pt>
                <c:pt idx="42">
                  <c:v>57</c:v>
                </c:pt>
                <c:pt idx="43">
                  <c:v>56</c:v>
                </c:pt>
                <c:pt idx="44">
                  <c:v>55</c:v>
                </c:pt>
                <c:pt idx="45">
                  <c:v>54</c:v>
                </c:pt>
                <c:pt idx="46">
                  <c:v>53</c:v>
                </c:pt>
                <c:pt idx="47">
                  <c:v>52</c:v>
                </c:pt>
                <c:pt idx="48">
                  <c:v>51</c:v>
                </c:pt>
                <c:pt idx="49">
                  <c:v>50</c:v>
                </c:pt>
                <c:pt idx="50">
                  <c:v>49</c:v>
                </c:pt>
                <c:pt idx="51">
                  <c:v>48</c:v>
                </c:pt>
                <c:pt idx="52">
                  <c:v>47</c:v>
                </c:pt>
                <c:pt idx="53">
                  <c:v>46</c:v>
                </c:pt>
                <c:pt idx="54">
                  <c:v>45</c:v>
                </c:pt>
                <c:pt idx="55">
                  <c:v>44</c:v>
                </c:pt>
                <c:pt idx="56">
                  <c:v>43</c:v>
                </c:pt>
                <c:pt idx="57">
                  <c:v>42</c:v>
                </c:pt>
                <c:pt idx="58">
                  <c:v>41</c:v>
                </c:pt>
                <c:pt idx="59">
                  <c:v>40</c:v>
                </c:pt>
                <c:pt idx="60">
                  <c:v>39</c:v>
                </c:pt>
                <c:pt idx="61">
                  <c:v>38</c:v>
                </c:pt>
                <c:pt idx="62">
                  <c:v>37</c:v>
                </c:pt>
                <c:pt idx="63">
                  <c:v>36</c:v>
                </c:pt>
                <c:pt idx="64">
                  <c:v>35</c:v>
                </c:pt>
                <c:pt idx="65">
                  <c:v>34</c:v>
                </c:pt>
                <c:pt idx="66">
                  <c:v>33</c:v>
                </c:pt>
                <c:pt idx="67">
                  <c:v>32</c:v>
                </c:pt>
                <c:pt idx="68">
                  <c:v>31</c:v>
                </c:pt>
                <c:pt idx="69">
                  <c:v>30</c:v>
                </c:pt>
                <c:pt idx="70">
                  <c:v>29</c:v>
                </c:pt>
                <c:pt idx="71">
                  <c:v>28</c:v>
                </c:pt>
                <c:pt idx="72">
                  <c:v>27</c:v>
                </c:pt>
                <c:pt idx="73">
                  <c:v>26</c:v>
                </c:pt>
                <c:pt idx="74">
                  <c:v>25</c:v>
                </c:pt>
                <c:pt idx="75">
                  <c:v>24</c:v>
                </c:pt>
                <c:pt idx="76">
                  <c:v>23</c:v>
                </c:pt>
                <c:pt idx="77">
                  <c:v>22</c:v>
                </c:pt>
                <c:pt idx="78">
                  <c:v>21</c:v>
                </c:pt>
                <c:pt idx="79">
                  <c:v>20</c:v>
                </c:pt>
                <c:pt idx="80">
                  <c:v>19</c:v>
                </c:pt>
                <c:pt idx="81">
                  <c:v>18</c:v>
                </c:pt>
                <c:pt idx="82">
                  <c:v>17</c:v>
                </c:pt>
                <c:pt idx="83">
                  <c:v>16</c:v>
                </c:pt>
                <c:pt idx="84">
                  <c:v>15</c:v>
                </c:pt>
                <c:pt idx="85">
                  <c:v>14</c:v>
                </c:pt>
                <c:pt idx="86">
                  <c:v>13</c:v>
                </c:pt>
                <c:pt idx="87">
                  <c:v>12</c:v>
                </c:pt>
                <c:pt idx="88">
                  <c:v>11</c:v>
                </c:pt>
                <c:pt idx="89">
                  <c:v>10</c:v>
                </c:pt>
                <c:pt idx="90">
                  <c:v>9</c:v>
                </c:pt>
                <c:pt idx="91">
                  <c:v>8</c:v>
                </c:pt>
                <c:pt idx="92">
                  <c:v>7</c:v>
                </c:pt>
                <c:pt idx="93">
                  <c:v>6</c:v>
                </c:pt>
                <c:pt idx="94">
                  <c:v>5</c:v>
                </c:pt>
                <c:pt idx="95">
                  <c:v>4</c:v>
                </c:pt>
                <c:pt idx="96">
                  <c:v>3</c:v>
                </c:pt>
                <c:pt idx="97">
                  <c:v>2</c:v>
                </c:pt>
                <c:pt idx="98">
                  <c:v>1</c:v>
                </c:pt>
              </c:numCache>
            </c:numRef>
          </c:xVal>
          <c:yVal>
            <c:numRef>
              <c:f>RAYONBASbr1br2!$A$5:$CU$5</c:f>
              <c:numCache>
                <c:formatCode>General</c:formatCode>
                <c:ptCount val="99"/>
                <c:pt idx="0">
                  <c:v>1.0100548104118416</c:v>
                </c:pt>
                <c:pt idx="1">
                  <c:v>0.99404839306017845</c:v>
                </c:pt>
                <c:pt idx="2">
                  <c:v>0.9780168732434954</c:v>
                </c:pt>
                <c:pt idx="3">
                  <c:v>0.96196936658782406</c:v>
                </c:pt>
                <c:pt idx="4">
                  <c:v>0.94591502517703052</c:v>
                </c:pt>
                <c:pt idx="5">
                  <c:v>0.92986301669820448</c:v>
                </c:pt>
                <c:pt idx="6">
                  <c:v>0.91382250351141125</c:v>
                </c:pt>
                <c:pt idx="7">
                  <c:v>0.89780262174527181</c:v>
                </c:pt>
                <c:pt idx="8">
                  <c:v>0.88181246051963058</c:v>
                </c:pt>
                <c:pt idx="9">
                  <c:v>0.86586104139550579</c:v>
                </c:pt>
                <c:pt idx="10">
                  <c:v>0.84995729815064469</c:v>
                </c:pt>
                <c:pt idx="11">
                  <c:v>0.83411005697630414</c:v>
                </c:pt>
                <c:pt idx="12">
                  <c:v>0.81832801718744153</c:v>
                </c:pt>
                <c:pt idx="13">
                  <c:v>0.80261973253429519</c:v>
                </c:pt>
                <c:pt idx="14">
                  <c:v>0.78699359319849893</c:v>
                </c:pt>
                <c:pt idx="15">
                  <c:v>0.77145780855137924</c:v>
                </c:pt>
                <c:pt idx="16">
                  <c:v>0.75602039074608163</c:v>
                </c:pt>
                <c:pt idx="17">
                  <c:v>0.74068913920865997</c:v>
                </c:pt>
                <c:pt idx="18">
                  <c:v>0.72547162608636484</c:v>
                </c:pt>
                <c:pt idx="19">
                  <c:v>0.7103751827041499</c:v>
                </c:pt>
                <c:pt idx="20">
                  <c:v>0.69540688707294152</c:v>
                </c:pt>
                <c:pt idx="21">
                  <c:v>0.68057355248560414</c:v>
                </c:pt>
                <c:pt idx="22">
                  <c:v>0.66588171722882561</c:v>
                </c:pt>
                <c:pt idx="23">
                  <c:v>0.65133763543145329</c:v>
                </c:pt>
                <c:pt idx="24">
                  <c:v>0.63694726906218846</c:v>
                </c:pt>
                <c:pt idx="25">
                  <c:v>0.62271628108207266</c:v>
                </c:pt>
                <c:pt idx="26">
                  <c:v>0.60865002974995719</c:v>
                </c:pt>
                <c:pt idx="27">
                  <c:v>0.59475356407216706</c:v>
                </c:pt>
                <c:pt idx="28">
                  <c:v>0.5810316203809387</c:v>
                </c:pt>
                <c:pt idx="29">
                  <c:v>0.56748862001997191</c:v>
                </c:pt>
                <c:pt idx="30">
                  <c:v>0.55412866810960981</c:v>
                </c:pt>
                <c:pt idx="31">
                  <c:v>0.54095555335881029</c:v>
                </c:pt>
                <c:pt idx="32">
                  <c:v>0.52797274888622114</c:v>
                </c:pt>
                <c:pt idx="33">
                  <c:v>0.51518341400831624</c:v>
                </c:pt>
                <c:pt idx="34">
                  <c:v>0.5025903969487352</c:v>
                </c:pt>
                <c:pt idx="35">
                  <c:v>0.4901962384196924</c:v>
                </c:pt>
                <c:pt idx="36">
                  <c:v>0.47800317602356296</c:v>
                </c:pt>
                <c:pt idx="37">
                  <c:v>0.46601314942054461</c:v>
                </c:pt>
                <c:pt idx="38">
                  <c:v>0.45422780620658648</c:v>
                </c:pt>
                <c:pt idx="39">
                  <c:v>0.44264850844458142</c:v>
                </c:pt>
                <c:pt idx="40">
                  <c:v>0.43127633979110308</c:v>
                </c:pt>
                <c:pt idx="41">
                  <c:v>0.42011211316069902</c:v>
                </c:pt>
                <c:pt idx="42">
                  <c:v>0.40915637886993489</c:v>
                </c:pt>
                <c:pt idx="43">
                  <c:v>0.39840943320393529</c:v>
                </c:pt>
                <c:pt idx="44">
                  <c:v>0.38787132734911217</c:v>
                </c:pt>
                <c:pt idx="45">
                  <c:v>0.37754187663703132</c:v>
                </c:pt>
                <c:pt idx="46">
                  <c:v>0.36742067004593271</c:v>
                </c:pt>
                <c:pt idx="47">
                  <c:v>0.35750707990824571</c:v>
                </c:pt>
                <c:pt idx="48">
                  <c:v>0.34780027177449435</c:v>
                </c:pt>
                <c:pt idx="49">
                  <c:v>0.33829921438623473</c:v>
                </c:pt>
                <c:pt idx="50">
                  <c:v>0.32900268971307262</c:v>
                </c:pt>
                <c:pt idx="51">
                  <c:v>0.31990930301134435</c:v>
                </c:pt>
                <c:pt idx="52">
                  <c:v>0.31101749286467301</c:v>
                </c:pt>
                <c:pt idx="53">
                  <c:v>0.30232554116931121</c:v>
                </c:pt>
                <c:pt idx="54">
                  <c:v>0.29383158302991902</c:v>
                </c:pt>
                <c:pt idx="55">
                  <c:v>0.28553361653417864</c:v>
                </c:pt>
                <c:pt idx="56">
                  <c:v>0.27742951237739233</c:v>
                </c:pt>
                <c:pt idx="57">
                  <c:v>0.26951702331092686</c:v>
                </c:pt>
                <c:pt idx="58">
                  <c:v>0.26179379339103409</c:v>
                </c:pt>
                <c:pt idx="59">
                  <c:v>0.25425736700718632</c:v>
                </c:pt>
                <c:pt idx="60">
                  <c:v>0.2469051976715845</c:v>
                </c:pt>
                <c:pt idx="61">
                  <c:v>0.23973465655394038</c:v>
                </c:pt>
                <c:pt idx="62">
                  <c:v>0.23274304074796279</c:v>
                </c:pt>
                <c:pt idx="63">
                  <c:v>0.22592758125820764</c:v>
                </c:pt>
                <c:pt idx="64">
                  <c:v>0.21928545069805996</c:v>
                </c:pt>
                <c:pt idx="65">
                  <c:v>0.21281377069160773</c:v>
                </c:pt>
                <c:pt idx="66">
                  <c:v>0.20650961897403081</c:v>
                </c:pt>
                <c:pt idx="67">
                  <c:v>0.20037003618687357</c:v>
                </c:pt>
                <c:pt idx="68">
                  <c:v>0.19439203236617913</c:v>
                </c:pt>
                <c:pt idx="69">
                  <c:v>0.18857259312295682</c:v>
                </c:pt>
                <c:pt idx="70">
                  <c:v>0.18290868551681552</c:v>
                </c:pt>
                <c:pt idx="71">
                  <c:v>0.17739726362484118</c:v>
                </c:pt>
                <c:pt idx="72">
                  <c:v>0.17203527380892011</c:v>
                </c:pt>
                <c:pt idx="73">
                  <c:v>0.16681965968571905</c:v>
                </c:pt>
                <c:pt idx="74">
                  <c:v>0.16174736680443397</c:v>
                </c:pt>
                <c:pt idx="75">
                  <c:v>0.15681534703821109</c:v>
                </c:pt>
                <c:pt idx="76">
                  <c:v>0.1520205626958388</c:v>
                </c:pt>
                <c:pt idx="77">
                  <c:v>0.14735999036090527</c:v>
                </c:pt>
                <c:pt idx="78">
                  <c:v>0.14283062446612629</c:v>
                </c:pt>
                <c:pt idx="79">
                  <c:v>0.1384294806109711</c:v>
                </c:pt>
                <c:pt idx="80">
                  <c:v>0.13415359863105999</c:v>
                </c:pt>
                <c:pt idx="81">
                  <c:v>0.13000004542808025</c:v>
                </c:pt>
                <c:pt idx="82">
                  <c:v>0.12596591756917319</c:v>
                </c:pt>
                <c:pt idx="83">
                  <c:v>0.12204834366488786</c:v>
                </c:pt>
                <c:pt idx="84">
                  <c:v>0.11824448653488591</c:v>
                </c:pt>
                <c:pt idx="85">
                  <c:v>0.11455154517061655</c:v>
                </c:pt>
                <c:pt idx="86">
                  <c:v>0.11096675650417133</c:v>
                </c:pt>
                <c:pt idx="87">
                  <c:v>0.10748739699247616</c:v>
                </c:pt>
                <c:pt idx="88">
                  <c:v>0.10411078402588855</c:v>
                </c:pt>
                <c:pt idx="89">
                  <c:v>0.1008342771701459</c:v>
                </c:pt>
                <c:pt idx="90">
                  <c:v>9.7655279250459706E-2</c:v>
                </c:pt>
                <c:pt idx="91">
                  <c:v>9.4571237286374898E-2</c:v>
                </c:pt>
                <c:pt idx="92">
                  <c:v>9.157964328581425E-2</c:v>
                </c:pt>
                <c:pt idx="93">
                  <c:v>8.8678034906512923E-2</c:v>
                </c:pt>
                <c:pt idx="94">
                  <c:v>8.5863995992816217E-2</c:v>
                </c:pt>
                <c:pt idx="95">
                  <c:v>8.3135156995568837E-2</c:v>
                </c:pt>
                <c:pt idx="96">
                  <c:v>8.0489195282571008E-2</c:v>
                </c:pt>
                <c:pt idx="97">
                  <c:v>7.7923835346813602E-2</c:v>
                </c:pt>
                <c:pt idx="98">
                  <c:v>7.5436848919438762E-2</c:v>
                </c:pt>
              </c:numCache>
            </c:numRef>
          </c:yVal>
          <c:smooth val="1"/>
          <c:extLst>
            <c:ext xmlns:c16="http://schemas.microsoft.com/office/drawing/2014/chart" uri="{C3380CC4-5D6E-409C-BE32-E72D297353CC}">
              <c16:uniqueId val="{00000000-2336-423A-B4AA-25736CF8A2C8}"/>
            </c:ext>
          </c:extLst>
        </c:ser>
        <c:ser>
          <c:idx val="1"/>
          <c:order val="1"/>
          <c:tx>
            <c:strRef>
              <c:f>RAYONBASbr1br2!$B$1</c:f>
              <c:strCache>
                <c:ptCount val="1"/>
                <c:pt idx="0">
                  <c:v>MOYENNE DONNEES BRANCHE 1</c:v>
                </c:pt>
              </c:strCache>
            </c:strRef>
          </c:tx>
          <c:spPr>
            <a:ln w="19050" cap="rnd">
              <a:solidFill>
                <a:schemeClr val="accent2"/>
              </a:solidFill>
              <a:round/>
            </a:ln>
            <a:effectLst/>
          </c:spPr>
          <c:marker>
            <c:symbol val="none"/>
          </c:marker>
          <c:xVal>
            <c:numRef>
              <c:f>RAYONBASbr1br2!$CV$4:$FL$4</c:f>
              <c:numCache>
                <c:formatCode>General</c:formatCode>
                <c:ptCount val="69"/>
                <c:pt idx="0">
                  <c:v>69</c:v>
                </c:pt>
                <c:pt idx="1">
                  <c:v>68</c:v>
                </c:pt>
                <c:pt idx="2">
                  <c:v>67</c:v>
                </c:pt>
                <c:pt idx="3">
                  <c:v>66</c:v>
                </c:pt>
                <c:pt idx="4">
                  <c:v>65</c:v>
                </c:pt>
                <c:pt idx="5">
                  <c:v>64</c:v>
                </c:pt>
                <c:pt idx="6">
                  <c:v>63</c:v>
                </c:pt>
                <c:pt idx="7">
                  <c:v>62</c:v>
                </c:pt>
                <c:pt idx="8">
                  <c:v>61</c:v>
                </c:pt>
                <c:pt idx="9">
                  <c:v>60</c:v>
                </c:pt>
                <c:pt idx="10">
                  <c:v>59</c:v>
                </c:pt>
                <c:pt idx="11">
                  <c:v>58</c:v>
                </c:pt>
                <c:pt idx="12">
                  <c:v>57</c:v>
                </c:pt>
                <c:pt idx="13">
                  <c:v>56</c:v>
                </c:pt>
                <c:pt idx="14">
                  <c:v>55</c:v>
                </c:pt>
                <c:pt idx="15">
                  <c:v>54</c:v>
                </c:pt>
                <c:pt idx="16">
                  <c:v>53</c:v>
                </c:pt>
                <c:pt idx="17">
                  <c:v>52</c:v>
                </c:pt>
                <c:pt idx="18">
                  <c:v>51</c:v>
                </c:pt>
                <c:pt idx="19">
                  <c:v>50</c:v>
                </c:pt>
                <c:pt idx="20">
                  <c:v>49</c:v>
                </c:pt>
                <c:pt idx="21">
                  <c:v>48</c:v>
                </c:pt>
                <c:pt idx="22">
                  <c:v>47</c:v>
                </c:pt>
                <c:pt idx="23">
                  <c:v>46</c:v>
                </c:pt>
                <c:pt idx="24">
                  <c:v>45</c:v>
                </c:pt>
                <c:pt idx="25">
                  <c:v>44</c:v>
                </c:pt>
                <c:pt idx="26">
                  <c:v>43</c:v>
                </c:pt>
                <c:pt idx="27">
                  <c:v>42</c:v>
                </c:pt>
                <c:pt idx="28">
                  <c:v>41</c:v>
                </c:pt>
                <c:pt idx="29">
                  <c:v>40</c:v>
                </c:pt>
                <c:pt idx="30">
                  <c:v>39</c:v>
                </c:pt>
                <c:pt idx="31">
                  <c:v>38</c:v>
                </c:pt>
                <c:pt idx="32">
                  <c:v>37</c:v>
                </c:pt>
                <c:pt idx="33">
                  <c:v>36</c:v>
                </c:pt>
                <c:pt idx="34">
                  <c:v>35</c:v>
                </c:pt>
                <c:pt idx="35">
                  <c:v>34</c:v>
                </c:pt>
                <c:pt idx="36">
                  <c:v>33</c:v>
                </c:pt>
                <c:pt idx="37">
                  <c:v>32</c:v>
                </c:pt>
                <c:pt idx="38">
                  <c:v>31</c:v>
                </c:pt>
                <c:pt idx="39">
                  <c:v>30</c:v>
                </c:pt>
                <c:pt idx="40">
                  <c:v>29</c:v>
                </c:pt>
                <c:pt idx="41">
                  <c:v>28</c:v>
                </c:pt>
                <c:pt idx="42">
                  <c:v>27</c:v>
                </c:pt>
                <c:pt idx="43">
                  <c:v>26</c:v>
                </c:pt>
                <c:pt idx="44">
                  <c:v>25</c:v>
                </c:pt>
                <c:pt idx="45">
                  <c:v>24</c:v>
                </c:pt>
                <c:pt idx="46">
                  <c:v>23</c:v>
                </c:pt>
                <c:pt idx="47">
                  <c:v>22</c:v>
                </c:pt>
                <c:pt idx="48">
                  <c:v>21</c:v>
                </c:pt>
                <c:pt idx="49">
                  <c:v>20</c:v>
                </c:pt>
                <c:pt idx="50">
                  <c:v>19</c:v>
                </c:pt>
                <c:pt idx="51">
                  <c:v>18</c:v>
                </c:pt>
                <c:pt idx="52">
                  <c:v>17</c:v>
                </c:pt>
                <c:pt idx="53">
                  <c:v>16</c:v>
                </c:pt>
                <c:pt idx="54">
                  <c:v>15</c:v>
                </c:pt>
                <c:pt idx="55">
                  <c:v>14</c:v>
                </c:pt>
                <c:pt idx="56">
                  <c:v>13</c:v>
                </c:pt>
                <c:pt idx="57">
                  <c:v>12</c:v>
                </c:pt>
                <c:pt idx="58">
                  <c:v>11</c:v>
                </c:pt>
                <c:pt idx="59">
                  <c:v>10</c:v>
                </c:pt>
                <c:pt idx="60">
                  <c:v>9</c:v>
                </c:pt>
                <c:pt idx="61">
                  <c:v>8</c:v>
                </c:pt>
                <c:pt idx="62">
                  <c:v>7</c:v>
                </c:pt>
                <c:pt idx="63">
                  <c:v>6</c:v>
                </c:pt>
                <c:pt idx="64">
                  <c:v>5</c:v>
                </c:pt>
                <c:pt idx="65">
                  <c:v>4</c:v>
                </c:pt>
                <c:pt idx="66">
                  <c:v>3</c:v>
                </c:pt>
                <c:pt idx="67">
                  <c:v>2</c:v>
                </c:pt>
                <c:pt idx="68">
                  <c:v>1</c:v>
                </c:pt>
              </c:numCache>
            </c:numRef>
          </c:xVal>
          <c:yVal>
            <c:numRef>
              <c:f>RAYONBASbr1br2!$CV$6:$FL$6</c:f>
              <c:numCache>
                <c:formatCode>General</c:formatCode>
                <c:ptCount val="69"/>
                <c:pt idx="0">
                  <c:v>0.81100000000000005</c:v>
                </c:pt>
                <c:pt idx="1">
                  <c:v>0.78900000000000081</c:v>
                </c:pt>
                <c:pt idx="2">
                  <c:v>0.76800000000000046</c:v>
                </c:pt>
                <c:pt idx="3">
                  <c:v>0.747</c:v>
                </c:pt>
                <c:pt idx="4">
                  <c:v>0.72599999999999931</c:v>
                </c:pt>
                <c:pt idx="5">
                  <c:v>0.69437037037036953</c:v>
                </c:pt>
                <c:pt idx="6">
                  <c:v>0.67664814814814833</c:v>
                </c:pt>
                <c:pt idx="7">
                  <c:v>0.65894444444444455</c:v>
                </c:pt>
                <c:pt idx="8">
                  <c:v>0.64222222222222258</c:v>
                </c:pt>
                <c:pt idx="9">
                  <c:v>0.62450000000000028</c:v>
                </c:pt>
                <c:pt idx="10">
                  <c:v>0.60679629629629606</c:v>
                </c:pt>
                <c:pt idx="11">
                  <c:v>0.56518518518518535</c:v>
                </c:pt>
                <c:pt idx="12">
                  <c:v>0.55439622641509467</c:v>
                </c:pt>
                <c:pt idx="13">
                  <c:v>0.53607547169811287</c:v>
                </c:pt>
                <c:pt idx="14">
                  <c:v>0.51767924528301912</c:v>
                </c:pt>
                <c:pt idx="15">
                  <c:v>0.49935849056603721</c:v>
                </c:pt>
                <c:pt idx="16">
                  <c:v>0.41218867924528302</c:v>
                </c:pt>
                <c:pt idx="17">
                  <c:v>0.40286792452830184</c:v>
                </c:pt>
                <c:pt idx="18">
                  <c:v>0.39347169811320742</c:v>
                </c:pt>
                <c:pt idx="19">
                  <c:v>0.37039622641509456</c:v>
                </c:pt>
                <c:pt idx="20">
                  <c:v>0.33179245283018871</c:v>
                </c:pt>
                <c:pt idx="21">
                  <c:v>0.2848490566037738</c:v>
                </c:pt>
                <c:pt idx="22">
                  <c:v>0.23318867924528316</c:v>
                </c:pt>
                <c:pt idx="23">
                  <c:v>0.22343137254901971</c:v>
                </c:pt>
                <c:pt idx="24">
                  <c:v>0.22507999999999995</c:v>
                </c:pt>
                <c:pt idx="25">
                  <c:v>0.2248333333333333</c:v>
                </c:pt>
                <c:pt idx="26">
                  <c:v>0.22261702127659577</c:v>
                </c:pt>
                <c:pt idx="27">
                  <c:v>0.22269565217391296</c:v>
                </c:pt>
                <c:pt idx="28">
                  <c:v>0.21177777777777768</c:v>
                </c:pt>
                <c:pt idx="29">
                  <c:v>0.19924444444444442</c:v>
                </c:pt>
                <c:pt idx="30">
                  <c:v>0.19686046511627905</c:v>
                </c:pt>
                <c:pt idx="31">
                  <c:v>0.18774999999999986</c:v>
                </c:pt>
                <c:pt idx="32">
                  <c:v>0.18674358974358987</c:v>
                </c:pt>
                <c:pt idx="33">
                  <c:v>0.18058974358974358</c:v>
                </c:pt>
                <c:pt idx="34">
                  <c:v>0.16469230769230778</c:v>
                </c:pt>
                <c:pt idx="35">
                  <c:v>0.16188888888888886</c:v>
                </c:pt>
                <c:pt idx="36">
                  <c:v>0.16034285714285723</c:v>
                </c:pt>
                <c:pt idx="37">
                  <c:v>0.15158823529411758</c:v>
                </c:pt>
                <c:pt idx="38">
                  <c:v>0.14843750000000003</c:v>
                </c:pt>
                <c:pt idx="39">
                  <c:v>0.14445161290322583</c:v>
                </c:pt>
                <c:pt idx="40">
                  <c:v>0.12850000000000003</c:v>
                </c:pt>
                <c:pt idx="41">
                  <c:v>0.12432142857142857</c:v>
                </c:pt>
                <c:pt idx="42">
                  <c:v>0.12084615384615389</c:v>
                </c:pt>
                <c:pt idx="43">
                  <c:v>0.1228636363636364</c:v>
                </c:pt>
                <c:pt idx="44">
                  <c:v>0.1237</c:v>
                </c:pt>
                <c:pt idx="45">
                  <c:v>0.12852941176470586</c:v>
                </c:pt>
                <c:pt idx="46">
                  <c:v>0.12562500000000001</c:v>
                </c:pt>
                <c:pt idx="47">
                  <c:v>0.12321428571428569</c:v>
                </c:pt>
                <c:pt idx="48">
                  <c:v>0.1321</c:v>
                </c:pt>
                <c:pt idx="49">
                  <c:v>0.12912499999999999</c:v>
                </c:pt>
                <c:pt idx="50">
                  <c:v>0.12612499999999999</c:v>
                </c:pt>
                <c:pt idx="51">
                  <c:v>0.12057142857142858</c:v>
                </c:pt>
                <c:pt idx="52">
                  <c:v>0.12100000000000001</c:v>
                </c:pt>
                <c:pt idx="53">
                  <c:v>0.12014285714285715</c:v>
                </c:pt>
                <c:pt idx="54">
                  <c:v>0.114</c:v>
                </c:pt>
                <c:pt idx="55">
                  <c:v>0.10885714285714286</c:v>
                </c:pt>
                <c:pt idx="56">
                  <c:v>0.108</c:v>
                </c:pt>
                <c:pt idx="57">
                  <c:v>0.10600000000000001</c:v>
                </c:pt>
                <c:pt idx="58">
                  <c:v>9.8999999999999991E-2</c:v>
                </c:pt>
                <c:pt idx="59">
                  <c:v>8.5400000000000004E-2</c:v>
                </c:pt>
                <c:pt idx="60">
                  <c:v>7.8600000000000003E-2</c:v>
                </c:pt>
                <c:pt idx="61">
                  <c:v>7.1800000000000003E-2</c:v>
                </c:pt>
                <c:pt idx="62">
                  <c:v>6.7750000000000005E-2</c:v>
                </c:pt>
                <c:pt idx="63">
                  <c:v>6.5750000000000003E-2</c:v>
                </c:pt>
                <c:pt idx="64">
                  <c:v>7.2000000000000008E-2</c:v>
                </c:pt>
                <c:pt idx="65">
                  <c:v>7.0000000000000007E-2</c:v>
                </c:pt>
                <c:pt idx="66">
                  <c:v>6.9000000000000006E-2</c:v>
                </c:pt>
                <c:pt idx="67">
                  <c:v>6.4000000000000001E-2</c:v>
                </c:pt>
                <c:pt idx="68">
                  <c:v>6.3E-2</c:v>
                </c:pt>
              </c:numCache>
            </c:numRef>
          </c:yVal>
          <c:smooth val="1"/>
          <c:extLst>
            <c:ext xmlns:c16="http://schemas.microsoft.com/office/drawing/2014/chart" uri="{C3380CC4-5D6E-409C-BE32-E72D297353CC}">
              <c16:uniqueId val="{00000001-2336-423A-B4AA-25736CF8A2C8}"/>
            </c:ext>
          </c:extLst>
        </c:ser>
        <c:ser>
          <c:idx val="2"/>
          <c:order val="2"/>
          <c:tx>
            <c:strRef>
              <c:f>RAYONBASbr1br2!$C$1</c:f>
              <c:strCache>
                <c:ptCount val="1"/>
                <c:pt idx="0">
                  <c:v>MOYENNE DONNEES BRANCHE2</c:v>
                </c:pt>
              </c:strCache>
            </c:strRef>
          </c:tx>
          <c:spPr>
            <a:ln w="19050" cap="rnd">
              <a:solidFill>
                <a:schemeClr val="accent6"/>
              </a:solidFill>
              <a:round/>
            </a:ln>
            <a:effectLst/>
          </c:spPr>
          <c:marker>
            <c:symbol val="none"/>
          </c:marker>
          <c:xVal>
            <c:numRef>
              <c:f>RAYONBASbr1br2!$A$4:$CU$4</c:f>
              <c:numCache>
                <c:formatCode>General</c:formatCode>
                <c:ptCount val="99"/>
                <c:pt idx="0">
                  <c:v>99</c:v>
                </c:pt>
                <c:pt idx="1">
                  <c:v>98</c:v>
                </c:pt>
                <c:pt idx="2">
                  <c:v>97</c:v>
                </c:pt>
                <c:pt idx="3">
                  <c:v>96</c:v>
                </c:pt>
                <c:pt idx="4">
                  <c:v>95</c:v>
                </c:pt>
                <c:pt idx="5">
                  <c:v>94</c:v>
                </c:pt>
                <c:pt idx="6">
                  <c:v>93</c:v>
                </c:pt>
                <c:pt idx="7">
                  <c:v>92</c:v>
                </c:pt>
                <c:pt idx="8">
                  <c:v>91</c:v>
                </c:pt>
                <c:pt idx="9">
                  <c:v>90</c:v>
                </c:pt>
                <c:pt idx="10">
                  <c:v>89</c:v>
                </c:pt>
                <c:pt idx="11">
                  <c:v>88</c:v>
                </c:pt>
                <c:pt idx="12">
                  <c:v>87</c:v>
                </c:pt>
                <c:pt idx="13">
                  <c:v>86</c:v>
                </c:pt>
                <c:pt idx="14">
                  <c:v>85</c:v>
                </c:pt>
                <c:pt idx="15">
                  <c:v>84</c:v>
                </c:pt>
                <c:pt idx="16">
                  <c:v>83</c:v>
                </c:pt>
                <c:pt idx="17">
                  <c:v>82</c:v>
                </c:pt>
                <c:pt idx="18">
                  <c:v>81</c:v>
                </c:pt>
                <c:pt idx="19">
                  <c:v>80</c:v>
                </c:pt>
                <c:pt idx="20">
                  <c:v>79</c:v>
                </c:pt>
                <c:pt idx="21">
                  <c:v>78</c:v>
                </c:pt>
                <c:pt idx="22">
                  <c:v>77</c:v>
                </c:pt>
                <c:pt idx="23">
                  <c:v>76</c:v>
                </c:pt>
                <c:pt idx="24">
                  <c:v>75</c:v>
                </c:pt>
                <c:pt idx="25">
                  <c:v>74</c:v>
                </c:pt>
                <c:pt idx="26">
                  <c:v>73</c:v>
                </c:pt>
                <c:pt idx="27">
                  <c:v>72</c:v>
                </c:pt>
                <c:pt idx="28">
                  <c:v>71</c:v>
                </c:pt>
                <c:pt idx="29">
                  <c:v>70</c:v>
                </c:pt>
                <c:pt idx="30">
                  <c:v>69</c:v>
                </c:pt>
                <c:pt idx="31">
                  <c:v>68</c:v>
                </c:pt>
                <c:pt idx="32">
                  <c:v>67</c:v>
                </c:pt>
                <c:pt idx="33">
                  <c:v>66</c:v>
                </c:pt>
                <c:pt idx="34">
                  <c:v>65</c:v>
                </c:pt>
                <c:pt idx="35">
                  <c:v>64</c:v>
                </c:pt>
                <c:pt idx="36">
                  <c:v>63</c:v>
                </c:pt>
                <c:pt idx="37">
                  <c:v>62</c:v>
                </c:pt>
                <c:pt idx="38">
                  <c:v>61</c:v>
                </c:pt>
                <c:pt idx="39">
                  <c:v>60</c:v>
                </c:pt>
                <c:pt idx="40">
                  <c:v>59</c:v>
                </c:pt>
                <c:pt idx="41">
                  <c:v>58</c:v>
                </c:pt>
                <c:pt idx="42">
                  <c:v>57</c:v>
                </c:pt>
                <c:pt idx="43">
                  <c:v>56</c:v>
                </c:pt>
                <c:pt idx="44">
                  <c:v>55</c:v>
                </c:pt>
                <c:pt idx="45">
                  <c:v>54</c:v>
                </c:pt>
                <c:pt idx="46">
                  <c:v>53</c:v>
                </c:pt>
                <c:pt idx="47">
                  <c:v>52</c:v>
                </c:pt>
                <c:pt idx="48">
                  <c:v>51</c:v>
                </c:pt>
                <c:pt idx="49">
                  <c:v>50</c:v>
                </c:pt>
                <c:pt idx="50">
                  <c:v>49</c:v>
                </c:pt>
                <c:pt idx="51">
                  <c:v>48</c:v>
                </c:pt>
                <c:pt idx="52">
                  <c:v>47</c:v>
                </c:pt>
                <c:pt idx="53">
                  <c:v>46</c:v>
                </c:pt>
                <c:pt idx="54">
                  <c:v>45</c:v>
                </c:pt>
                <c:pt idx="55">
                  <c:v>44</c:v>
                </c:pt>
                <c:pt idx="56">
                  <c:v>43</c:v>
                </c:pt>
                <c:pt idx="57">
                  <c:v>42</c:v>
                </c:pt>
                <c:pt idx="58">
                  <c:v>41</c:v>
                </c:pt>
                <c:pt idx="59">
                  <c:v>40</c:v>
                </c:pt>
                <c:pt idx="60">
                  <c:v>39</c:v>
                </c:pt>
                <c:pt idx="61">
                  <c:v>38</c:v>
                </c:pt>
                <c:pt idx="62">
                  <c:v>37</c:v>
                </c:pt>
                <c:pt idx="63">
                  <c:v>36</c:v>
                </c:pt>
                <c:pt idx="64">
                  <c:v>35</c:v>
                </c:pt>
                <c:pt idx="65">
                  <c:v>34</c:v>
                </c:pt>
                <c:pt idx="66">
                  <c:v>33</c:v>
                </c:pt>
                <c:pt idx="67">
                  <c:v>32</c:v>
                </c:pt>
                <c:pt idx="68">
                  <c:v>31</c:v>
                </c:pt>
                <c:pt idx="69">
                  <c:v>30</c:v>
                </c:pt>
                <c:pt idx="70">
                  <c:v>29</c:v>
                </c:pt>
                <c:pt idx="71">
                  <c:v>28</c:v>
                </c:pt>
                <c:pt idx="72">
                  <c:v>27</c:v>
                </c:pt>
                <c:pt idx="73">
                  <c:v>26</c:v>
                </c:pt>
                <c:pt idx="74">
                  <c:v>25</c:v>
                </c:pt>
                <c:pt idx="75">
                  <c:v>24</c:v>
                </c:pt>
                <c:pt idx="76">
                  <c:v>23</c:v>
                </c:pt>
                <c:pt idx="77">
                  <c:v>22</c:v>
                </c:pt>
                <c:pt idx="78">
                  <c:v>21</c:v>
                </c:pt>
                <c:pt idx="79">
                  <c:v>20</c:v>
                </c:pt>
                <c:pt idx="80">
                  <c:v>19</c:v>
                </c:pt>
                <c:pt idx="81">
                  <c:v>18</c:v>
                </c:pt>
                <c:pt idx="82">
                  <c:v>17</c:v>
                </c:pt>
                <c:pt idx="83">
                  <c:v>16</c:v>
                </c:pt>
                <c:pt idx="84">
                  <c:v>15</c:v>
                </c:pt>
                <c:pt idx="85">
                  <c:v>14</c:v>
                </c:pt>
                <c:pt idx="86">
                  <c:v>13</c:v>
                </c:pt>
                <c:pt idx="87">
                  <c:v>12</c:v>
                </c:pt>
                <c:pt idx="88">
                  <c:v>11</c:v>
                </c:pt>
                <c:pt idx="89">
                  <c:v>10</c:v>
                </c:pt>
                <c:pt idx="90">
                  <c:v>9</c:v>
                </c:pt>
                <c:pt idx="91">
                  <c:v>8</c:v>
                </c:pt>
                <c:pt idx="92">
                  <c:v>7</c:v>
                </c:pt>
                <c:pt idx="93">
                  <c:v>6</c:v>
                </c:pt>
                <c:pt idx="94">
                  <c:v>5</c:v>
                </c:pt>
                <c:pt idx="95">
                  <c:v>4</c:v>
                </c:pt>
                <c:pt idx="96">
                  <c:v>3</c:v>
                </c:pt>
                <c:pt idx="97">
                  <c:v>2</c:v>
                </c:pt>
                <c:pt idx="98">
                  <c:v>1</c:v>
                </c:pt>
              </c:numCache>
            </c:numRef>
          </c:xVal>
          <c:yVal>
            <c:numRef>
              <c:f>RAYONBASbr1br2!$A$6:$CU$6</c:f>
              <c:numCache>
                <c:formatCode>General</c:formatCode>
                <c:ptCount val="99"/>
                <c:pt idx="0">
                  <c:v>0.91800000000000059</c:v>
                </c:pt>
                <c:pt idx="1">
                  <c:v>0.90600000000000025</c:v>
                </c:pt>
                <c:pt idx="2">
                  <c:v>0.89399999999999968</c:v>
                </c:pt>
                <c:pt idx="3">
                  <c:v>0.88200000000000001</c:v>
                </c:pt>
                <c:pt idx="4">
                  <c:v>0.86999999999999955</c:v>
                </c:pt>
                <c:pt idx="5">
                  <c:v>0.85799999999999932</c:v>
                </c:pt>
                <c:pt idx="6">
                  <c:v>0.8470000000000002</c:v>
                </c:pt>
                <c:pt idx="7">
                  <c:v>0.83500000000000008</c:v>
                </c:pt>
                <c:pt idx="8">
                  <c:v>0.82299999999999984</c:v>
                </c:pt>
                <c:pt idx="9">
                  <c:v>0.77008433734939763</c:v>
                </c:pt>
                <c:pt idx="10">
                  <c:v>0.76456626506024172</c:v>
                </c:pt>
                <c:pt idx="11">
                  <c:v>0.74990361445783105</c:v>
                </c:pt>
                <c:pt idx="12">
                  <c:v>0.74155421686746936</c:v>
                </c:pt>
                <c:pt idx="13">
                  <c:v>0.72540963855421625</c:v>
                </c:pt>
                <c:pt idx="14">
                  <c:v>0.70618072289156686</c:v>
                </c:pt>
                <c:pt idx="15">
                  <c:v>0.69867469879517974</c:v>
                </c:pt>
                <c:pt idx="16">
                  <c:v>0.68830120481927792</c:v>
                </c:pt>
                <c:pt idx="17">
                  <c:v>0.6808072289156627</c:v>
                </c:pt>
                <c:pt idx="18">
                  <c:v>0.67298795180722815</c:v>
                </c:pt>
                <c:pt idx="19">
                  <c:v>0.66550602409638582</c:v>
                </c:pt>
                <c:pt idx="20">
                  <c:v>0.65748780487804814</c:v>
                </c:pt>
                <c:pt idx="21">
                  <c:v>0.64714634146341388</c:v>
                </c:pt>
                <c:pt idx="22">
                  <c:v>0.63355555555555598</c:v>
                </c:pt>
                <c:pt idx="23">
                  <c:v>0.62876543209876612</c:v>
                </c:pt>
                <c:pt idx="24">
                  <c:v>0.62655696202531663</c:v>
                </c:pt>
                <c:pt idx="25">
                  <c:v>0.62643589743589789</c:v>
                </c:pt>
                <c:pt idx="26">
                  <c:v>0.61899999999999966</c:v>
                </c:pt>
                <c:pt idx="27">
                  <c:v>0.61092307692307624</c:v>
                </c:pt>
                <c:pt idx="28">
                  <c:v>0.61037662337662402</c:v>
                </c:pt>
                <c:pt idx="29">
                  <c:v>0.6031428571428582</c:v>
                </c:pt>
                <c:pt idx="30">
                  <c:v>0.61660810810810862</c:v>
                </c:pt>
                <c:pt idx="31">
                  <c:v>0.583123287671233</c:v>
                </c:pt>
                <c:pt idx="32">
                  <c:v>0.54833333333333345</c:v>
                </c:pt>
                <c:pt idx="33">
                  <c:v>0.53914084507042248</c:v>
                </c:pt>
                <c:pt idx="34">
                  <c:v>0.53169014084507027</c:v>
                </c:pt>
                <c:pt idx="35">
                  <c:v>0.53102857142857107</c:v>
                </c:pt>
                <c:pt idx="36">
                  <c:v>0.52424285714285668</c:v>
                </c:pt>
                <c:pt idx="37">
                  <c:v>0.5163571428571434</c:v>
                </c:pt>
                <c:pt idx="38">
                  <c:v>0.441971014492754</c:v>
                </c:pt>
                <c:pt idx="39">
                  <c:v>0.42842028985507208</c:v>
                </c:pt>
                <c:pt idx="40">
                  <c:v>0.39488235294117624</c:v>
                </c:pt>
                <c:pt idx="41">
                  <c:v>0.39283582089552216</c:v>
                </c:pt>
                <c:pt idx="42">
                  <c:v>0.40692537313432869</c:v>
                </c:pt>
                <c:pt idx="43">
                  <c:v>0.38959701492537269</c:v>
                </c:pt>
                <c:pt idx="44">
                  <c:v>0.38618181818181807</c:v>
                </c:pt>
                <c:pt idx="45">
                  <c:v>0.38582812500000041</c:v>
                </c:pt>
                <c:pt idx="46">
                  <c:v>0.37793750000000004</c:v>
                </c:pt>
                <c:pt idx="47">
                  <c:v>0.36554687499999955</c:v>
                </c:pt>
                <c:pt idx="48">
                  <c:v>0.35901587301587295</c:v>
                </c:pt>
                <c:pt idx="49">
                  <c:v>0.3333015873015876</c:v>
                </c:pt>
                <c:pt idx="50">
                  <c:v>0.31561290322580671</c:v>
                </c:pt>
                <c:pt idx="51">
                  <c:v>0.32343859649122808</c:v>
                </c:pt>
                <c:pt idx="52">
                  <c:v>0.2992142857142856</c:v>
                </c:pt>
                <c:pt idx="53">
                  <c:v>0.2878545454545452</c:v>
                </c:pt>
                <c:pt idx="54">
                  <c:v>0.2633272727272728</c:v>
                </c:pt>
                <c:pt idx="55">
                  <c:v>0.26139622641509447</c:v>
                </c:pt>
                <c:pt idx="56">
                  <c:v>0.25383018867924539</c:v>
                </c:pt>
                <c:pt idx="57">
                  <c:v>0.24209615384615388</c:v>
                </c:pt>
                <c:pt idx="58">
                  <c:v>0.23981632653061208</c:v>
                </c:pt>
                <c:pt idx="59">
                  <c:v>0.24258695652173931</c:v>
                </c:pt>
                <c:pt idx="60">
                  <c:v>0.22575000000000001</c:v>
                </c:pt>
                <c:pt idx="61">
                  <c:v>0.21456818181818182</c:v>
                </c:pt>
                <c:pt idx="62">
                  <c:v>0.21412820512820518</c:v>
                </c:pt>
                <c:pt idx="63">
                  <c:v>0.22594117647058817</c:v>
                </c:pt>
                <c:pt idx="64">
                  <c:v>0.22657575757575765</c:v>
                </c:pt>
                <c:pt idx="65">
                  <c:v>0.23072413793103444</c:v>
                </c:pt>
                <c:pt idx="66">
                  <c:v>0.23911538461538465</c:v>
                </c:pt>
                <c:pt idx="67">
                  <c:v>0.23167999999999989</c:v>
                </c:pt>
                <c:pt idx="68">
                  <c:v>0.23072727272727278</c:v>
                </c:pt>
                <c:pt idx="69">
                  <c:v>0.1830588235294118</c:v>
                </c:pt>
                <c:pt idx="70">
                  <c:v>0.19177272727272729</c:v>
                </c:pt>
                <c:pt idx="71">
                  <c:v>0.17960000000000004</c:v>
                </c:pt>
                <c:pt idx="72">
                  <c:v>0.16524999999999995</c:v>
                </c:pt>
                <c:pt idx="73">
                  <c:v>0.15972222222222224</c:v>
                </c:pt>
                <c:pt idx="74">
                  <c:v>0.1612666666666667</c:v>
                </c:pt>
                <c:pt idx="75">
                  <c:v>0.16307692307692309</c:v>
                </c:pt>
                <c:pt idx="76">
                  <c:v>0.17281818181818184</c:v>
                </c:pt>
                <c:pt idx="77">
                  <c:v>0.15890909090909089</c:v>
                </c:pt>
                <c:pt idx="78">
                  <c:v>0.15427272727272731</c:v>
                </c:pt>
                <c:pt idx="79">
                  <c:v>0.15127272727272728</c:v>
                </c:pt>
                <c:pt idx="80">
                  <c:v>0.14818181818181822</c:v>
                </c:pt>
                <c:pt idx="81">
                  <c:v>0.17900000000000002</c:v>
                </c:pt>
                <c:pt idx="82">
                  <c:v>0.17428571428571432</c:v>
                </c:pt>
                <c:pt idx="83">
                  <c:v>0.16885714285714282</c:v>
                </c:pt>
                <c:pt idx="84">
                  <c:v>0.16414285714285715</c:v>
                </c:pt>
                <c:pt idx="85">
                  <c:v>0.15928571428571428</c:v>
                </c:pt>
                <c:pt idx="86">
                  <c:v>0.15071428571428572</c:v>
                </c:pt>
                <c:pt idx="87">
                  <c:v>0.1425714285714286</c:v>
                </c:pt>
                <c:pt idx="88">
                  <c:v>0.13142857142857142</c:v>
                </c:pt>
                <c:pt idx="89">
                  <c:v>0.12657142857142858</c:v>
                </c:pt>
                <c:pt idx="90">
                  <c:v>0.11499999999999999</c:v>
                </c:pt>
                <c:pt idx="91">
                  <c:v>0.10928571428571429</c:v>
                </c:pt>
                <c:pt idx="92">
                  <c:v>9.9400000000000002E-2</c:v>
                </c:pt>
                <c:pt idx="93">
                  <c:v>0.10525000000000001</c:v>
                </c:pt>
                <c:pt idx="94">
                  <c:v>0.10100000000000001</c:v>
                </c:pt>
                <c:pt idx="95">
                  <c:v>9.9999999999999992E-2</c:v>
                </c:pt>
                <c:pt idx="96">
                  <c:v>0.109</c:v>
                </c:pt>
                <c:pt idx="97">
                  <c:v>0.104</c:v>
                </c:pt>
                <c:pt idx="98">
                  <c:v>0.1</c:v>
                </c:pt>
              </c:numCache>
            </c:numRef>
          </c:yVal>
          <c:smooth val="1"/>
          <c:extLst>
            <c:ext xmlns:c16="http://schemas.microsoft.com/office/drawing/2014/chart" uri="{C3380CC4-5D6E-409C-BE32-E72D297353CC}">
              <c16:uniqueId val="{00000002-2336-423A-B4AA-25736CF8A2C8}"/>
            </c:ext>
          </c:extLst>
        </c:ser>
        <c:dLbls>
          <c:showLegendKey val="0"/>
          <c:showVal val="0"/>
          <c:showCatName val="0"/>
          <c:showSerName val="0"/>
          <c:showPercent val="0"/>
          <c:showBubbleSize val="0"/>
        </c:dLbls>
        <c:axId val="291923600"/>
        <c:axId val="516526608"/>
      </c:scatterChart>
      <c:valAx>
        <c:axId val="291923600"/>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a:t>AGE CHRONOLOGIQUE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516526608"/>
        <c:crosses val="autoZero"/>
        <c:crossBetween val="midCat"/>
      </c:valAx>
      <c:valAx>
        <c:axId val="516526608"/>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a:t>LONGUEUR</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291923600"/>
        <c:crosses val="autoZero"/>
        <c:crossBetween val="midCat"/>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800" b="0" i="0" baseline="0">
                <a:effectLst/>
              </a:rPr>
              <a:t>LOGIT (MOYENNE DONNEES/K)</a:t>
            </a:r>
            <a:endParaRPr lang="fr-FR">
              <a:effectLst/>
            </a:endParaRPr>
          </a:p>
        </c:rich>
      </c:tx>
      <c:layout>
        <c:manualLayout>
          <c:xMode val="edge"/>
          <c:yMode val="edge"/>
          <c:x val="0.22929155730533685"/>
          <c:y val="3.7037037037037035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scatterChart>
        <c:scatterStyle val="lineMarker"/>
        <c:varyColors val="0"/>
        <c:ser>
          <c:idx val="0"/>
          <c:order val="0"/>
          <c:tx>
            <c:strRef>
              <c:f>RAYONHAUTBR1BR2!$A$2</c:f>
              <c:strCache>
                <c:ptCount val="1"/>
                <c:pt idx="0">
                  <c:v>LOGIT (MOYENNE DONNEES/K)</c:v>
                </c:pt>
              </c:strCache>
            </c:strRef>
          </c:tx>
          <c:spPr>
            <a:ln w="25400" cap="rnd">
              <a:no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ysDot"/>
              </a:ln>
              <a:effectLst/>
            </c:spPr>
            <c:trendlineType val="linear"/>
            <c:dispRSqr val="1"/>
            <c:dispEq val="1"/>
            <c:trendlineLbl>
              <c:layout>
                <c:manualLayout>
                  <c:x val="4.6970472440944884E-2"/>
                  <c:y val="0.45844889180519094"/>
                </c:manualLayout>
              </c:layout>
              <c:numFmt formatCode="General" sourceLinked="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trendlineLbl>
          </c:trendline>
          <c:xVal>
            <c:numRef>
              <c:f>RAYONHAUTBR1BR2!$A$4:$FL$4</c:f>
              <c:numCache>
                <c:formatCode>General</c:formatCode>
                <c:ptCount val="168"/>
                <c:pt idx="0">
                  <c:v>99</c:v>
                </c:pt>
                <c:pt idx="1">
                  <c:v>98</c:v>
                </c:pt>
                <c:pt idx="2">
                  <c:v>97</c:v>
                </c:pt>
                <c:pt idx="3">
                  <c:v>96</c:v>
                </c:pt>
                <c:pt idx="4">
                  <c:v>95</c:v>
                </c:pt>
                <c:pt idx="5">
                  <c:v>94</c:v>
                </c:pt>
                <c:pt idx="6">
                  <c:v>93</c:v>
                </c:pt>
                <c:pt idx="7">
                  <c:v>92</c:v>
                </c:pt>
                <c:pt idx="8">
                  <c:v>91</c:v>
                </c:pt>
                <c:pt idx="9">
                  <c:v>90</c:v>
                </c:pt>
                <c:pt idx="10">
                  <c:v>89</c:v>
                </c:pt>
                <c:pt idx="11">
                  <c:v>88</c:v>
                </c:pt>
                <c:pt idx="12">
                  <c:v>87</c:v>
                </c:pt>
                <c:pt idx="13">
                  <c:v>86</c:v>
                </c:pt>
                <c:pt idx="14">
                  <c:v>85</c:v>
                </c:pt>
                <c:pt idx="15">
                  <c:v>84</c:v>
                </c:pt>
                <c:pt idx="16">
                  <c:v>83</c:v>
                </c:pt>
                <c:pt idx="17">
                  <c:v>82</c:v>
                </c:pt>
                <c:pt idx="18">
                  <c:v>81</c:v>
                </c:pt>
                <c:pt idx="19">
                  <c:v>80</c:v>
                </c:pt>
                <c:pt idx="20">
                  <c:v>79</c:v>
                </c:pt>
                <c:pt idx="21">
                  <c:v>78</c:v>
                </c:pt>
                <c:pt idx="22">
                  <c:v>77</c:v>
                </c:pt>
                <c:pt idx="23">
                  <c:v>76</c:v>
                </c:pt>
                <c:pt idx="24">
                  <c:v>75</c:v>
                </c:pt>
                <c:pt idx="25">
                  <c:v>74</c:v>
                </c:pt>
                <c:pt idx="26">
                  <c:v>73</c:v>
                </c:pt>
                <c:pt idx="27">
                  <c:v>72</c:v>
                </c:pt>
                <c:pt idx="28">
                  <c:v>71</c:v>
                </c:pt>
                <c:pt idx="29">
                  <c:v>70</c:v>
                </c:pt>
                <c:pt idx="30">
                  <c:v>69</c:v>
                </c:pt>
                <c:pt idx="31">
                  <c:v>68</c:v>
                </c:pt>
                <c:pt idx="32">
                  <c:v>67</c:v>
                </c:pt>
                <c:pt idx="33">
                  <c:v>66</c:v>
                </c:pt>
                <c:pt idx="34">
                  <c:v>65</c:v>
                </c:pt>
                <c:pt idx="35">
                  <c:v>64</c:v>
                </c:pt>
                <c:pt idx="36">
                  <c:v>63</c:v>
                </c:pt>
                <c:pt idx="37">
                  <c:v>62</c:v>
                </c:pt>
                <c:pt idx="38">
                  <c:v>61</c:v>
                </c:pt>
                <c:pt idx="39">
                  <c:v>60</c:v>
                </c:pt>
                <c:pt idx="40">
                  <c:v>59</c:v>
                </c:pt>
                <c:pt idx="41">
                  <c:v>58</c:v>
                </c:pt>
                <c:pt idx="42">
                  <c:v>57</c:v>
                </c:pt>
                <c:pt idx="43">
                  <c:v>56</c:v>
                </c:pt>
                <c:pt idx="44">
                  <c:v>55</c:v>
                </c:pt>
                <c:pt idx="45">
                  <c:v>54</c:v>
                </c:pt>
                <c:pt idx="46">
                  <c:v>53</c:v>
                </c:pt>
                <c:pt idx="47">
                  <c:v>52</c:v>
                </c:pt>
                <c:pt idx="48">
                  <c:v>51</c:v>
                </c:pt>
                <c:pt idx="49">
                  <c:v>50</c:v>
                </c:pt>
                <c:pt idx="50">
                  <c:v>49</c:v>
                </c:pt>
                <c:pt idx="51">
                  <c:v>48</c:v>
                </c:pt>
                <c:pt idx="52">
                  <c:v>47</c:v>
                </c:pt>
                <c:pt idx="53">
                  <c:v>46</c:v>
                </c:pt>
                <c:pt idx="54">
                  <c:v>45</c:v>
                </c:pt>
                <c:pt idx="55">
                  <c:v>44</c:v>
                </c:pt>
                <c:pt idx="56">
                  <c:v>43</c:v>
                </c:pt>
                <c:pt idx="57">
                  <c:v>42</c:v>
                </c:pt>
                <c:pt idx="58">
                  <c:v>41</c:v>
                </c:pt>
                <c:pt idx="59">
                  <c:v>40</c:v>
                </c:pt>
                <c:pt idx="60">
                  <c:v>39</c:v>
                </c:pt>
                <c:pt idx="61">
                  <c:v>38</c:v>
                </c:pt>
                <c:pt idx="62">
                  <c:v>37</c:v>
                </c:pt>
                <c:pt idx="63">
                  <c:v>36</c:v>
                </c:pt>
                <c:pt idx="64">
                  <c:v>35</c:v>
                </c:pt>
                <c:pt idx="65">
                  <c:v>34</c:v>
                </c:pt>
                <c:pt idx="66">
                  <c:v>33</c:v>
                </c:pt>
                <c:pt idx="67">
                  <c:v>32</c:v>
                </c:pt>
                <c:pt idx="68">
                  <c:v>31</c:v>
                </c:pt>
                <c:pt idx="69">
                  <c:v>30</c:v>
                </c:pt>
                <c:pt idx="70">
                  <c:v>29</c:v>
                </c:pt>
                <c:pt idx="71">
                  <c:v>28</c:v>
                </c:pt>
                <c:pt idx="72">
                  <c:v>27</c:v>
                </c:pt>
                <c:pt idx="73">
                  <c:v>26</c:v>
                </c:pt>
                <c:pt idx="74">
                  <c:v>25</c:v>
                </c:pt>
                <c:pt idx="75">
                  <c:v>24</c:v>
                </c:pt>
                <c:pt idx="76">
                  <c:v>23</c:v>
                </c:pt>
                <c:pt idx="77">
                  <c:v>22</c:v>
                </c:pt>
                <c:pt idx="78">
                  <c:v>21</c:v>
                </c:pt>
                <c:pt idx="79">
                  <c:v>20</c:v>
                </c:pt>
                <c:pt idx="80">
                  <c:v>19</c:v>
                </c:pt>
                <c:pt idx="81">
                  <c:v>18</c:v>
                </c:pt>
                <c:pt idx="82">
                  <c:v>17</c:v>
                </c:pt>
                <c:pt idx="83">
                  <c:v>16</c:v>
                </c:pt>
                <c:pt idx="84">
                  <c:v>15</c:v>
                </c:pt>
                <c:pt idx="85">
                  <c:v>14</c:v>
                </c:pt>
                <c:pt idx="86">
                  <c:v>13</c:v>
                </c:pt>
                <c:pt idx="87">
                  <c:v>12</c:v>
                </c:pt>
                <c:pt idx="88">
                  <c:v>11</c:v>
                </c:pt>
                <c:pt idx="89">
                  <c:v>10</c:v>
                </c:pt>
                <c:pt idx="90">
                  <c:v>9</c:v>
                </c:pt>
                <c:pt idx="91">
                  <c:v>8</c:v>
                </c:pt>
                <c:pt idx="92">
                  <c:v>7</c:v>
                </c:pt>
                <c:pt idx="93">
                  <c:v>6</c:v>
                </c:pt>
                <c:pt idx="94">
                  <c:v>5</c:v>
                </c:pt>
                <c:pt idx="95">
                  <c:v>4</c:v>
                </c:pt>
                <c:pt idx="96">
                  <c:v>3</c:v>
                </c:pt>
                <c:pt idx="97">
                  <c:v>2</c:v>
                </c:pt>
                <c:pt idx="98">
                  <c:v>1</c:v>
                </c:pt>
                <c:pt idx="99">
                  <c:v>69</c:v>
                </c:pt>
                <c:pt idx="100">
                  <c:v>68</c:v>
                </c:pt>
                <c:pt idx="101">
                  <c:v>67</c:v>
                </c:pt>
                <c:pt idx="102">
                  <c:v>66</c:v>
                </c:pt>
                <c:pt idx="103">
                  <c:v>65</c:v>
                </c:pt>
                <c:pt idx="104">
                  <c:v>64</c:v>
                </c:pt>
                <c:pt idx="105">
                  <c:v>63</c:v>
                </c:pt>
                <c:pt idx="106">
                  <c:v>62</c:v>
                </c:pt>
                <c:pt idx="107">
                  <c:v>61</c:v>
                </c:pt>
                <c:pt idx="108">
                  <c:v>60</c:v>
                </c:pt>
                <c:pt idx="109">
                  <c:v>59</c:v>
                </c:pt>
                <c:pt idx="110">
                  <c:v>58</c:v>
                </c:pt>
                <c:pt idx="111">
                  <c:v>57</c:v>
                </c:pt>
                <c:pt idx="112">
                  <c:v>56</c:v>
                </c:pt>
                <c:pt idx="113">
                  <c:v>55</c:v>
                </c:pt>
                <c:pt idx="114">
                  <c:v>54</c:v>
                </c:pt>
                <c:pt idx="115">
                  <c:v>53</c:v>
                </c:pt>
                <c:pt idx="116">
                  <c:v>52</c:v>
                </c:pt>
                <c:pt idx="117">
                  <c:v>51</c:v>
                </c:pt>
                <c:pt idx="118">
                  <c:v>50</c:v>
                </c:pt>
                <c:pt idx="119">
                  <c:v>49</c:v>
                </c:pt>
                <c:pt idx="120">
                  <c:v>48</c:v>
                </c:pt>
                <c:pt idx="121">
                  <c:v>47</c:v>
                </c:pt>
                <c:pt idx="122">
                  <c:v>46</c:v>
                </c:pt>
                <c:pt idx="123">
                  <c:v>45</c:v>
                </c:pt>
                <c:pt idx="124">
                  <c:v>44</c:v>
                </c:pt>
                <c:pt idx="125">
                  <c:v>43</c:v>
                </c:pt>
                <c:pt idx="126">
                  <c:v>42</c:v>
                </c:pt>
                <c:pt idx="127">
                  <c:v>41</c:v>
                </c:pt>
                <c:pt idx="128">
                  <c:v>40</c:v>
                </c:pt>
                <c:pt idx="129">
                  <c:v>39</c:v>
                </c:pt>
                <c:pt idx="130">
                  <c:v>38</c:v>
                </c:pt>
                <c:pt idx="131">
                  <c:v>37</c:v>
                </c:pt>
                <c:pt idx="132">
                  <c:v>36</c:v>
                </c:pt>
                <c:pt idx="133">
                  <c:v>35</c:v>
                </c:pt>
                <c:pt idx="134">
                  <c:v>34</c:v>
                </c:pt>
                <c:pt idx="135">
                  <c:v>33</c:v>
                </c:pt>
                <c:pt idx="136">
                  <c:v>32</c:v>
                </c:pt>
                <c:pt idx="137">
                  <c:v>31</c:v>
                </c:pt>
                <c:pt idx="138">
                  <c:v>30</c:v>
                </c:pt>
                <c:pt idx="139">
                  <c:v>29</c:v>
                </c:pt>
                <c:pt idx="140">
                  <c:v>28</c:v>
                </c:pt>
                <c:pt idx="141">
                  <c:v>27</c:v>
                </c:pt>
                <c:pt idx="142">
                  <c:v>26</c:v>
                </c:pt>
                <c:pt idx="143">
                  <c:v>25</c:v>
                </c:pt>
                <c:pt idx="144">
                  <c:v>24</c:v>
                </c:pt>
                <c:pt idx="145">
                  <c:v>23</c:v>
                </c:pt>
                <c:pt idx="146">
                  <c:v>22</c:v>
                </c:pt>
                <c:pt idx="147">
                  <c:v>21</c:v>
                </c:pt>
                <c:pt idx="148">
                  <c:v>20</c:v>
                </c:pt>
                <c:pt idx="149">
                  <c:v>19</c:v>
                </c:pt>
                <c:pt idx="150">
                  <c:v>18</c:v>
                </c:pt>
                <c:pt idx="151">
                  <c:v>17</c:v>
                </c:pt>
                <c:pt idx="152">
                  <c:v>16</c:v>
                </c:pt>
                <c:pt idx="153">
                  <c:v>15</c:v>
                </c:pt>
                <c:pt idx="154">
                  <c:v>14</c:v>
                </c:pt>
                <c:pt idx="155">
                  <c:v>13</c:v>
                </c:pt>
                <c:pt idx="156">
                  <c:v>12</c:v>
                </c:pt>
                <c:pt idx="157">
                  <c:v>11</c:v>
                </c:pt>
                <c:pt idx="158">
                  <c:v>10</c:v>
                </c:pt>
                <c:pt idx="159">
                  <c:v>9</c:v>
                </c:pt>
                <c:pt idx="160">
                  <c:v>8</c:v>
                </c:pt>
                <c:pt idx="161">
                  <c:v>7</c:v>
                </c:pt>
                <c:pt idx="162">
                  <c:v>6</c:v>
                </c:pt>
                <c:pt idx="163">
                  <c:v>5</c:v>
                </c:pt>
                <c:pt idx="164">
                  <c:v>4</c:v>
                </c:pt>
                <c:pt idx="165">
                  <c:v>3</c:v>
                </c:pt>
                <c:pt idx="166">
                  <c:v>2</c:v>
                </c:pt>
                <c:pt idx="167">
                  <c:v>1</c:v>
                </c:pt>
              </c:numCache>
            </c:numRef>
          </c:xVal>
          <c:yVal>
            <c:numRef>
              <c:f>RAYONHAUTBR1BR2!$A$7:$FL$7</c:f>
              <c:numCache>
                <c:formatCode>General</c:formatCode>
                <c:ptCount val="168"/>
                <c:pt idx="0">
                  <c:v>0.83268839674504624</c:v>
                </c:pt>
                <c:pt idx="1">
                  <c:v>0.78935261557178005</c:v>
                </c:pt>
                <c:pt idx="2">
                  <c:v>0.74671062348203499</c:v>
                </c:pt>
                <c:pt idx="3">
                  <c:v>0.70470800296101954</c:v>
                </c:pt>
                <c:pt idx="4">
                  <c:v>0.66329421741026184</c:v>
                </c:pt>
                <c:pt idx="5">
                  <c:v>0.62580856916902072</c:v>
                </c:pt>
                <c:pt idx="6">
                  <c:v>0.58539431926349939</c:v>
                </c:pt>
                <c:pt idx="7">
                  <c:v>0.54543970978872824</c:v>
                </c:pt>
                <c:pt idx="8">
                  <c:v>0.50590556464054226</c:v>
                </c:pt>
                <c:pt idx="9">
                  <c:v>0.35623156130464279</c:v>
                </c:pt>
                <c:pt idx="10">
                  <c:v>0.3357986347960813</c:v>
                </c:pt>
                <c:pt idx="11">
                  <c:v>0.2835907387926227</c:v>
                </c:pt>
                <c:pt idx="12">
                  <c:v>0.25716326565410991</c:v>
                </c:pt>
                <c:pt idx="13">
                  <c:v>0.21296062659377049</c:v>
                </c:pt>
                <c:pt idx="14">
                  <c:v>0.15004919840682837</c:v>
                </c:pt>
                <c:pt idx="15">
                  <c:v>0.12706596251492397</c:v>
                </c:pt>
                <c:pt idx="16">
                  <c:v>9.4862547867070088E-2</c:v>
                </c:pt>
                <c:pt idx="17">
                  <c:v>7.1763869314713583E-2</c:v>
                </c:pt>
                <c:pt idx="18">
                  <c:v>4.7719896912122028E-2</c:v>
                </c:pt>
                <c:pt idx="19">
                  <c:v>2.4579550665042714E-2</c:v>
                </c:pt>
                <c:pt idx="20">
                  <c:v>-1.1182105258560199E-2</c:v>
                </c:pt>
                <c:pt idx="21">
                  <c:v>-4.8076800381812321E-2</c:v>
                </c:pt>
                <c:pt idx="22">
                  <c:v>-5.258571364261827E-2</c:v>
                </c:pt>
                <c:pt idx="23">
                  <c:v>-8.7843718208206148E-2</c:v>
                </c:pt>
                <c:pt idx="24">
                  <c:v>-9.2646542617782879E-2</c:v>
                </c:pt>
                <c:pt idx="25">
                  <c:v>-9.5457033464917282E-2</c:v>
                </c:pt>
                <c:pt idx="26">
                  <c:v>-0.11863994970073696</c:v>
                </c:pt>
                <c:pt idx="27">
                  <c:v>-0.1424494654572169</c:v>
                </c:pt>
                <c:pt idx="28">
                  <c:v>-0.14233773010054504</c:v>
                </c:pt>
                <c:pt idx="29">
                  <c:v>-0.16677911802628606</c:v>
                </c:pt>
                <c:pt idx="30">
                  <c:v>-0.12385872405064108</c:v>
                </c:pt>
                <c:pt idx="31">
                  <c:v>-0.22701846812345297</c:v>
                </c:pt>
                <c:pt idx="32">
                  <c:v>-0.34311329691335657</c:v>
                </c:pt>
                <c:pt idx="33">
                  <c:v>-0.36813223658404676</c:v>
                </c:pt>
                <c:pt idx="34">
                  <c:v>-0.38896977722254994</c:v>
                </c:pt>
                <c:pt idx="35">
                  <c:v>-0.39188446618242434</c:v>
                </c:pt>
                <c:pt idx="36">
                  <c:v>-0.41554861090748901</c:v>
                </c:pt>
                <c:pt idx="37">
                  <c:v>-0.43803708776742689</c:v>
                </c:pt>
                <c:pt idx="38">
                  <c:v>-0.7081850579244876</c:v>
                </c:pt>
                <c:pt idx="39">
                  <c:v>-0.75607823958589537</c:v>
                </c:pt>
                <c:pt idx="40">
                  <c:v>-0.85296038967383192</c:v>
                </c:pt>
                <c:pt idx="41">
                  <c:v>-0.85913504197258705</c:v>
                </c:pt>
                <c:pt idx="42">
                  <c:v>-0.82070401960481187</c:v>
                </c:pt>
                <c:pt idx="43">
                  <c:v>-0.88009887270996856</c:v>
                </c:pt>
                <c:pt idx="44">
                  <c:v>-0.89102942521483475</c:v>
                </c:pt>
                <c:pt idx="45">
                  <c:v>-0.89188417064435399</c:v>
                </c:pt>
                <c:pt idx="46">
                  <c:v>-0.92197675330078632</c:v>
                </c:pt>
                <c:pt idx="47">
                  <c:v>-0.97018439450361793</c:v>
                </c:pt>
                <c:pt idx="48">
                  <c:v>-0.99964619668060029</c:v>
                </c:pt>
                <c:pt idx="49">
                  <c:v>-1.0917863235977086</c:v>
                </c:pt>
                <c:pt idx="50">
                  <c:v>-1.1659211203853888</c:v>
                </c:pt>
                <c:pt idx="51">
                  <c:v>-1.137057600255684</c:v>
                </c:pt>
                <c:pt idx="52">
                  <c:v>-1.2480624725951037</c:v>
                </c:pt>
                <c:pt idx="53">
                  <c:v>-1.3004819538722943</c:v>
                </c:pt>
                <c:pt idx="54">
                  <c:v>-1.4061680388974664</c:v>
                </c:pt>
                <c:pt idx="55">
                  <c:v>-1.4155790306650655</c:v>
                </c:pt>
                <c:pt idx="56">
                  <c:v>-1.4437039636217861</c:v>
                </c:pt>
                <c:pt idx="57">
                  <c:v>-1.5104454891695094</c:v>
                </c:pt>
                <c:pt idx="58">
                  <c:v>-1.5197546912230295</c:v>
                </c:pt>
                <c:pt idx="59">
                  <c:v>-1.5057337880632395</c:v>
                </c:pt>
                <c:pt idx="60">
                  <c:v>-1.5955720036773737</c:v>
                </c:pt>
                <c:pt idx="61">
                  <c:v>-1.6549797089739933</c:v>
                </c:pt>
                <c:pt idx="62">
                  <c:v>-1.6495948957720576</c:v>
                </c:pt>
                <c:pt idx="63">
                  <c:v>-1.5830639402714319</c:v>
                </c:pt>
                <c:pt idx="64">
                  <c:v>-1.5897629599810874</c:v>
                </c:pt>
                <c:pt idx="65">
                  <c:v>-1.5673151901559907</c:v>
                </c:pt>
                <c:pt idx="66">
                  <c:v>-1.5251921236918804</c:v>
                </c:pt>
                <c:pt idx="67">
                  <c:v>-1.6042775618747904</c:v>
                </c:pt>
                <c:pt idx="68">
                  <c:v>-1.6035752490759472</c:v>
                </c:pt>
                <c:pt idx="69">
                  <c:v>-1.8418505421186917</c:v>
                </c:pt>
                <c:pt idx="70">
                  <c:v>-1.8404929135086427</c:v>
                </c:pt>
                <c:pt idx="71">
                  <c:v>-1.8807069552445514</c:v>
                </c:pt>
                <c:pt idx="72">
                  <c:v>-1.9858904892927458</c:v>
                </c:pt>
                <c:pt idx="73">
                  <c:v>-2.0107685352707074</c:v>
                </c:pt>
                <c:pt idx="74">
                  <c:v>-1.9861321214514889</c:v>
                </c:pt>
                <c:pt idx="75">
                  <c:v>-1.9691035488725628</c:v>
                </c:pt>
                <c:pt idx="76">
                  <c:v>-1.8923301013619063</c:v>
                </c:pt>
                <c:pt idx="77">
                  <c:v>-2.0050728946032654</c:v>
                </c:pt>
                <c:pt idx="78">
                  <c:v>-2.0375672198550707</c:v>
                </c:pt>
                <c:pt idx="79">
                  <c:v>-2.0603873965771973</c:v>
                </c:pt>
                <c:pt idx="80">
                  <c:v>-2.0857507108731004</c:v>
                </c:pt>
                <c:pt idx="81">
                  <c:v>-1.8654770451246225</c:v>
                </c:pt>
                <c:pt idx="82">
                  <c:v>-1.9019307297000327</c:v>
                </c:pt>
                <c:pt idx="83">
                  <c:v>-1.9344057080527277</c:v>
                </c:pt>
                <c:pt idx="84">
                  <c:v>-1.9687103767548937</c:v>
                </c:pt>
                <c:pt idx="85">
                  <c:v>-2.0028778337960254</c:v>
                </c:pt>
                <c:pt idx="86">
                  <c:v>-2.0585946800403128</c:v>
                </c:pt>
                <c:pt idx="87">
                  <c:v>-2.1214127729051371</c:v>
                </c:pt>
                <c:pt idx="88">
                  <c:v>-2.2268783439114226</c:v>
                </c:pt>
                <c:pt idx="89">
                  <c:v>-2.2675523194782756</c:v>
                </c:pt>
                <c:pt idx="90">
                  <c:v>-2.3883429613583584</c:v>
                </c:pt>
                <c:pt idx="91">
                  <c:v>-2.4483343601646563</c:v>
                </c:pt>
                <c:pt idx="92">
                  <c:v>-2.4613101420607579</c:v>
                </c:pt>
                <c:pt idx="93">
                  <c:v>-2.4741226381862549</c:v>
                </c:pt>
                <c:pt idx="94">
                  <c:v>-2.5206511762733275</c:v>
                </c:pt>
                <c:pt idx="95">
                  <c:v>-2.5290564344009301</c:v>
                </c:pt>
                <c:pt idx="96">
                  <c:v>-2.4423470353692047</c:v>
                </c:pt>
                <c:pt idx="97">
                  <c:v>-2.4849066497880004</c:v>
                </c:pt>
                <c:pt idx="98">
                  <c:v>-2.5290564344009301</c:v>
                </c:pt>
                <c:pt idx="99">
                  <c:v>0.51946557772768198</c:v>
                </c:pt>
                <c:pt idx="100">
                  <c:v>0.36714624380602939</c:v>
                </c:pt>
                <c:pt idx="101">
                  <c:v>0.30070718361048254</c:v>
                </c:pt>
                <c:pt idx="102">
                  <c:v>0.23492061850522741</c:v>
                </c:pt>
                <c:pt idx="103">
                  <c:v>0.1696363972666361</c:v>
                </c:pt>
                <c:pt idx="104">
                  <c:v>8.2040286132024881E-2</c:v>
                </c:pt>
                <c:pt idx="105">
                  <c:v>2.7523104834608215E-2</c:v>
                </c:pt>
                <c:pt idx="106">
                  <c:v>-2.3932766211627227E-2</c:v>
                </c:pt>
                <c:pt idx="107">
                  <c:v>-7.8501827834620258E-2</c:v>
                </c:pt>
                <c:pt idx="108">
                  <c:v>-0.13313075694389301</c:v>
                </c:pt>
                <c:pt idx="109">
                  <c:v>-0.18491255661364084</c:v>
                </c:pt>
                <c:pt idx="110">
                  <c:v>-0.3219547668530453</c:v>
                </c:pt>
                <c:pt idx="111">
                  <c:v>-0.35419404277621452</c:v>
                </c:pt>
                <c:pt idx="112">
                  <c:v>-0.41290899585527768</c:v>
                </c:pt>
                <c:pt idx="113">
                  <c:v>-0.4720890373400688</c:v>
                </c:pt>
                <c:pt idx="114">
                  <c:v>-0.5351443475925417</c:v>
                </c:pt>
                <c:pt idx="115">
                  <c:v>-0.80059431501615497</c:v>
                </c:pt>
                <c:pt idx="116">
                  <c:v>-0.83461310896560237</c:v>
                </c:pt>
                <c:pt idx="117">
                  <c:v>-0.87111776939589924</c:v>
                </c:pt>
                <c:pt idx="118">
                  <c:v>-0.95210573718045344</c:v>
                </c:pt>
                <c:pt idx="119">
                  <c:v>-1.1016334390022851</c:v>
                </c:pt>
                <c:pt idx="120">
                  <c:v>-1.2881367042145484</c:v>
                </c:pt>
                <c:pt idx="121">
                  <c:v>-1.5504466271968786</c:v>
                </c:pt>
                <c:pt idx="122">
                  <c:v>-1.616295206556571</c:v>
                </c:pt>
                <c:pt idx="123">
                  <c:v>-1.5831215674203964</c:v>
                </c:pt>
                <c:pt idx="124">
                  <c:v>-1.5848324368856228</c:v>
                </c:pt>
                <c:pt idx="125">
                  <c:v>-1.5999621377064892</c:v>
                </c:pt>
                <c:pt idx="126">
                  <c:v>-1.621243521161345</c:v>
                </c:pt>
                <c:pt idx="127">
                  <c:v>-1.6591186596380112</c:v>
                </c:pt>
                <c:pt idx="128">
                  <c:v>-1.7386288525965603</c:v>
                </c:pt>
                <c:pt idx="129">
                  <c:v>-1.7515380538857561</c:v>
                </c:pt>
                <c:pt idx="130">
                  <c:v>-1.8028869632542373</c:v>
                </c:pt>
                <c:pt idx="131">
                  <c:v>-1.8050074521315329</c:v>
                </c:pt>
                <c:pt idx="132">
                  <c:v>-1.8419193071194062</c:v>
                </c:pt>
                <c:pt idx="133">
                  <c:v>-1.9592309930309739</c:v>
                </c:pt>
                <c:pt idx="134">
                  <c:v>-1.9801446514955166</c:v>
                </c:pt>
                <c:pt idx="135">
                  <c:v>-1.9870300003628132</c:v>
                </c:pt>
                <c:pt idx="136">
                  <c:v>-2.0529399151305472</c:v>
                </c:pt>
                <c:pt idx="137">
                  <c:v>-2.078036060071101</c:v>
                </c:pt>
                <c:pt idx="138">
                  <c:v>-2.1057833450920675</c:v>
                </c:pt>
                <c:pt idx="139">
                  <c:v>-2.2295487582748281</c:v>
                </c:pt>
                <c:pt idx="140">
                  <c:v>-2.2617509648338801</c:v>
                </c:pt>
                <c:pt idx="141">
                  <c:v>-2.2935710570563326</c:v>
                </c:pt>
                <c:pt idx="142">
                  <c:v>-2.2753893501855558</c:v>
                </c:pt>
                <c:pt idx="143">
                  <c:v>-2.2680046834705787</c:v>
                </c:pt>
                <c:pt idx="144">
                  <c:v>-2.2257020432454793</c:v>
                </c:pt>
                <c:pt idx="145">
                  <c:v>-2.2512652300663021</c:v>
                </c:pt>
                <c:pt idx="146">
                  <c:v>-2.2630377959057917</c:v>
                </c:pt>
                <c:pt idx="147">
                  <c:v>-2.1827783709738675</c:v>
                </c:pt>
                <c:pt idx="148">
                  <c:v>-2.2036513346751128</c:v>
                </c:pt>
                <c:pt idx="149">
                  <c:v>-2.2709491092101453</c:v>
                </c:pt>
                <c:pt idx="150">
                  <c:v>-2.2766313549406298</c:v>
                </c:pt>
                <c:pt idx="151">
                  <c:v>-2.2714351312873573</c:v>
                </c:pt>
                <c:pt idx="152">
                  <c:v>-2.3421431311631751</c:v>
                </c:pt>
                <c:pt idx="153">
                  <c:v>-2.3926321027540958</c:v>
                </c:pt>
                <c:pt idx="154">
                  <c:v>-2.4453369317542926</c:v>
                </c:pt>
                <c:pt idx="155">
                  <c:v>-2.4616641815322313</c:v>
                </c:pt>
                <c:pt idx="156">
                  <c:v>-2.4957899719453938</c:v>
                </c:pt>
                <c:pt idx="157">
                  <c:v>-2.572595671311253</c:v>
                </c:pt>
                <c:pt idx="158">
                  <c:v>-2.6776074357125537</c:v>
                </c:pt>
                <c:pt idx="159">
                  <c:v>-2.7903816133876798</c:v>
                </c:pt>
                <c:pt idx="160">
                  <c:v>-2.8876144777452701</c:v>
                </c:pt>
                <c:pt idx="161">
                  <c:v>-2.9323591060810985</c:v>
                </c:pt>
                <c:pt idx="162">
                  <c:v>-2.9773096460009554</c:v>
                </c:pt>
                <c:pt idx="163">
                  <c:v>-2.8662742063171041</c:v>
                </c:pt>
                <c:pt idx="164">
                  <c:v>-2.8814756215871942</c:v>
                </c:pt>
                <c:pt idx="165">
                  <c:v>-2.9125128837733785</c:v>
                </c:pt>
                <c:pt idx="166">
                  <c:v>-2.9773096460009554</c:v>
                </c:pt>
                <c:pt idx="167">
                  <c:v>-3.0111860174558314</c:v>
                </c:pt>
              </c:numCache>
            </c:numRef>
          </c:yVal>
          <c:smooth val="0"/>
          <c:extLst>
            <c:ext xmlns:c16="http://schemas.microsoft.com/office/drawing/2014/chart" uri="{C3380CC4-5D6E-409C-BE32-E72D297353CC}">
              <c16:uniqueId val="{00000001-1378-48CB-BA91-DC061626617D}"/>
            </c:ext>
          </c:extLst>
        </c:ser>
        <c:dLbls>
          <c:showLegendKey val="0"/>
          <c:showVal val="0"/>
          <c:showCatName val="0"/>
          <c:showSerName val="0"/>
          <c:showPercent val="0"/>
          <c:showBubbleSize val="0"/>
        </c:dLbls>
        <c:axId val="516522256"/>
        <c:axId val="516530960"/>
      </c:scatterChart>
      <c:valAx>
        <c:axId val="516522256"/>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a:t>AGE CHRONOLOGIQUE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516530960"/>
        <c:crosses val="autoZero"/>
        <c:crossBetween val="midCat"/>
      </c:valAx>
      <c:valAx>
        <c:axId val="516530960"/>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a:t>LOGIT</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516522256"/>
        <c:crosses val="autoZero"/>
        <c:crossBetween val="midCat"/>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sz="1800" b="0" i="0" baseline="0">
                <a:effectLst/>
              </a:rPr>
              <a:t>MOYENNE DU RAYON HAUT (DEMI-EPAISSEUR SOMMET ENTRENOEUD) EN FONCTION DE L’AGE CHRONOLOGIQUE</a:t>
            </a:r>
            <a:endParaRPr lang="fr-FR">
              <a:effectLs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scatterChart>
        <c:scatterStyle val="smoothMarker"/>
        <c:varyColors val="0"/>
        <c:ser>
          <c:idx val="0"/>
          <c:order val="0"/>
          <c:tx>
            <c:strRef>
              <c:f>RAYONHAUTBR1BR2!$A$1</c:f>
              <c:strCache>
                <c:ptCount val="1"/>
                <c:pt idx="0">
                  <c:v>FONCTION SIGMOIDE</c:v>
                </c:pt>
              </c:strCache>
            </c:strRef>
          </c:tx>
          <c:spPr>
            <a:ln w="19050" cap="rnd">
              <a:solidFill>
                <a:schemeClr val="accent1"/>
              </a:solidFill>
              <a:round/>
            </a:ln>
            <a:effectLst/>
          </c:spPr>
          <c:marker>
            <c:symbol val="none"/>
          </c:marker>
          <c:xVal>
            <c:numRef>
              <c:f>RAYONHAUTBR1BR2!$A$4:$CU$4</c:f>
              <c:numCache>
                <c:formatCode>General</c:formatCode>
                <c:ptCount val="99"/>
                <c:pt idx="0">
                  <c:v>99</c:v>
                </c:pt>
                <c:pt idx="1">
                  <c:v>98</c:v>
                </c:pt>
                <c:pt idx="2">
                  <c:v>97</c:v>
                </c:pt>
                <c:pt idx="3">
                  <c:v>96</c:v>
                </c:pt>
                <c:pt idx="4">
                  <c:v>95</c:v>
                </c:pt>
                <c:pt idx="5">
                  <c:v>94</c:v>
                </c:pt>
                <c:pt idx="6">
                  <c:v>93</c:v>
                </c:pt>
                <c:pt idx="7">
                  <c:v>92</c:v>
                </c:pt>
                <c:pt idx="8">
                  <c:v>91</c:v>
                </c:pt>
                <c:pt idx="9">
                  <c:v>90</c:v>
                </c:pt>
                <c:pt idx="10">
                  <c:v>89</c:v>
                </c:pt>
                <c:pt idx="11">
                  <c:v>88</c:v>
                </c:pt>
                <c:pt idx="12">
                  <c:v>87</c:v>
                </c:pt>
                <c:pt idx="13">
                  <c:v>86</c:v>
                </c:pt>
                <c:pt idx="14">
                  <c:v>85</c:v>
                </c:pt>
                <c:pt idx="15">
                  <c:v>84</c:v>
                </c:pt>
                <c:pt idx="16">
                  <c:v>83</c:v>
                </c:pt>
                <c:pt idx="17">
                  <c:v>82</c:v>
                </c:pt>
                <c:pt idx="18">
                  <c:v>81</c:v>
                </c:pt>
                <c:pt idx="19">
                  <c:v>80</c:v>
                </c:pt>
                <c:pt idx="20">
                  <c:v>79</c:v>
                </c:pt>
                <c:pt idx="21">
                  <c:v>78</c:v>
                </c:pt>
                <c:pt idx="22">
                  <c:v>77</c:v>
                </c:pt>
                <c:pt idx="23">
                  <c:v>76</c:v>
                </c:pt>
                <c:pt idx="24">
                  <c:v>75</c:v>
                </c:pt>
                <c:pt idx="25">
                  <c:v>74</c:v>
                </c:pt>
                <c:pt idx="26">
                  <c:v>73</c:v>
                </c:pt>
                <c:pt idx="27">
                  <c:v>72</c:v>
                </c:pt>
                <c:pt idx="28">
                  <c:v>71</c:v>
                </c:pt>
                <c:pt idx="29">
                  <c:v>70</c:v>
                </c:pt>
                <c:pt idx="30">
                  <c:v>69</c:v>
                </c:pt>
                <c:pt idx="31">
                  <c:v>68</c:v>
                </c:pt>
                <c:pt idx="32">
                  <c:v>67</c:v>
                </c:pt>
                <c:pt idx="33">
                  <c:v>66</c:v>
                </c:pt>
                <c:pt idx="34">
                  <c:v>65</c:v>
                </c:pt>
                <c:pt idx="35">
                  <c:v>64</c:v>
                </c:pt>
                <c:pt idx="36">
                  <c:v>63</c:v>
                </c:pt>
                <c:pt idx="37">
                  <c:v>62</c:v>
                </c:pt>
                <c:pt idx="38">
                  <c:v>61</c:v>
                </c:pt>
                <c:pt idx="39">
                  <c:v>60</c:v>
                </c:pt>
                <c:pt idx="40">
                  <c:v>59</c:v>
                </c:pt>
                <c:pt idx="41">
                  <c:v>58</c:v>
                </c:pt>
                <c:pt idx="42">
                  <c:v>57</c:v>
                </c:pt>
                <c:pt idx="43">
                  <c:v>56</c:v>
                </c:pt>
                <c:pt idx="44">
                  <c:v>55</c:v>
                </c:pt>
                <c:pt idx="45">
                  <c:v>54</c:v>
                </c:pt>
                <c:pt idx="46">
                  <c:v>53</c:v>
                </c:pt>
                <c:pt idx="47">
                  <c:v>52</c:v>
                </c:pt>
                <c:pt idx="48">
                  <c:v>51</c:v>
                </c:pt>
                <c:pt idx="49">
                  <c:v>50</c:v>
                </c:pt>
                <c:pt idx="50">
                  <c:v>49</c:v>
                </c:pt>
                <c:pt idx="51">
                  <c:v>48</c:v>
                </c:pt>
                <c:pt idx="52">
                  <c:v>47</c:v>
                </c:pt>
                <c:pt idx="53">
                  <c:v>46</c:v>
                </c:pt>
                <c:pt idx="54">
                  <c:v>45</c:v>
                </c:pt>
                <c:pt idx="55">
                  <c:v>44</c:v>
                </c:pt>
                <c:pt idx="56">
                  <c:v>43</c:v>
                </c:pt>
                <c:pt idx="57">
                  <c:v>42</c:v>
                </c:pt>
                <c:pt idx="58">
                  <c:v>41</c:v>
                </c:pt>
                <c:pt idx="59">
                  <c:v>40</c:v>
                </c:pt>
                <c:pt idx="60">
                  <c:v>39</c:v>
                </c:pt>
                <c:pt idx="61">
                  <c:v>38</c:v>
                </c:pt>
                <c:pt idx="62">
                  <c:v>37</c:v>
                </c:pt>
                <c:pt idx="63">
                  <c:v>36</c:v>
                </c:pt>
                <c:pt idx="64">
                  <c:v>35</c:v>
                </c:pt>
                <c:pt idx="65">
                  <c:v>34</c:v>
                </c:pt>
                <c:pt idx="66">
                  <c:v>33</c:v>
                </c:pt>
                <c:pt idx="67">
                  <c:v>32</c:v>
                </c:pt>
                <c:pt idx="68">
                  <c:v>31</c:v>
                </c:pt>
                <c:pt idx="69">
                  <c:v>30</c:v>
                </c:pt>
                <c:pt idx="70">
                  <c:v>29</c:v>
                </c:pt>
                <c:pt idx="71">
                  <c:v>28</c:v>
                </c:pt>
                <c:pt idx="72">
                  <c:v>27</c:v>
                </c:pt>
                <c:pt idx="73">
                  <c:v>26</c:v>
                </c:pt>
                <c:pt idx="74">
                  <c:v>25</c:v>
                </c:pt>
                <c:pt idx="75">
                  <c:v>24</c:v>
                </c:pt>
                <c:pt idx="76">
                  <c:v>23</c:v>
                </c:pt>
                <c:pt idx="77">
                  <c:v>22</c:v>
                </c:pt>
                <c:pt idx="78">
                  <c:v>21</c:v>
                </c:pt>
                <c:pt idx="79">
                  <c:v>20</c:v>
                </c:pt>
                <c:pt idx="80">
                  <c:v>19</c:v>
                </c:pt>
                <c:pt idx="81">
                  <c:v>18</c:v>
                </c:pt>
                <c:pt idx="82">
                  <c:v>17</c:v>
                </c:pt>
                <c:pt idx="83">
                  <c:v>16</c:v>
                </c:pt>
                <c:pt idx="84">
                  <c:v>15</c:v>
                </c:pt>
                <c:pt idx="85">
                  <c:v>14</c:v>
                </c:pt>
                <c:pt idx="86">
                  <c:v>13</c:v>
                </c:pt>
                <c:pt idx="87">
                  <c:v>12</c:v>
                </c:pt>
                <c:pt idx="88">
                  <c:v>11</c:v>
                </c:pt>
                <c:pt idx="89">
                  <c:v>10</c:v>
                </c:pt>
                <c:pt idx="90">
                  <c:v>9</c:v>
                </c:pt>
                <c:pt idx="91">
                  <c:v>8</c:v>
                </c:pt>
                <c:pt idx="92">
                  <c:v>7</c:v>
                </c:pt>
                <c:pt idx="93">
                  <c:v>6</c:v>
                </c:pt>
                <c:pt idx="94">
                  <c:v>5</c:v>
                </c:pt>
                <c:pt idx="95">
                  <c:v>4</c:v>
                </c:pt>
                <c:pt idx="96">
                  <c:v>3</c:v>
                </c:pt>
                <c:pt idx="97">
                  <c:v>2</c:v>
                </c:pt>
                <c:pt idx="98">
                  <c:v>1</c:v>
                </c:pt>
              </c:numCache>
            </c:numRef>
          </c:xVal>
          <c:yVal>
            <c:numRef>
              <c:f>RAYONHAUTBR1BR2!$A$5:$CU$5</c:f>
              <c:numCache>
                <c:formatCode>General</c:formatCode>
                <c:ptCount val="99"/>
                <c:pt idx="0">
                  <c:v>0.91689936141474149</c:v>
                </c:pt>
                <c:pt idx="1">
                  <c:v>0.90641494405423673</c:v>
                </c:pt>
                <c:pt idx="2">
                  <c:v>0.89577009450843659</c:v>
                </c:pt>
                <c:pt idx="3">
                  <c:v>0.88496916954373528</c:v>
                </c:pt>
                <c:pt idx="4">
                  <c:v>0.87401688919363285</c:v>
                </c:pt>
                <c:pt idx="5">
                  <c:v>0.86291833403133145</c:v>
                </c:pt>
                <c:pt idx="6">
                  <c:v>0.85167894079409978</c:v>
                </c:pt>
                <c:pt idx="7">
                  <c:v>0.84030449632178406</c:v>
                </c:pt>
                <c:pt idx="8">
                  <c:v>0.82880112978394549</c:v>
                </c:pt>
                <c:pt idx="9">
                  <c:v>0.8171753031830471</c:v>
                </c:pt>
                <c:pt idx="10">
                  <c:v>0.80543380013477084</c:v>
                </c:pt>
                <c:pt idx="11">
                  <c:v>0.79358371294078323</c:v>
                </c:pt>
                <c:pt idx="12">
                  <c:v>0.78163242798391852</c:v>
                </c:pt>
                <c:pt idx="13">
                  <c:v>0.76958760949062199</c:v>
                </c:pt>
                <c:pt idx="14">
                  <c:v>0.75745718172042753</c:v>
                </c:pt>
                <c:pt idx="15">
                  <c:v>0.74524930965701308</c:v>
                </c:pt>
                <c:pt idx="16">
                  <c:v>0.73297237828979023</c:v>
                </c:pt>
                <c:pt idx="17">
                  <c:v>0.72063497058883785</c:v>
                </c:pt>
                <c:pt idx="18">
                  <c:v>0.70824584428907256</c:v>
                </c:pt>
                <c:pt idx="19">
                  <c:v>0.69581390761167605</c:v>
                </c:pt>
                <c:pt idx="20">
                  <c:v>0.68334819406177028</c:v>
                </c:pt>
                <c:pt idx="21">
                  <c:v>0.67085783645099251</c:v>
                </c:pt>
                <c:pt idx="22">
                  <c:v>0.65835204030180217</c:v>
                </c:pt>
                <c:pt idx="23">
                  <c:v>0.64584005679693612</c:v>
                </c:pt>
                <c:pt idx="24">
                  <c:v>0.63333115544229768</c:v>
                </c:pt>
                <c:pt idx="25">
                  <c:v>0.62083459661464646</c:v>
                </c:pt>
                <c:pt idx="26">
                  <c:v>0.60835960416669888</c:v>
                </c:pt>
                <c:pt idx="27">
                  <c:v>0.5959153382616269</c:v>
                </c:pt>
                <c:pt idx="28">
                  <c:v>0.58351086860647949</c:v>
                </c:pt>
                <c:pt idx="29">
                  <c:v>0.57115514824976588</c:v>
                </c:pt>
                <c:pt idx="30">
                  <c:v>0.55885698810242468</c:v>
                </c:pt>
                <c:pt idx="31">
                  <c:v>0.54662503233374327</c:v>
                </c:pt>
                <c:pt idx="32">
                  <c:v>0.53446773478461007</c:v>
                </c:pt>
                <c:pt idx="33">
                  <c:v>0.52239333652993181</c:v>
                </c:pt>
                <c:pt idx="34">
                  <c:v>0.51040984471028983</c:v>
                </c:pt>
                <c:pt idx="35">
                  <c:v>0.49852501274012245</c:v>
                </c:pt>
                <c:pt idx="36">
                  <c:v>0.48674632198610612</c:v>
                </c:pt>
                <c:pt idx="37">
                  <c:v>0.47508096499515701</c:v>
                </c:pt>
                <c:pt idx="38">
                  <c:v>0.46353583033680396</c:v>
                </c:pt>
                <c:pt idx="39">
                  <c:v>0.45211748910978178</c:v>
                </c:pt>
                <c:pt idx="40">
                  <c:v>0.44083218314778261</c:v>
                </c:pt>
                <c:pt idx="41">
                  <c:v>0.4296858149445526</c:v>
                </c:pt>
                <c:pt idx="42">
                  <c:v>0.41868393930413239</c:v>
                </c:pt>
                <c:pt idx="43">
                  <c:v>0.40783175670816407</c:v>
                </c:pt>
                <c:pt idx="44">
                  <c:v>0.39713410837899477</c:v>
                </c:pt>
                <c:pt idx="45">
                  <c:v>0.38659547300490843</c:v>
                </c:pt>
                <c:pt idx="46">
                  <c:v>0.37621996508234901</c:v>
                </c:pt>
                <c:pt idx="47">
                  <c:v>0.36601133481953824</c:v>
                </c:pt>
                <c:pt idx="48">
                  <c:v>0.35597296953651375</c:v>
                </c:pt>
                <c:pt idx="49">
                  <c:v>0.34610789648838458</c:v>
                </c:pt>
                <c:pt idx="50">
                  <c:v>0.3364187870315265</c:v>
                </c:pt>
                <c:pt idx="51">
                  <c:v>0.32690796204655864</c:v>
                </c:pt>
                <c:pt idx="52">
                  <c:v>0.31757739852722866</c:v>
                </c:pt>
                <c:pt idx="53">
                  <c:v>0.30842873724077724</c:v>
                </c:pt>
                <c:pt idx="54">
                  <c:v>0.29946329136290972</c:v>
                </c:pt>
                <c:pt idx="55">
                  <c:v>0.29068205598911917</c:v>
                </c:pt>
                <c:pt idx="56">
                  <c:v>0.28208571842373487</c:v>
                </c:pt>
                <c:pt idx="57">
                  <c:v>0.27367466914862121</c:v>
                </c:pt>
                <c:pt idx="58">
                  <c:v>0.26544901337486282</c:v>
                </c:pt>
                <c:pt idx="59">
                  <c:v>0.25740858308295267</c:v>
                </c:pt>
                <c:pt idx="60">
                  <c:v>0.24955294945986634</c:v>
                </c:pt>
                <c:pt idx="61">
                  <c:v>0.24188143564486589</c:v>
                </c:pt>
                <c:pt idx="62">
                  <c:v>0.23439312969985032</c:v>
                </c:pt>
                <c:pt idx="63">
                  <c:v>0.22708689772446303</c:v>
                </c:pt>
                <c:pt idx="64">
                  <c:v>0.21996139704089776</c:v>
                </c:pt>
                <c:pt idx="65">
                  <c:v>0.21301508937833691</c:v>
                </c:pt>
                <c:pt idx="66">
                  <c:v>0.20624625399212815</c:v>
                </c:pt>
                <c:pt idx="67">
                  <c:v>0.199653000658089</c:v>
                </c:pt>
                <c:pt idx="68">
                  <c:v>0.19323328248766208</c:v>
                </c:pt>
                <c:pt idx="69">
                  <c:v>0.18698490851496175</c:v>
                </c:pt>
                <c:pt idx="70">
                  <c:v>0.18090555601200761</c:v>
                </c:pt>
                <c:pt idx="71">
                  <c:v>0.17499278249358441</c:v>
                </c:pt>
                <c:pt idx="72">
                  <c:v>0.16924403737815924</c:v>
                </c:pt>
                <c:pt idx="73">
                  <c:v>0.1636566732760944</c:v>
                </c:pt>
                <c:pt idx="74">
                  <c:v>0.15822795688098862</c:v>
                </c:pt>
                <c:pt idx="75">
                  <c:v>0.1529550794443357</c:v>
                </c:pt>
                <c:pt idx="76">
                  <c:v>0.14783516681779757</c:v>
                </c:pt>
                <c:pt idx="77">
                  <c:v>0.14286528905122445</c:v>
                </c:pt>
                <c:pt idx="78">
                  <c:v>0.13804246953812432</c:v>
                </c:pt>
                <c:pt idx="79">
                  <c:v>0.13336369370356918</c:v>
                </c:pt>
                <c:pt idx="80">
                  <c:v>0.12882591723253767</c:v>
                </c:pt>
                <c:pt idx="81">
                  <c:v>0.1244260738394264</c:v>
                </c:pt>
                <c:pt idx="82">
                  <c:v>0.12016108258192758</c:v>
                </c:pt>
                <c:pt idx="83">
                  <c:v>0.11602785472467049</c:v>
                </c:pt>
                <c:pt idx="84">
                  <c:v>0.11202330015997287</c:v>
                </c:pt>
                <c:pt idx="85">
                  <c:v>0.10814433339475288</c:v>
                </c:pt>
                <c:pt idx="86">
                  <c:v>0.10438787911412666</c:v>
                </c:pt>
                <c:pt idx="87">
                  <c:v>0.10075087733347525</c:v>
                </c:pt>
                <c:pt idx="88">
                  <c:v>9.7230288151815891E-2</c:v>
                </c:pt>
                <c:pt idx="89">
                  <c:v>9.3823096120179236E-2</c:v>
                </c:pt>
                <c:pt idx="90">
                  <c:v>9.0526314239380221E-2</c:v>
                </c:pt>
                <c:pt idx="91">
                  <c:v>8.7336987602098515E-2</c:v>
                </c:pt>
                <c:pt idx="92">
                  <c:v>8.425219669456406E-2</c:v>
                </c:pt>
                <c:pt idx="93">
                  <c:v>8.1269060373388269E-2</c:v>
                </c:pt>
                <c:pt idx="94">
                  <c:v>7.8384738533207848E-2</c:v>
                </c:pt>
                <c:pt idx="95">
                  <c:v>7.5596434480824828E-2</c:v>
                </c:pt>
                <c:pt idx="96">
                  <c:v>7.2901397031448961E-2</c:v>
                </c:pt>
                <c:pt idx="97">
                  <c:v>7.0296922342485538E-2</c:v>
                </c:pt>
                <c:pt idx="98">
                  <c:v>6.7780355500076134E-2</c:v>
                </c:pt>
              </c:numCache>
            </c:numRef>
          </c:yVal>
          <c:smooth val="1"/>
          <c:extLst>
            <c:ext xmlns:c16="http://schemas.microsoft.com/office/drawing/2014/chart" uri="{C3380CC4-5D6E-409C-BE32-E72D297353CC}">
              <c16:uniqueId val="{00000000-6189-41D6-8CC9-004A0EA44765}"/>
            </c:ext>
          </c:extLst>
        </c:ser>
        <c:ser>
          <c:idx val="1"/>
          <c:order val="1"/>
          <c:tx>
            <c:strRef>
              <c:f>RAYONHAUTBR1BR2!$B$1</c:f>
              <c:strCache>
                <c:ptCount val="1"/>
                <c:pt idx="0">
                  <c:v>MOYENNE DONNEES BRANCHE 1</c:v>
                </c:pt>
              </c:strCache>
            </c:strRef>
          </c:tx>
          <c:spPr>
            <a:ln w="19050" cap="rnd">
              <a:solidFill>
                <a:schemeClr val="accent2"/>
              </a:solidFill>
              <a:round/>
            </a:ln>
            <a:effectLst/>
          </c:spPr>
          <c:marker>
            <c:symbol val="none"/>
          </c:marker>
          <c:xVal>
            <c:numRef>
              <c:f>RAYONHAUTBR1BR2!$CV$4:$FL$4</c:f>
              <c:numCache>
                <c:formatCode>General</c:formatCode>
                <c:ptCount val="69"/>
                <c:pt idx="0">
                  <c:v>69</c:v>
                </c:pt>
                <c:pt idx="1">
                  <c:v>68</c:v>
                </c:pt>
                <c:pt idx="2">
                  <c:v>67</c:v>
                </c:pt>
                <c:pt idx="3">
                  <c:v>66</c:v>
                </c:pt>
                <c:pt idx="4">
                  <c:v>65</c:v>
                </c:pt>
                <c:pt idx="5">
                  <c:v>64</c:v>
                </c:pt>
                <c:pt idx="6">
                  <c:v>63</c:v>
                </c:pt>
                <c:pt idx="7">
                  <c:v>62</c:v>
                </c:pt>
                <c:pt idx="8">
                  <c:v>61</c:v>
                </c:pt>
                <c:pt idx="9">
                  <c:v>60</c:v>
                </c:pt>
                <c:pt idx="10">
                  <c:v>59</c:v>
                </c:pt>
                <c:pt idx="11">
                  <c:v>58</c:v>
                </c:pt>
                <c:pt idx="12">
                  <c:v>57</c:v>
                </c:pt>
                <c:pt idx="13">
                  <c:v>56</c:v>
                </c:pt>
                <c:pt idx="14">
                  <c:v>55</c:v>
                </c:pt>
                <c:pt idx="15">
                  <c:v>54</c:v>
                </c:pt>
                <c:pt idx="16">
                  <c:v>53</c:v>
                </c:pt>
                <c:pt idx="17">
                  <c:v>52</c:v>
                </c:pt>
                <c:pt idx="18">
                  <c:v>51</c:v>
                </c:pt>
                <c:pt idx="19">
                  <c:v>50</c:v>
                </c:pt>
                <c:pt idx="20">
                  <c:v>49</c:v>
                </c:pt>
                <c:pt idx="21">
                  <c:v>48</c:v>
                </c:pt>
                <c:pt idx="22">
                  <c:v>47</c:v>
                </c:pt>
                <c:pt idx="23">
                  <c:v>46</c:v>
                </c:pt>
                <c:pt idx="24">
                  <c:v>45</c:v>
                </c:pt>
                <c:pt idx="25">
                  <c:v>44</c:v>
                </c:pt>
                <c:pt idx="26">
                  <c:v>43</c:v>
                </c:pt>
                <c:pt idx="27">
                  <c:v>42</c:v>
                </c:pt>
                <c:pt idx="28">
                  <c:v>41</c:v>
                </c:pt>
                <c:pt idx="29">
                  <c:v>40</c:v>
                </c:pt>
                <c:pt idx="30">
                  <c:v>39</c:v>
                </c:pt>
                <c:pt idx="31">
                  <c:v>38</c:v>
                </c:pt>
                <c:pt idx="32">
                  <c:v>37</c:v>
                </c:pt>
                <c:pt idx="33">
                  <c:v>36</c:v>
                </c:pt>
                <c:pt idx="34">
                  <c:v>35</c:v>
                </c:pt>
                <c:pt idx="35">
                  <c:v>34</c:v>
                </c:pt>
                <c:pt idx="36">
                  <c:v>33</c:v>
                </c:pt>
                <c:pt idx="37">
                  <c:v>32</c:v>
                </c:pt>
                <c:pt idx="38">
                  <c:v>31</c:v>
                </c:pt>
                <c:pt idx="39">
                  <c:v>30</c:v>
                </c:pt>
                <c:pt idx="40">
                  <c:v>29</c:v>
                </c:pt>
                <c:pt idx="41">
                  <c:v>28</c:v>
                </c:pt>
                <c:pt idx="42">
                  <c:v>27</c:v>
                </c:pt>
                <c:pt idx="43">
                  <c:v>26</c:v>
                </c:pt>
                <c:pt idx="44">
                  <c:v>25</c:v>
                </c:pt>
                <c:pt idx="45">
                  <c:v>24</c:v>
                </c:pt>
                <c:pt idx="46">
                  <c:v>23</c:v>
                </c:pt>
                <c:pt idx="47">
                  <c:v>22</c:v>
                </c:pt>
                <c:pt idx="48">
                  <c:v>21</c:v>
                </c:pt>
                <c:pt idx="49">
                  <c:v>20</c:v>
                </c:pt>
                <c:pt idx="50">
                  <c:v>19</c:v>
                </c:pt>
                <c:pt idx="51">
                  <c:v>18</c:v>
                </c:pt>
                <c:pt idx="52">
                  <c:v>17</c:v>
                </c:pt>
                <c:pt idx="53">
                  <c:v>16</c:v>
                </c:pt>
                <c:pt idx="54">
                  <c:v>15</c:v>
                </c:pt>
                <c:pt idx="55">
                  <c:v>14</c:v>
                </c:pt>
                <c:pt idx="56">
                  <c:v>13</c:v>
                </c:pt>
                <c:pt idx="57">
                  <c:v>12</c:v>
                </c:pt>
                <c:pt idx="58">
                  <c:v>11</c:v>
                </c:pt>
                <c:pt idx="59">
                  <c:v>10</c:v>
                </c:pt>
                <c:pt idx="60">
                  <c:v>9</c:v>
                </c:pt>
                <c:pt idx="61">
                  <c:v>8</c:v>
                </c:pt>
                <c:pt idx="62">
                  <c:v>7</c:v>
                </c:pt>
                <c:pt idx="63">
                  <c:v>6</c:v>
                </c:pt>
                <c:pt idx="64">
                  <c:v>5</c:v>
                </c:pt>
                <c:pt idx="65">
                  <c:v>4</c:v>
                </c:pt>
                <c:pt idx="66">
                  <c:v>3</c:v>
                </c:pt>
                <c:pt idx="67">
                  <c:v>2</c:v>
                </c:pt>
                <c:pt idx="68">
                  <c:v>1</c:v>
                </c:pt>
              </c:numCache>
            </c:numRef>
          </c:xVal>
          <c:yVal>
            <c:numRef>
              <c:f>RAYONHAUTBR1BR2!$CV$6:$FL$6</c:f>
              <c:numCache>
                <c:formatCode>General</c:formatCode>
                <c:ptCount val="69"/>
                <c:pt idx="0">
                  <c:v>0.81512962962963043</c:v>
                </c:pt>
                <c:pt idx="1">
                  <c:v>0.76800000000000046</c:v>
                </c:pt>
                <c:pt idx="2">
                  <c:v>0.747</c:v>
                </c:pt>
                <c:pt idx="3">
                  <c:v>0.72599999999999931</c:v>
                </c:pt>
                <c:pt idx="4">
                  <c:v>0.70499999999999907</c:v>
                </c:pt>
                <c:pt idx="5">
                  <c:v>0.67664814814814833</c:v>
                </c:pt>
                <c:pt idx="6">
                  <c:v>0.65894444444444455</c:v>
                </c:pt>
                <c:pt idx="7">
                  <c:v>0.64222222222222258</c:v>
                </c:pt>
                <c:pt idx="8">
                  <c:v>0.62450000000000028</c:v>
                </c:pt>
                <c:pt idx="9">
                  <c:v>0.60679629629629606</c:v>
                </c:pt>
                <c:pt idx="10">
                  <c:v>0.5900740740740742</c:v>
                </c:pt>
                <c:pt idx="11">
                  <c:v>0.54625925925925956</c:v>
                </c:pt>
                <c:pt idx="12">
                  <c:v>0.53607547169811287</c:v>
                </c:pt>
                <c:pt idx="13">
                  <c:v>0.51767924528301912</c:v>
                </c:pt>
                <c:pt idx="14">
                  <c:v>0.49935849056603721</c:v>
                </c:pt>
                <c:pt idx="15">
                  <c:v>0.48011320754716957</c:v>
                </c:pt>
                <c:pt idx="16">
                  <c:v>0.40286792452830184</c:v>
                </c:pt>
                <c:pt idx="17">
                  <c:v>0.39347169811320742</c:v>
                </c:pt>
                <c:pt idx="18">
                  <c:v>0.38352830188679271</c:v>
                </c:pt>
                <c:pt idx="19">
                  <c:v>0.36200000000000004</c:v>
                </c:pt>
                <c:pt idx="20">
                  <c:v>0.32426415094339645</c:v>
                </c:pt>
                <c:pt idx="21">
                  <c:v>0.28101886792452851</c:v>
                </c:pt>
                <c:pt idx="22">
                  <c:v>0.22752830188679257</c:v>
                </c:pt>
                <c:pt idx="23">
                  <c:v>0.21543137254901956</c:v>
                </c:pt>
                <c:pt idx="24">
                  <c:v>0.22145999999999996</c:v>
                </c:pt>
                <c:pt idx="25">
                  <c:v>0.22114583333333335</c:v>
                </c:pt>
                <c:pt idx="26">
                  <c:v>0.21838297872340418</c:v>
                </c:pt>
                <c:pt idx="27">
                  <c:v>0.21454347826086945</c:v>
                </c:pt>
                <c:pt idx="28">
                  <c:v>0.20784444444444444</c:v>
                </c:pt>
                <c:pt idx="29">
                  <c:v>0.19433333333333327</c:v>
                </c:pt>
                <c:pt idx="30">
                  <c:v>0.19220930232558125</c:v>
                </c:pt>
                <c:pt idx="31">
                  <c:v>0.18395000000000011</c:v>
                </c:pt>
                <c:pt idx="32">
                  <c:v>0.1836153846153846</c:v>
                </c:pt>
                <c:pt idx="33">
                  <c:v>0.17787179487179494</c:v>
                </c:pt>
                <c:pt idx="34">
                  <c:v>0.1606153846153846</c:v>
                </c:pt>
                <c:pt idx="35">
                  <c:v>0.15769444444444453</c:v>
                </c:pt>
                <c:pt idx="36">
                  <c:v>0.15674285714285707</c:v>
                </c:pt>
                <c:pt idx="37">
                  <c:v>0.14788235294117646</c:v>
                </c:pt>
                <c:pt idx="38">
                  <c:v>0.14462500000000003</c:v>
                </c:pt>
                <c:pt idx="39">
                  <c:v>0.14109677419354844</c:v>
                </c:pt>
                <c:pt idx="40">
                  <c:v>0.12626666666666664</c:v>
                </c:pt>
                <c:pt idx="41">
                  <c:v>0.12264285714285718</c:v>
                </c:pt>
                <c:pt idx="42">
                  <c:v>0.11915384615384618</c:v>
                </c:pt>
                <c:pt idx="43">
                  <c:v>0.12113636363636365</c:v>
                </c:pt>
                <c:pt idx="44">
                  <c:v>0.12194999999999998</c:v>
                </c:pt>
                <c:pt idx="45">
                  <c:v>0.1267058823529412</c:v>
                </c:pt>
                <c:pt idx="46">
                  <c:v>0.12381249999999998</c:v>
                </c:pt>
                <c:pt idx="47">
                  <c:v>0.12249999999999997</c:v>
                </c:pt>
                <c:pt idx="48">
                  <c:v>0.13169999999999998</c:v>
                </c:pt>
                <c:pt idx="49">
                  <c:v>0.12925</c:v>
                </c:pt>
                <c:pt idx="50">
                  <c:v>0.12162500000000001</c:v>
                </c:pt>
                <c:pt idx="51">
                  <c:v>0.12100000000000001</c:v>
                </c:pt>
                <c:pt idx="52">
                  <c:v>0.12157142857142858</c:v>
                </c:pt>
                <c:pt idx="53">
                  <c:v>0.114</c:v>
                </c:pt>
                <c:pt idx="54">
                  <c:v>0.10885714285714286</c:v>
                </c:pt>
                <c:pt idx="55">
                  <c:v>0.10371428571428572</c:v>
                </c:pt>
                <c:pt idx="56">
                  <c:v>0.10216666666666667</c:v>
                </c:pt>
                <c:pt idx="57">
                  <c:v>9.8999999999999991E-2</c:v>
                </c:pt>
                <c:pt idx="58">
                  <c:v>9.219999999999999E-2</c:v>
                </c:pt>
                <c:pt idx="59">
                  <c:v>8.3600000000000008E-2</c:v>
                </c:pt>
                <c:pt idx="60">
                  <c:v>7.5200000000000003E-2</c:v>
                </c:pt>
                <c:pt idx="61">
                  <c:v>6.8599999999999994E-2</c:v>
                </c:pt>
                <c:pt idx="62">
                  <c:v>6.5750000000000003E-2</c:v>
                </c:pt>
                <c:pt idx="63">
                  <c:v>6.3E-2</c:v>
                </c:pt>
                <c:pt idx="64">
                  <c:v>7.0000000000000007E-2</c:v>
                </c:pt>
                <c:pt idx="65">
                  <c:v>6.9000000000000006E-2</c:v>
                </c:pt>
                <c:pt idx="66">
                  <c:v>6.7000000000000004E-2</c:v>
                </c:pt>
                <c:pt idx="67">
                  <c:v>6.3E-2</c:v>
                </c:pt>
                <c:pt idx="68">
                  <c:v>6.0999999999999999E-2</c:v>
                </c:pt>
              </c:numCache>
            </c:numRef>
          </c:yVal>
          <c:smooth val="1"/>
          <c:extLst>
            <c:ext xmlns:c16="http://schemas.microsoft.com/office/drawing/2014/chart" uri="{C3380CC4-5D6E-409C-BE32-E72D297353CC}">
              <c16:uniqueId val="{00000001-6189-41D6-8CC9-004A0EA44765}"/>
            </c:ext>
          </c:extLst>
        </c:ser>
        <c:ser>
          <c:idx val="2"/>
          <c:order val="2"/>
          <c:tx>
            <c:strRef>
              <c:f>RAYONHAUTBR1BR2!$C$1</c:f>
              <c:strCache>
                <c:ptCount val="1"/>
                <c:pt idx="0">
                  <c:v>MOYENNE DONNEES BRANCHE2</c:v>
                </c:pt>
              </c:strCache>
            </c:strRef>
          </c:tx>
          <c:spPr>
            <a:ln w="19050" cap="rnd">
              <a:solidFill>
                <a:schemeClr val="accent6"/>
              </a:solidFill>
              <a:round/>
            </a:ln>
            <a:effectLst/>
          </c:spPr>
          <c:marker>
            <c:symbol val="none"/>
          </c:marker>
          <c:xVal>
            <c:numRef>
              <c:f>RAYONHAUTBR1BR2!$A$4:$CU$4</c:f>
              <c:numCache>
                <c:formatCode>General</c:formatCode>
                <c:ptCount val="99"/>
                <c:pt idx="0">
                  <c:v>99</c:v>
                </c:pt>
                <c:pt idx="1">
                  <c:v>98</c:v>
                </c:pt>
                <c:pt idx="2">
                  <c:v>97</c:v>
                </c:pt>
                <c:pt idx="3">
                  <c:v>96</c:v>
                </c:pt>
                <c:pt idx="4">
                  <c:v>95</c:v>
                </c:pt>
                <c:pt idx="5">
                  <c:v>94</c:v>
                </c:pt>
                <c:pt idx="6">
                  <c:v>93</c:v>
                </c:pt>
                <c:pt idx="7">
                  <c:v>92</c:v>
                </c:pt>
                <c:pt idx="8">
                  <c:v>91</c:v>
                </c:pt>
                <c:pt idx="9">
                  <c:v>90</c:v>
                </c:pt>
                <c:pt idx="10">
                  <c:v>89</c:v>
                </c:pt>
                <c:pt idx="11">
                  <c:v>88</c:v>
                </c:pt>
                <c:pt idx="12">
                  <c:v>87</c:v>
                </c:pt>
                <c:pt idx="13">
                  <c:v>86</c:v>
                </c:pt>
                <c:pt idx="14">
                  <c:v>85</c:v>
                </c:pt>
                <c:pt idx="15">
                  <c:v>84</c:v>
                </c:pt>
                <c:pt idx="16">
                  <c:v>83</c:v>
                </c:pt>
                <c:pt idx="17">
                  <c:v>82</c:v>
                </c:pt>
                <c:pt idx="18">
                  <c:v>81</c:v>
                </c:pt>
                <c:pt idx="19">
                  <c:v>80</c:v>
                </c:pt>
                <c:pt idx="20">
                  <c:v>79</c:v>
                </c:pt>
                <c:pt idx="21">
                  <c:v>78</c:v>
                </c:pt>
                <c:pt idx="22">
                  <c:v>77</c:v>
                </c:pt>
                <c:pt idx="23">
                  <c:v>76</c:v>
                </c:pt>
                <c:pt idx="24">
                  <c:v>75</c:v>
                </c:pt>
                <c:pt idx="25">
                  <c:v>74</c:v>
                </c:pt>
                <c:pt idx="26">
                  <c:v>73</c:v>
                </c:pt>
                <c:pt idx="27">
                  <c:v>72</c:v>
                </c:pt>
                <c:pt idx="28">
                  <c:v>71</c:v>
                </c:pt>
                <c:pt idx="29">
                  <c:v>70</c:v>
                </c:pt>
                <c:pt idx="30">
                  <c:v>69</c:v>
                </c:pt>
                <c:pt idx="31">
                  <c:v>68</c:v>
                </c:pt>
                <c:pt idx="32">
                  <c:v>67</c:v>
                </c:pt>
                <c:pt idx="33">
                  <c:v>66</c:v>
                </c:pt>
                <c:pt idx="34">
                  <c:v>65</c:v>
                </c:pt>
                <c:pt idx="35">
                  <c:v>64</c:v>
                </c:pt>
                <c:pt idx="36">
                  <c:v>63</c:v>
                </c:pt>
                <c:pt idx="37">
                  <c:v>62</c:v>
                </c:pt>
                <c:pt idx="38">
                  <c:v>61</c:v>
                </c:pt>
                <c:pt idx="39">
                  <c:v>60</c:v>
                </c:pt>
                <c:pt idx="40">
                  <c:v>59</c:v>
                </c:pt>
                <c:pt idx="41">
                  <c:v>58</c:v>
                </c:pt>
                <c:pt idx="42">
                  <c:v>57</c:v>
                </c:pt>
                <c:pt idx="43">
                  <c:v>56</c:v>
                </c:pt>
                <c:pt idx="44">
                  <c:v>55</c:v>
                </c:pt>
                <c:pt idx="45">
                  <c:v>54</c:v>
                </c:pt>
                <c:pt idx="46">
                  <c:v>53</c:v>
                </c:pt>
                <c:pt idx="47">
                  <c:v>52</c:v>
                </c:pt>
                <c:pt idx="48">
                  <c:v>51</c:v>
                </c:pt>
                <c:pt idx="49">
                  <c:v>50</c:v>
                </c:pt>
                <c:pt idx="50">
                  <c:v>49</c:v>
                </c:pt>
                <c:pt idx="51">
                  <c:v>48</c:v>
                </c:pt>
                <c:pt idx="52">
                  <c:v>47</c:v>
                </c:pt>
                <c:pt idx="53">
                  <c:v>46</c:v>
                </c:pt>
                <c:pt idx="54">
                  <c:v>45</c:v>
                </c:pt>
                <c:pt idx="55">
                  <c:v>44</c:v>
                </c:pt>
                <c:pt idx="56">
                  <c:v>43</c:v>
                </c:pt>
                <c:pt idx="57">
                  <c:v>42</c:v>
                </c:pt>
                <c:pt idx="58">
                  <c:v>41</c:v>
                </c:pt>
                <c:pt idx="59">
                  <c:v>40</c:v>
                </c:pt>
                <c:pt idx="60">
                  <c:v>39</c:v>
                </c:pt>
                <c:pt idx="61">
                  <c:v>38</c:v>
                </c:pt>
                <c:pt idx="62">
                  <c:v>37</c:v>
                </c:pt>
                <c:pt idx="63">
                  <c:v>36</c:v>
                </c:pt>
                <c:pt idx="64">
                  <c:v>35</c:v>
                </c:pt>
                <c:pt idx="65">
                  <c:v>34</c:v>
                </c:pt>
                <c:pt idx="66">
                  <c:v>33</c:v>
                </c:pt>
                <c:pt idx="67">
                  <c:v>32</c:v>
                </c:pt>
                <c:pt idx="68">
                  <c:v>31</c:v>
                </c:pt>
                <c:pt idx="69">
                  <c:v>30</c:v>
                </c:pt>
                <c:pt idx="70">
                  <c:v>29</c:v>
                </c:pt>
                <c:pt idx="71">
                  <c:v>28</c:v>
                </c:pt>
                <c:pt idx="72">
                  <c:v>27</c:v>
                </c:pt>
                <c:pt idx="73">
                  <c:v>26</c:v>
                </c:pt>
                <c:pt idx="74">
                  <c:v>25</c:v>
                </c:pt>
                <c:pt idx="75">
                  <c:v>24</c:v>
                </c:pt>
                <c:pt idx="76">
                  <c:v>23</c:v>
                </c:pt>
                <c:pt idx="77">
                  <c:v>22</c:v>
                </c:pt>
                <c:pt idx="78">
                  <c:v>21</c:v>
                </c:pt>
                <c:pt idx="79">
                  <c:v>20</c:v>
                </c:pt>
                <c:pt idx="80">
                  <c:v>19</c:v>
                </c:pt>
                <c:pt idx="81">
                  <c:v>18</c:v>
                </c:pt>
                <c:pt idx="82">
                  <c:v>17</c:v>
                </c:pt>
                <c:pt idx="83">
                  <c:v>16</c:v>
                </c:pt>
                <c:pt idx="84">
                  <c:v>15</c:v>
                </c:pt>
                <c:pt idx="85">
                  <c:v>14</c:v>
                </c:pt>
                <c:pt idx="86">
                  <c:v>13</c:v>
                </c:pt>
                <c:pt idx="87">
                  <c:v>12</c:v>
                </c:pt>
                <c:pt idx="88">
                  <c:v>11</c:v>
                </c:pt>
                <c:pt idx="89">
                  <c:v>10</c:v>
                </c:pt>
                <c:pt idx="90">
                  <c:v>9</c:v>
                </c:pt>
                <c:pt idx="91">
                  <c:v>8</c:v>
                </c:pt>
                <c:pt idx="92">
                  <c:v>7</c:v>
                </c:pt>
                <c:pt idx="93">
                  <c:v>6</c:v>
                </c:pt>
                <c:pt idx="94">
                  <c:v>5</c:v>
                </c:pt>
                <c:pt idx="95">
                  <c:v>4</c:v>
                </c:pt>
                <c:pt idx="96">
                  <c:v>3</c:v>
                </c:pt>
                <c:pt idx="97">
                  <c:v>2</c:v>
                </c:pt>
                <c:pt idx="98">
                  <c:v>1</c:v>
                </c:pt>
              </c:numCache>
            </c:numRef>
          </c:xVal>
          <c:yVal>
            <c:numRef>
              <c:f>RAYONHAUTBR1BR2!$A$6:$CU$6</c:f>
              <c:numCache>
                <c:formatCode>General</c:formatCode>
                <c:ptCount val="99"/>
                <c:pt idx="0">
                  <c:v>0.90600000000000025</c:v>
                </c:pt>
                <c:pt idx="1">
                  <c:v>0.89399999999999968</c:v>
                </c:pt>
                <c:pt idx="2">
                  <c:v>0.88200000000000001</c:v>
                </c:pt>
                <c:pt idx="3">
                  <c:v>0.86999999999999955</c:v>
                </c:pt>
                <c:pt idx="4">
                  <c:v>0.85799999999999932</c:v>
                </c:pt>
                <c:pt idx="5">
                  <c:v>0.8470000000000002</c:v>
                </c:pt>
                <c:pt idx="6">
                  <c:v>0.83500000000000008</c:v>
                </c:pt>
                <c:pt idx="7">
                  <c:v>0.82299999999999984</c:v>
                </c:pt>
                <c:pt idx="8">
                  <c:v>0.81100000000000039</c:v>
                </c:pt>
                <c:pt idx="9">
                  <c:v>0.76456626506024172</c:v>
                </c:pt>
                <c:pt idx="10">
                  <c:v>0.75812048192771053</c:v>
                </c:pt>
                <c:pt idx="11">
                  <c:v>0.74155421686746936</c:v>
                </c:pt>
                <c:pt idx="12">
                  <c:v>0.73312048192771018</c:v>
                </c:pt>
                <c:pt idx="13">
                  <c:v>0.71895180722891627</c:v>
                </c:pt>
                <c:pt idx="14">
                  <c:v>0.69867469879517974</c:v>
                </c:pt>
                <c:pt idx="15">
                  <c:v>0.69124096385542255</c:v>
                </c:pt>
                <c:pt idx="16">
                  <c:v>0.6808072289156627</c:v>
                </c:pt>
                <c:pt idx="17">
                  <c:v>0.67331325301204736</c:v>
                </c:pt>
                <c:pt idx="18">
                  <c:v>0.66550602409638582</c:v>
                </c:pt>
                <c:pt idx="19">
                  <c:v>0.65798795180722836</c:v>
                </c:pt>
                <c:pt idx="20">
                  <c:v>0.64636585365853583</c:v>
                </c:pt>
                <c:pt idx="21">
                  <c:v>0.6343780487804882</c:v>
                </c:pt>
                <c:pt idx="22">
                  <c:v>0.63291358024691402</c:v>
                </c:pt>
                <c:pt idx="23">
                  <c:v>0.62146913580246921</c:v>
                </c:pt>
                <c:pt idx="24">
                  <c:v>0.61991139240506377</c:v>
                </c:pt>
                <c:pt idx="25">
                  <c:v>0.61899999999999966</c:v>
                </c:pt>
                <c:pt idx="26">
                  <c:v>0.61148717948717879</c:v>
                </c:pt>
                <c:pt idx="27">
                  <c:v>0.60378205128205198</c:v>
                </c:pt>
                <c:pt idx="28">
                  <c:v>0.60381818181818281</c:v>
                </c:pt>
                <c:pt idx="29">
                  <c:v>0.59592207792207852</c:v>
                </c:pt>
                <c:pt idx="30">
                  <c:v>0.60979729729729726</c:v>
                </c:pt>
                <c:pt idx="31">
                  <c:v>0.57653424657534247</c:v>
                </c:pt>
                <c:pt idx="32">
                  <c:v>0.53956944444444443</c:v>
                </c:pt>
                <c:pt idx="33">
                  <c:v>0.53169014084507027</c:v>
                </c:pt>
                <c:pt idx="34">
                  <c:v>0.52515492957746446</c:v>
                </c:pt>
                <c:pt idx="35">
                  <c:v>0.52424285714285668</c:v>
                </c:pt>
                <c:pt idx="36">
                  <c:v>0.51685714285714335</c:v>
                </c:pt>
                <c:pt idx="37">
                  <c:v>0.50987142857142898</c:v>
                </c:pt>
                <c:pt idx="38">
                  <c:v>0.42899999999999955</c:v>
                </c:pt>
                <c:pt idx="39">
                  <c:v>0.41534782608695631</c:v>
                </c:pt>
                <c:pt idx="40">
                  <c:v>0.38845588235294093</c:v>
                </c:pt>
                <c:pt idx="41">
                  <c:v>0.38677611940298467</c:v>
                </c:pt>
                <c:pt idx="42">
                  <c:v>0.39729850746268608</c:v>
                </c:pt>
                <c:pt idx="43">
                  <c:v>0.38110447761194016</c:v>
                </c:pt>
                <c:pt idx="44">
                  <c:v>0.3781666666666671</c:v>
                </c:pt>
                <c:pt idx="45">
                  <c:v>0.37793750000000004</c:v>
                </c:pt>
                <c:pt idx="46">
                  <c:v>0.36992187499999957</c:v>
                </c:pt>
                <c:pt idx="47">
                  <c:v>0.35729687499999996</c:v>
                </c:pt>
                <c:pt idx="48">
                  <c:v>0.34971428571428603</c:v>
                </c:pt>
                <c:pt idx="49">
                  <c:v>0.32666666666666694</c:v>
                </c:pt>
                <c:pt idx="50">
                  <c:v>0.30887096774193551</c:v>
                </c:pt>
                <c:pt idx="51">
                  <c:v>0.31571929824561396</c:v>
                </c:pt>
                <c:pt idx="52">
                  <c:v>0.28994642857142827</c:v>
                </c:pt>
                <c:pt idx="53">
                  <c:v>0.27830909090909101</c:v>
                </c:pt>
                <c:pt idx="54">
                  <c:v>0.25589090909090922</c:v>
                </c:pt>
                <c:pt idx="55">
                  <c:v>0.25396226415094353</c:v>
                </c:pt>
                <c:pt idx="56">
                  <c:v>0.24826415094339624</c:v>
                </c:pt>
                <c:pt idx="57">
                  <c:v>0.23513461538461522</c:v>
                </c:pt>
                <c:pt idx="58">
                  <c:v>0.23334693877551038</c:v>
                </c:pt>
                <c:pt idx="59">
                  <c:v>0.23604347826086949</c:v>
                </c:pt>
                <c:pt idx="60">
                  <c:v>0.21918181818181817</c:v>
                </c:pt>
                <c:pt idx="61">
                  <c:v>0.20856818181818185</c:v>
                </c:pt>
                <c:pt idx="62">
                  <c:v>0.20951282051282044</c:v>
                </c:pt>
                <c:pt idx="63">
                  <c:v>0.2214705882352942</c:v>
                </c:pt>
                <c:pt idx="64">
                  <c:v>0.22024242424242418</c:v>
                </c:pt>
                <c:pt idx="65">
                  <c:v>0.22437931034482761</c:v>
                </c:pt>
                <c:pt idx="66">
                  <c:v>0.2323076923076923</c:v>
                </c:pt>
                <c:pt idx="67">
                  <c:v>0.21760000000000004</c:v>
                </c:pt>
                <c:pt idx="68">
                  <c:v>0.2177272727272728</c:v>
                </c:pt>
                <c:pt idx="69">
                  <c:v>0.17788235294117641</c:v>
                </c:pt>
                <c:pt idx="70">
                  <c:v>0.17809090909090913</c:v>
                </c:pt>
                <c:pt idx="71">
                  <c:v>0.17199999999999999</c:v>
                </c:pt>
                <c:pt idx="72">
                  <c:v>0.15689999999999998</c:v>
                </c:pt>
                <c:pt idx="73">
                  <c:v>0.1535</c:v>
                </c:pt>
                <c:pt idx="74">
                  <c:v>0.15686666666666665</c:v>
                </c:pt>
                <c:pt idx="75">
                  <c:v>0.15923076923076926</c:v>
                </c:pt>
                <c:pt idx="76">
                  <c:v>0.17027272727272724</c:v>
                </c:pt>
                <c:pt idx="77">
                  <c:v>0.15427272727272731</c:v>
                </c:pt>
                <c:pt idx="78">
                  <c:v>0.14990909090909091</c:v>
                </c:pt>
                <c:pt idx="79">
                  <c:v>0.14690909090909093</c:v>
                </c:pt>
                <c:pt idx="80">
                  <c:v>0.14363636363636367</c:v>
                </c:pt>
                <c:pt idx="81">
                  <c:v>0.17428571428571432</c:v>
                </c:pt>
                <c:pt idx="82">
                  <c:v>0.16885714285714282</c:v>
                </c:pt>
                <c:pt idx="83">
                  <c:v>0.16414285714285715</c:v>
                </c:pt>
                <c:pt idx="84">
                  <c:v>0.15928571428571428</c:v>
                </c:pt>
                <c:pt idx="85">
                  <c:v>0.15457142857142858</c:v>
                </c:pt>
                <c:pt idx="86">
                  <c:v>0.14714285714285716</c:v>
                </c:pt>
                <c:pt idx="87">
                  <c:v>0.13914285714285715</c:v>
                </c:pt>
                <c:pt idx="88">
                  <c:v>0.12657142857142858</c:v>
                </c:pt>
                <c:pt idx="89">
                  <c:v>0.122</c:v>
                </c:pt>
                <c:pt idx="90">
                  <c:v>0.10928571428571429</c:v>
                </c:pt>
                <c:pt idx="91">
                  <c:v>0.10342857142857144</c:v>
                </c:pt>
                <c:pt idx="92">
                  <c:v>0.1022</c:v>
                </c:pt>
                <c:pt idx="93">
                  <c:v>0.10100000000000001</c:v>
                </c:pt>
                <c:pt idx="94">
                  <c:v>9.6750000000000003E-2</c:v>
                </c:pt>
                <c:pt idx="95">
                  <c:v>9.5999999999999988E-2</c:v>
                </c:pt>
                <c:pt idx="96">
                  <c:v>0.104</c:v>
                </c:pt>
                <c:pt idx="97">
                  <c:v>0.1</c:v>
                </c:pt>
                <c:pt idx="98">
                  <c:v>9.6000000000000002E-2</c:v>
                </c:pt>
              </c:numCache>
            </c:numRef>
          </c:yVal>
          <c:smooth val="1"/>
          <c:extLst>
            <c:ext xmlns:c16="http://schemas.microsoft.com/office/drawing/2014/chart" uri="{C3380CC4-5D6E-409C-BE32-E72D297353CC}">
              <c16:uniqueId val="{00000002-6189-41D6-8CC9-004A0EA44765}"/>
            </c:ext>
          </c:extLst>
        </c:ser>
        <c:dLbls>
          <c:showLegendKey val="0"/>
          <c:showVal val="0"/>
          <c:showCatName val="0"/>
          <c:showSerName val="0"/>
          <c:showPercent val="0"/>
          <c:showBubbleSize val="0"/>
        </c:dLbls>
        <c:axId val="516532048"/>
        <c:axId val="516529328"/>
      </c:scatterChart>
      <c:valAx>
        <c:axId val="51653204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a:t>AGE CHRONOLOGIQUE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516529328"/>
        <c:crosses val="autoZero"/>
        <c:crossBetween val="midCat"/>
      </c:valAx>
      <c:valAx>
        <c:axId val="516529328"/>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a:t>LONGUEUR</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516532048"/>
        <c:crosses val="autoZero"/>
        <c:crossBetween val="midCat"/>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a:t>FREQUENCE DE L'ANGLE "#" PAR CLASSE DE LONGUEUR</a:t>
            </a:r>
            <a:r>
              <a:rPr lang="fr-FR" baseline="0"/>
              <a:t> 5°</a:t>
            </a:r>
            <a:endParaRPr lang="fr-F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barChart>
        <c:barDir val="col"/>
        <c:grouping val="stacked"/>
        <c:varyColors val="0"/>
        <c:ser>
          <c:idx val="0"/>
          <c:order val="0"/>
          <c:tx>
            <c:v>FREQUENCE BRANCHE 1</c:v>
          </c:tx>
          <c:spPr>
            <a:solidFill>
              <a:schemeClr val="accent1"/>
            </a:solidFill>
            <a:ln>
              <a:noFill/>
            </a:ln>
            <a:effectLst/>
          </c:spPr>
          <c:invertIfNegative val="0"/>
          <c:cat>
            <c:strRef>
              <c:f>'#BR1BR2'!$B$6:$B$22</c:f>
              <c:strCache>
                <c:ptCount val="17"/>
                <c:pt idx="0">
                  <c:v>moin de 5</c:v>
                </c:pt>
                <c:pt idx="1">
                  <c:v>[5,10[</c:v>
                </c:pt>
                <c:pt idx="2">
                  <c:v>[10,15[</c:v>
                </c:pt>
                <c:pt idx="3">
                  <c:v>[15,20[</c:v>
                </c:pt>
                <c:pt idx="4">
                  <c:v>[20,25[</c:v>
                </c:pt>
                <c:pt idx="5">
                  <c:v>[25,30[</c:v>
                </c:pt>
                <c:pt idx="6">
                  <c:v>[30,35[</c:v>
                </c:pt>
                <c:pt idx="7">
                  <c:v>[35,40[</c:v>
                </c:pt>
                <c:pt idx="8">
                  <c:v>[40,45[</c:v>
                </c:pt>
                <c:pt idx="9">
                  <c:v>[45,50[</c:v>
                </c:pt>
                <c:pt idx="10">
                  <c:v>[50,55[</c:v>
                </c:pt>
                <c:pt idx="11">
                  <c:v>[55,60[</c:v>
                </c:pt>
                <c:pt idx="12">
                  <c:v>[60,65[</c:v>
                </c:pt>
                <c:pt idx="13">
                  <c:v>[65,70[</c:v>
                </c:pt>
                <c:pt idx="14">
                  <c:v>[70,75[</c:v>
                </c:pt>
                <c:pt idx="15">
                  <c:v>[75,80[</c:v>
                </c:pt>
                <c:pt idx="16">
                  <c:v>plus que 80</c:v>
                </c:pt>
              </c:strCache>
            </c:strRef>
          </c:cat>
          <c:val>
            <c:numRef>
              <c:f>'#BR1BR2'!$C$6:$C$22</c:f>
              <c:numCache>
                <c:formatCode>General</c:formatCode>
                <c:ptCount val="17"/>
                <c:pt idx="0">
                  <c:v>1</c:v>
                </c:pt>
                <c:pt idx="1">
                  <c:v>0</c:v>
                </c:pt>
                <c:pt idx="2">
                  <c:v>2</c:v>
                </c:pt>
                <c:pt idx="3">
                  <c:v>4</c:v>
                </c:pt>
                <c:pt idx="4">
                  <c:v>1</c:v>
                </c:pt>
                <c:pt idx="5">
                  <c:v>8</c:v>
                </c:pt>
                <c:pt idx="6">
                  <c:v>7</c:v>
                </c:pt>
                <c:pt idx="7">
                  <c:v>5</c:v>
                </c:pt>
                <c:pt idx="8">
                  <c:v>5</c:v>
                </c:pt>
                <c:pt idx="9">
                  <c:v>1</c:v>
                </c:pt>
                <c:pt idx="10">
                  <c:v>1</c:v>
                </c:pt>
                <c:pt idx="11">
                  <c:v>0</c:v>
                </c:pt>
                <c:pt idx="12">
                  <c:v>0</c:v>
                </c:pt>
                <c:pt idx="13">
                  <c:v>1</c:v>
                </c:pt>
                <c:pt idx="14">
                  <c:v>0</c:v>
                </c:pt>
                <c:pt idx="15">
                  <c:v>0</c:v>
                </c:pt>
                <c:pt idx="16">
                  <c:v>1</c:v>
                </c:pt>
              </c:numCache>
            </c:numRef>
          </c:val>
          <c:extLst>
            <c:ext xmlns:c16="http://schemas.microsoft.com/office/drawing/2014/chart" uri="{C3380CC4-5D6E-409C-BE32-E72D297353CC}">
              <c16:uniqueId val="{00000000-C802-4436-A2DF-E112672D70DF}"/>
            </c:ext>
          </c:extLst>
        </c:ser>
        <c:ser>
          <c:idx val="1"/>
          <c:order val="1"/>
          <c:tx>
            <c:v>FREQUENCE BRANCHE 2</c:v>
          </c:tx>
          <c:spPr>
            <a:solidFill>
              <a:schemeClr val="accent2"/>
            </a:solidFill>
            <a:ln>
              <a:noFill/>
            </a:ln>
            <a:effectLst/>
          </c:spPr>
          <c:invertIfNegative val="0"/>
          <c:cat>
            <c:strRef>
              <c:f>'#BR1BR2'!$B$6:$B$22</c:f>
              <c:strCache>
                <c:ptCount val="17"/>
                <c:pt idx="0">
                  <c:v>moin de 5</c:v>
                </c:pt>
                <c:pt idx="1">
                  <c:v>[5,10[</c:v>
                </c:pt>
                <c:pt idx="2">
                  <c:v>[10,15[</c:v>
                </c:pt>
                <c:pt idx="3">
                  <c:v>[15,20[</c:v>
                </c:pt>
                <c:pt idx="4">
                  <c:v>[20,25[</c:v>
                </c:pt>
                <c:pt idx="5">
                  <c:v>[25,30[</c:v>
                </c:pt>
                <c:pt idx="6">
                  <c:v>[30,35[</c:v>
                </c:pt>
                <c:pt idx="7">
                  <c:v>[35,40[</c:v>
                </c:pt>
                <c:pt idx="8">
                  <c:v>[40,45[</c:v>
                </c:pt>
                <c:pt idx="9">
                  <c:v>[45,50[</c:v>
                </c:pt>
                <c:pt idx="10">
                  <c:v>[50,55[</c:v>
                </c:pt>
                <c:pt idx="11">
                  <c:v>[55,60[</c:v>
                </c:pt>
                <c:pt idx="12">
                  <c:v>[60,65[</c:v>
                </c:pt>
                <c:pt idx="13">
                  <c:v>[65,70[</c:v>
                </c:pt>
                <c:pt idx="14">
                  <c:v>[70,75[</c:v>
                </c:pt>
                <c:pt idx="15">
                  <c:v>[75,80[</c:v>
                </c:pt>
                <c:pt idx="16">
                  <c:v>plus que 80</c:v>
                </c:pt>
              </c:strCache>
            </c:strRef>
          </c:cat>
          <c:val>
            <c:numRef>
              <c:f>'#BR1BR2'!$D$6:$D$22</c:f>
              <c:numCache>
                <c:formatCode>General</c:formatCode>
                <c:ptCount val="17"/>
                <c:pt idx="0">
                  <c:v>0</c:v>
                </c:pt>
                <c:pt idx="1">
                  <c:v>1</c:v>
                </c:pt>
                <c:pt idx="2">
                  <c:v>3</c:v>
                </c:pt>
                <c:pt idx="3">
                  <c:v>4</c:v>
                </c:pt>
                <c:pt idx="4">
                  <c:v>3</c:v>
                </c:pt>
                <c:pt idx="5">
                  <c:v>4</c:v>
                </c:pt>
                <c:pt idx="6">
                  <c:v>3</c:v>
                </c:pt>
                <c:pt idx="7">
                  <c:v>1</c:v>
                </c:pt>
                <c:pt idx="8">
                  <c:v>2</c:v>
                </c:pt>
                <c:pt idx="9">
                  <c:v>3</c:v>
                </c:pt>
                <c:pt idx="10">
                  <c:v>4</c:v>
                </c:pt>
                <c:pt idx="11">
                  <c:v>3</c:v>
                </c:pt>
                <c:pt idx="12">
                  <c:v>2</c:v>
                </c:pt>
                <c:pt idx="13">
                  <c:v>0</c:v>
                </c:pt>
                <c:pt idx="14">
                  <c:v>1</c:v>
                </c:pt>
                <c:pt idx="15">
                  <c:v>2</c:v>
                </c:pt>
                <c:pt idx="16">
                  <c:v>1</c:v>
                </c:pt>
              </c:numCache>
            </c:numRef>
          </c:val>
          <c:extLst>
            <c:ext xmlns:c16="http://schemas.microsoft.com/office/drawing/2014/chart" uri="{C3380CC4-5D6E-409C-BE32-E72D297353CC}">
              <c16:uniqueId val="{00000001-C802-4436-A2DF-E112672D70DF}"/>
            </c:ext>
          </c:extLst>
        </c:ser>
        <c:dLbls>
          <c:showLegendKey val="0"/>
          <c:showVal val="0"/>
          <c:showCatName val="0"/>
          <c:showSerName val="0"/>
          <c:showPercent val="0"/>
          <c:showBubbleSize val="0"/>
        </c:dLbls>
        <c:gapWidth val="150"/>
        <c:overlap val="100"/>
        <c:axId val="516524976"/>
        <c:axId val="516526064"/>
      </c:barChart>
      <c:catAx>
        <c:axId val="5165249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516526064"/>
        <c:crosses val="autoZero"/>
        <c:auto val="1"/>
        <c:lblAlgn val="ctr"/>
        <c:lblOffset val="100"/>
        <c:noMultiLvlLbl val="0"/>
      </c:catAx>
      <c:valAx>
        <c:axId val="5165260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5165249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sz="1800" b="0" i="0" baseline="0">
                <a:effectLst/>
              </a:rPr>
              <a:t>NUAGE DE L’ANGLE MOYEN « #» (ANGLE DE BRANCHEMENT) AU LONG DES 69 ITERATIONS (BRANCHE1)</a:t>
            </a:r>
            <a:endParaRPr lang="fr-FR">
              <a:effectLst/>
            </a:endParaRPr>
          </a:p>
        </c:rich>
      </c:tx>
      <c:layout>
        <c:manualLayout>
          <c:xMode val="edge"/>
          <c:yMode val="edge"/>
          <c:x val="0.11794514235338903"/>
          <c:y val="2.7171271927277574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scatterChart>
        <c:scatterStyle val="lineMarker"/>
        <c:varyColors val="0"/>
        <c:ser>
          <c:idx val="0"/>
          <c:order val="0"/>
          <c:tx>
            <c:v>MOYENNE DONNEES</c:v>
          </c:tx>
          <c:spPr>
            <a:ln w="28575" cap="rnd">
              <a:noFill/>
              <a:round/>
            </a:ln>
            <a:effectLst/>
          </c:spPr>
          <c:marker>
            <c:symbol val="circle"/>
            <c:size val="5"/>
            <c:spPr>
              <a:solidFill>
                <a:schemeClr val="accent1"/>
              </a:solidFill>
              <a:ln w="9525">
                <a:solidFill>
                  <a:schemeClr val="accent1"/>
                </a:solidFill>
              </a:ln>
              <a:effectLst/>
            </c:spPr>
          </c:marker>
          <c:xVal>
            <c:numRef>
              <c:f>'br1#'!$E$4:$AO$4</c:f>
              <c:numCache>
                <c:formatCode>General</c:formatCode>
                <c:ptCount val="37"/>
                <c:pt idx="0">
                  <c:v>6</c:v>
                </c:pt>
                <c:pt idx="1">
                  <c:v>12</c:v>
                </c:pt>
                <c:pt idx="2">
                  <c:v>17</c:v>
                </c:pt>
                <c:pt idx="3">
                  <c:v>20</c:v>
                </c:pt>
                <c:pt idx="4">
                  <c:v>21</c:v>
                </c:pt>
                <c:pt idx="5">
                  <c:v>22</c:v>
                </c:pt>
                <c:pt idx="6">
                  <c:v>23</c:v>
                </c:pt>
                <c:pt idx="7">
                  <c:v>24</c:v>
                </c:pt>
                <c:pt idx="8">
                  <c:v>25</c:v>
                </c:pt>
                <c:pt idx="9">
                  <c:v>26</c:v>
                </c:pt>
                <c:pt idx="10">
                  <c:v>28</c:v>
                </c:pt>
                <c:pt idx="11">
                  <c:v>29</c:v>
                </c:pt>
                <c:pt idx="12">
                  <c:v>30</c:v>
                </c:pt>
                <c:pt idx="13">
                  <c:v>31</c:v>
                </c:pt>
                <c:pt idx="14">
                  <c:v>32</c:v>
                </c:pt>
                <c:pt idx="15">
                  <c:v>34</c:v>
                </c:pt>
                <c:pt idx="16">
                  <c:v>35</c:v>
                </c:pt>
                <c:pt idx="17">
                  <c:v>36</c:v>
                </c:pt>
                <c:pt idx="18">
                  <c:v>37</c:v>
                </c:pt>
                <c:pt idx="19">
                  <c:v>38</c:v>
                </c:pt>
                <c:pt idx="20">
                  <c:v>39</c:v>
                </c:pt>
                <c:pt idx="21">
                  <c:v>40</c:v>
                </c:pt>
                <c:pt idx="22">
                  <c:v>41</c:v>
                </c:pt>
                <c:pt idx="23">
                  <c:v>42</c:v>
                </c:pt>
                <c:pt idx="24">
                  <c:v>43</c:v>
                </c:pt>
                <c:pt idx="25">
                  <c:v>44</c:v>
                </c:pt>
                <c:pt idx="26">
                  <c:v>45</c:v>
                </c:pt>
                <c:pt idx="27">
                  <c:v>48</c:v>
                </c:pt>
                <c:pt idx="28">
                  <c:v>50</c:v>
                </c:pt>
                <c:pt idx="29">
                  <c:v>51</c:v>
                </c:pt>
                <c:pt idx="30">
                  <c:v>52</c:v>
                </c:pt>
                <c:pt idx="31">
                  <c:v>54</c:v>
                </c:pt>
                <c:pt idx="32">
                  <c:v>58</c:v>
                </c:pt>
                <c:pt idx="33">
                  <c:v>60</c:v>
                </c:pt>
                <c:pt idx="34">
                  <c:v>61</c:v>
                </c:pt>
                <c:pt idx="35">
                  <c:v>62</c:v>
                </c:pt>
                <c:pt idx="36">
                  <c:v>63</c:v>
                </c:pt>
              </c:numCache>
            </c:numRef>
          </c:xVal>
          <c:yVal>
            <c:numRef>
              <c:f>'br1#'!$E$5:$AO$5</c:f>
              <c:numCache>
                <c:formatCode>General</c:formatCode>
                <c:ptCount val="37"/>
                <c:pt idx="0">
                  <c:v>25</c:v>
                </c:pt>
                <c:pt idx="1">
                  <c:v>30</c:v>
                </c:pt>
                <c:pt idx="2">
                  <c:v>45</c:v>
                </c:pt>
                <c:pt idx="3">
                  <c:v>30</c:v>
                </c:pt>
                <c:pt idx="4">
                  <c:v>18.833333333333332</c:v>
                </c:pt>
                <c:pt idx="5">
                  <c:v>43.53846153846154</c:v>
                </c:pt>
                <c:pt idx="6">
                  <c:v>32</c:v>
                </c:pt>
                <c:pt idx="7">
                  <c:v>36.5</c:v>
                </c:pt>
                <c:pt idx="8">
                  <c:v>26.285714285714285</c:v>
                </c:pt>
                <c:pt idx="9">
                  <c:v>13</c:v>
                </c:pt>
                <c:pt idx="10">
                  <c:v>140</c:v>
                </c:pt>
                <c:pt idx="11">
                  <c:v>50</c:v>
                </c:pt>
                <c:pt idx="12">
                  <c:v>68.75</c:v>
                </c:pt>
                <c:pt idx="13">
                  <c:v>22</c:v>
                </c:pt>
                <c:pt idx="14">
                  <c:v>37.25</c:v>
                </c:pt>
                <c:pt idx="15">
                  <c:v>27.2</c:v>
                </c:pt>
                <c:pt idx="16">
                  <c:v>42.555555555555557</c:v>
                </c:pt>
                <c:pt idx="17">
                  <c:v>30</c:v>
                </c:pt>
                <c:pt idx="18">
                  <c:v>37</c:v>
                </c:pt>
                <c:pt idx="19">
                  <c:v>35.75</c:v>
                </c:pt>
                <c:pt idx="20">
                  <c:v>43</c:v>
                </c:pt>
                <c:pt idx="21">
                  <c:v>30.666666666666668</c:v>
                </c:pt>
                <c:pt idx="22">
                  <c:v>29.25</c:v>
                </c:pt>
                <c:pt idx="23">
                  <c:v>40.75</c:v>
                </c:pt>
                <c:pt idx="24">
                  <c:v>27.5</c:v>
                </c:pt>
                <c:pt idx="25">
                  <c:v>31</c:v>
                </c:pt>
                <c:pt idx="26">
                  <c:v>25</c:v>
                </c:pt>
                <c:pt idx="27">
                  <c:v>15</c:v>
                </c:pt>
                <c:pt idx="28">
                  <c:v>11</c:v>
                </c:pt>
                <c:pt idx="29">
                  <c:v>36</c:v>
                </c:pt>
                <c:pt idx="30">
                  <c:v>16</c:v>
                </c:pt>
                <c:pt idx="31">
                  <c:v>40</c:v>
                </c:pt>
                <c:pt idx="32">
                  <c:v>27</c:v>
                </c:pt>
                <c:pt idx="33">
                  <c:v>34</c:v>
                </c:pt>
                <c:pt idx="34">
                  <c:v>27</c:v>
                </c:pt>
                <c:pt idx="35">
                  <c:v>2</c:v>
                </c:pt>
                <c:pt idx="36">
                  <c:v>18</c:v>
                </c:pt>
              </c:numCache>
            </c:numRef>
          </c:yVal>
          <c:smooth val="0"/>
          <c:extLst>
            <c:ext xmlns:c16="http://schemas.microsoft.com/office/drawing/2014/chart" uri="{C3380CC4-5D6E-409C-BE32-E72D297353CC}">
              <c16:uniqueId val="{00000000-6BC5-4C34-B65A-81A50FC3A907}"/>
            </c:ext>
          </c:extLst>
        </c:ser>
        <c:ser>
          <c:idx val="1"/>
          <c:order val="1"/>
          <c:tx>
            <c:v>EXEMPLE VALEUR CALCULER PAR LE MODEL</c:v>
          </c:tx>
          <c:spPr>
            <a:ln w="25400" cap="rnd">
              <a:noFill/>
              <a:round/>
            </a:ln>
            <a:effectLst/>
          </c:spPr>
          <c:marker>
            <c:symbol val="circle"/>
            <c:size val="5"/>
            <c:spPr>
              <a:solidFill>
                <a:schemeClr val="accent2"/>
              </a:solidFill>
              <a:ln w="9525">
                <a:solidFill>
                  <a:schemeClr val="accent2"/>
                </a:solidFill>
              </a:ln>
              <a:effectLst/>
            </c:spPr>
          </c:marker>
          <c:xVal>
            <c:numRef>
              <c:f>'br1#'!$E$4:$AO$4</c:f>
              <c:numCache>
                <c:formatCode>General</c:formatCode>
                <c:ptCount val="37"/>
                <c:pt idx="0">
                  <c:v>6</c:v>
                </c:pt>
                <c:pt idx="1">
                  <c:v>12</c:v>
                </c:pt>
                <c:pt idx="2">
                  <c:v>17</c:v>
                </c:pt>
                <c:pt idx="3">
                  <c:v>20</c:v>
                </c:pt>
                <c:pt idx="4">
                  <c:v>21</c:v>
                </c:pt>
                <c:pt idx="5">
                  <c:v>22</c:v>
                </c:pt>
                <c:pt idx="6">
                  <c:v>23</c:v>
                </c:pt>
                <c:pt idx="7">
                  <c:v>24</c:v>
                </c:pt>
                <c:pt idx="8">
                  <c:v>25</c:v>
                </c:pt>
                <c:pt idx="9">
                  <c:v>26</c:v>
                </c:pt>
                <c:pt idx="10">
                  <c:v>28</c:v>
                </c:pt>
                <c:pt idx="11">
                  <c:v>29</c:v>
                </c:pt>
                <c:pt idx="12">
                  <c:v>30</c:v>
                </c:pt>
                <c:pt idx="13">
                  <c:v>31</c:v>
                </c:pt>
                <c:pt idx="14">
                  <c:v>32</c:v>
                </c:pt>
                <c:pt idx="15">
                  <c:v>34</c:v>
                </c:pt>
                <c:pt idx="16">
                  <c:v>35</c:v>
                </c:pt>
                <c:pt idx="17">
                  <c:v>36</c:v>
                </c:pt>
                <c:pt idx="18">
                  <c:v>37</c:v>
                </c:pt>
                <c:pt idx="19">
                  <c:v>38</c:v>
                </c:pt>
                <c:pt idx="20">
                  <c:v>39</c:v>
                </c:pt>
                <c:pt idx="21">
                  <c:v>40</c:v>
                </c:pt>
                <c:pt idx="22">
                  <c:v>41</c:v>
                </c:pt>
                <c:pt idx="23">
                  <c:v>42</c:v>
                </c:pt>
                <c:pt idx="24">
                  <c:v>43</c:v>
                </c:pt>
                <c:pt idx="25">
                  <c:v>44</c:v>
                </c:pt>
                <c:pt idx="26">
                  <c:v>45</c:v>
                </c:pt>
                <c:pt idx="27">
                  <c:v>48</c:v>
                </c:pt>
                <c:pt idx="28">
                  <c:v>50</c:v>
                </c:pt>
                <c:pt idx="29">
                  <c:v>51</c:v>
                </c:pt>
                <c:pt idx="30">
                  <c:v>52</c:v>
                </c:pt>
                <c:pt idx="31">
                  <c:v>54</c:v>
                </c:pt>
                <c:pt idx="32">
                  <c:v>58</c:v>
                </c:pt>
                <c:pt idx="33">
                  <c:v>60</c:v>
                </c:pt>
                <c:pt idx="34">
                  <c:v>61</c:v>
                </c:pt>
                <c:pt idx="35">
                  <c:v>62</c:v>
                </c:pt>
                <c:pt idx="36">
                  <c:v>63</c:v>
                </c:pt>
              </c:numCache>
            </c:numRef>
          </c:xVal>
          <c:yVal>
            <c:numRef>
              <c:f>'br1#'!$E$6:$AO$6</c:f>
              <c:numCache>
                <c:formatCode>General</c:formatCode>
                <c:ptCount val="37"/>
                <c:pt idx="0">
                  <c:v>36.811213307427558</c:v>
                </c:pt>
                <c:pt idx="1">
                  <c:v>24.973692156321832</c:v>
                </c:pt>
                <c:pt idx="2">
                  <c:v>58.830037045799187</c:v>
                </c:pt>
                <c:pt idx="3">
                  <c:v>42.156562531093826</c:v>
                </c:pt>
                <c:pt idx="4">
                  <c:v>26.323497367643022</c:v>
                </c:pt>
                <c:pt idx="5">
                  <c:v>23.4072589964501</c:v>
                </c:pt>
                <c:pt idx="6">
                  <c:v>42.331749422275514</c:v>
                </c:pt>
                <c:pt idx="7">
                  <c:v>17.294773462083388</c:v>
                </c:pt>
                <c:pt idx="8">
                  <c:v>13.272705173566624</c:v>
                </c:pt>
                <c:pt idx="9">
                  <c:v>36.128906969525644</c:v>
                </c:pt>
                <c:pt idx="10">
                  <c:v>45.235799187214162</c:v>
                </c:pt>
                <c:pt idx="11">
                  <c:v>36.183271113336303</c:v>
                </c:pt>
                <c:pt idx="12">
                  <c:v>22.218288360491037</c:v>
                </c:pt>
                <c:pt idx="13">
                  <c:v>69.497920357619122</c:v>
                </c:pt>
                <c:pt idx="14">
                  <c:v>14.315942209436933</c:v>
                </c:pt>
                <c:pt idx="15">
                  <c:v>31.214821944890531</c:v>
                </c:pt>
                <c:pt idx="16">
                  <c:v>45.776614131198883</c:v>
                </c:pt>
                <c:pt idx="17">
                  <c:v>40.16657303708827</c:v>
                </c:pt>
                <c:pt idx="18">
                  <c:v>33.268867142814017</c:v>
                </c:pt>
                <c:pt idx="19">
                  <c:v>29.28407500491323</c:v>
                </c:pt>
                <c:pt idx="20">
                  <c:v>18.968768370620779</c:v>
                </c:pt>
                <c:pt idx="21">
                  <c:v>26.90619336914672</c:v>
                </c:pt>
                <c:pt idx="22">
                  <c:v>38.67265783165697</c:v>
                </c:pt>
                <c:pt idx="23">
                  <c:v>41.964020985775832</c:v>
                </c:pt>
                <c:pt idx="24">
                  <c:v>31.557926976553798</c:v>
                </c:pt>
                <c:pt idx="25">
                  <c:v>36.136076759518545</c:v>
                </c:pt>
                <c:pt idx="26">
                  <c:v>20.388269013650905</c:v>
                </c:pt>
                <c:pt idx="27">
                  <c:v>12.645607780909582</c:v>
                </c:pt>
                <c:pt idx="28">
                  <c:v>34.267647014791571</c:v>
                </c:pt>
                <c:pt idx="29">
                  <c:v>44.657722580316545</c:v>
                </c:pt>
                <c:pt idx="30">
                  <c:v>4.5310472970183184</c:v>
                </c:pt>
                <c:pt idx="31">
                  <c:v>38.71301616374339</c:v>
                </c:pt>
                <c:pt idx="32">
                  <c:v>23.146492690905148</c:v>
                </c:pt>
                <c:pt idx="33">
                  <c:v>17.539765718086443</c:v>
                </c:pt>
                <c:pt idx="34">
                  <c:v>21.675843991615405</c:v>
                </c:pt>
                <c:pt idx="35">
                  <c:v>39.644309356444246</c:v>
                </c:pt>
                <c:pt idx="36">
                  <c:v>37.813972727776914</c:v>
                </c:pt>
              </c:numCache>
            </c:numRef>
          </c:yVal>
          <c:smooth val="0"/>
          <c:extLst>
            <c:ext xmlns:c16="http://schemas.microsoft.com/office/drawing/2014/chart" uri="{C3380CC4-5D6E-409C-BE32-E72D297353CC}">
              <c16:uniqueId val="{00000001-6BC5-4C34-B65A-81A50FC3A907}"/>
            </c:ext>
          </c:extLst>
        </c:ser>
        <c:dLbls>
          <c:showLegendKey val="0"/>
          <c:showVal val="0"/>
          <c:showCatName val="0"/>
          <c:showSerName val="0"/>
          <c:showPercent val="0"/>
          <c:showBubbleSize val="0"/>
        </c:dLbls>
        <c:axId val="516522800"/>
        <c:axId val="516518448"/>
      </c:scatterChart>
      <c:valAx>
        <c:axId val="51652280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516518448"/>
        <c:crosses val="autoZero"/>
        <c:crossBetween val="midCat"/>
      </c:valAx>
      <c:valAx>
        <c:axId val="5165184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516522800"/>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a:defRPr sz="1400" b="0" i="0" u="none" strike="noStrike" kern="1200" spc="0" baseline="0">
                <a:solidFill>
                  <a:schemeClr val="tx1">
                    <a:lumMod val="65000"/>
                    <a:lumOff val="35000"/>
                  </a:schemeClr>
                </a:solidFill>
                <a:latin typeface="+mn-lt"/>
                <a:ea typeface="+mn-ea"/>
                <a:cs typeface="+mn-cs"/>
              </a:defRPr>
            </a:pPr>
            <a:r>
              <a:rPr lang="fr-FR" sz="1800" b="0" i="0" baseline="0">
                <a:effectLst/>
              </a:rPr>
              <a:t>NUAGE DE L’ANGLE MOYEN « #» (ANGLE DE BRANCHEMENT) AU LONG DES 99 ITERATIONS (BRANCHE2)</a:t>
            </a:r>
            <a:endParaRPr lang="fr-FR">
              <a:effectLst/>
            </a:endParaRPr>
          </a:p>
        </c:rich>
      </c:tx>
      <c:layout>
        <c:manualLayout>
          <c:xMode val="edge"/>
          <c:yMode val="edge"/>
          <c:x val="0.10267796678086996"/>
          <c:y val="6.0690919221689475E-2"/>
        </c:manualLayout>
      </c:layout>
      <c:overlay val="0"/>
      <c:spPr>
        <a:noFill/>
        <a:ln>
          <a:noFill/>
        </a:ln>
        <a:effectLst/>
      </c:spPr>
      <c:txPr>
        <a:bodyPr rot="0" spcFirstLastPara="1" vertOverflow="ellipsis" vert="horz" wrap="square" anchor="ctr" anchorCtr="1"/>
        <a:lstStyle/>
        <a:p>
          <a:pPr algn="ct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scatterChart>
        <c:scatterStyle val="lineMarker"/>
        <c:varyColors val="0"/>
        <c:ser>
          <c:idx val="0"/>
          <c:order val="0"/>
          <c:tx>
            <c:v>MOYENNE DONNEES</c:v>
          </c:tx>
          <c:spPr>
            <a:ln w="28575" cap="rnd">
              <a:noFill/>
              <a:round/>
            </a:ln>
            <a:effectLst/>
          </c:spPr>
          <c:marker>
            <c:symbol val="circle"/>
            <c:size val="5"/>
            <c:spPr>
              <a:solidFill>
                <a:schemeClr val="accent1"/>
              </a:solidFill>
              <a:ln w="9525">
                <a:solidFill>
                  <a:schemeClr val="accent1"/>
                </a:solidFill>
              </a:ln>
              <a:effectLst/>
            </c:spPr>
          </c:marker>
          <c:xVal>
            <c:numRef>
              <c:f>'br2#'!$E$4:$BP$4</c:f>
              <c:numCache>
                <c:formatCode>General</c:formatCode>
                <c:ptCount val="64"/>
                <c:pt idx="0">
                  <c:v>10</c:v>
                </c:pt>
                <c:pt idx="1">
                  <c:v>12</c:v>
                </c:pt>
                <c:pt idx="2">
                  <c:v>14</c:v>
                </c:pt>
                <c:pt idx="3">
                  <c:v>15</c:v>
                </c:pt>
                <c:pt idx="4">
                  <c:v>17</c:v>
                </c:pt>
                <c:pt idx="5">
                  <c:v>19</c:v>
                </c:pt>
                <c:pt idx="6">
                  <c:v>21</c:v>
                </c:pt>
                <c:pt idx="7">
                  <c:v>22</c:v>
                </c:pt>
                <c:pt idx="8">
                  <c:v>23</c:v>
                </c:pt>
                <c:pt idx="9">
                  <c:v>24</c:v>
                </c:pt>
                <c:pt idx="10">
                  <c:v>25</c:v>
                </c:pt>
                <c:pt idx="11">
                  <c:v>26</c:v>
                </c:pt>
                <c:pt idx="12">
                  <c:v>28</c:v>
                </c:pt>
                <c:pt idx="13">
                  <c:v>30</c:v>
                </c:pt>
                <c:pt idx="14">
                  <c:v>31</c:v>
                </c:pt>
                <c:pt idx="15">
                  <c:v>32</c:v>
                </c:pt>
                <c:pt idx="16">
                  <c:v>33</c:v>
                </c:pt>
                <c:pt idx="17">
                  <c:v>34</c:v>
                </c:pt>
                <c:pt idx="18">
                  <c:v>38</c:v>
                </c:pt>
                <c:pt idx="19">
                  <c:v>39</c:v>
                </c:pt>
                <c:pt idx="20">
                  <c:v>40</c:v>
                </c:pt>
                <c:pt idx="21">
                  <c:v>41</c:v>
                </c:pt>
                <c:pt idx="22">
                  <c:v>43</c:v>
                </c:pt>
                <c:pt idx="23">
                  <c:v>44</c:v>
                </c:pt>
                <c:pt idx="24">
                  <c:v>45</c:v>
                </c:pt>
                <c:pt idx="25">
                  <c:v>46</c:v>
                </c:pt>
                <c:pt idx="26">
                  <c:v>48</c:v>
                </c:pt>
                <c:pt idx="27">
                  <c:v>49</c:v>
                </c:pt>
                <c:pt idx="28">
                  <c:v>50</c:v>
                </c:pt>
                <c:pt idx="29">
                  <c:v>51</c:v>
                </c:pt>
                <c:pt idx="30">
                  <c:v>52</c:v>
                </c:pt>
                <c:pt idx="31">
                  <c:v>53</c:v>
                </c:pt>
                <c:pt idx="32">
                  <c:v>54</c:v>
                </c:pt>
                <c:pt idx="33">
                  <c:v>55</c:v>
                </c:pt>
                <c:pt idx="34">
                  <c:v>56</c:v>
                </c:pt>
                <c:pt idx="35">
                  <c:v>57</c:v>
                </c:pt>
                <c:pt idx="36">
                  <c:v>58</c:v>
                </c:pt>
                <c:pt idx="37">
                  <c:v>59</c:v>
                </c:pt>
                <c:pt idx="38">
                  <c:v>60</c:v>
                </c:pt>
                <c:pt idx="39">
                  <c:v>61</c:v>
                </c:pt>
                <c:pt idx="40">
                  <c:v>62</c:v>
                </c:pt>
                <c:pt idx="41">
                  <c:v>63</c:v>
                </c:pt>
                <c:pt idx="42">
                  <c:v>64</c:v>
                </c:pt>
                <c:pt idx="43">
                  <c:v>65</c:v>
                </c:pt>
                <c:pt idx="44">
                  <c:v>66</c:v>
                </c:pt>
                <c:pt idx="45">
                  <c:v>68</c:v>
                </c:pt>
                <c:pt idx="46">
                  <c:v>69</c:v>
                </c:pt>
                <c:pt idx="47">
                  <c:v>70</c:v>
                </c:pt>
                <c:pt idx="48">
                  <c:v>71</c:v>
                </c:pt>
                <c:pt idx="49">
                  <c:v>72</c:v>
                </c:pt>
                <c:pt idx="50">
                  <c:v>73</c:v>
                </c:pt>
                <c:pt idx="51">
                  <c:v>74</c:v>
                </c:pt>
                <c:pt idx="52">
                  <c:v>75</c:v>
                </c:pt>
                <c:pt idx="53">
                  <c:v>76</c:v>
                </c:pt>
                <c:pt idx="54">
                  <c:v>77</c:v>
                </c:pt>
                <c:pt idx="55">
                  <c:v>78</c:v>
                </c:pt>
                <c:pt idx="56">
                  <c:v>81</c:v>
                </c:pt>
                <c:pt idx="57">
                  <c:v>87</c:v>
                </c:pt>
                <c:pt idx="58">
                  <c:v>88</c:v>
                </c:pt>
                <c:pt idx="59">
                  <c:v>89</c:v>
                </c:pt>
                <c:pt idx="60">
                  <c:v>91</c:v>
                </c:pt>
                <c:pt idx="61">
                  <c:v>93</c:v>
                </c:pt>
                <c:pt idx="62">
                  <c:v>96</c:v>
                </c:pt>
              </c:numCache>
            </c:numRef>
          </c:xVal>
          <c:yVal>
            <c:numRef>
              <c:f>'br2#'!$E$5:$BP$5</c:f>
              <c:numCache>
                <c:formatCode>General</c:formatCode>
                <c:ptCount val="64"/>
                <c:pt idx="0">
                  <c:v>30</c:v>
                </c:pt>
                <c:pt idx="1">
                  <c:v>23.571428571428573</c:v>
                </c:pt>
                <c:pt idx="2">
                  <c:v>60</c:v>
                </c:pt>
                <c:pt idx="3">
                  <c:v>20</c:v>
                </c:pt>
                <c:pt idx="4">
                  <c:v>25.75</c:v>
                </c:pt>
                <c:pt idx="5">
                  <c:v>11</c:v>
                </c:pt>
                <c:pt idx="6">
                  <c:v>95</c:v>
                </c:pt>
                <c:pt idx="7">
                  <c:v>16</c:v>
                </c:pt>
                <c:pt idx="8">
                  <c:v>50</c:v>
                </c:pt>
                <c:pt idx="9">
                  <c:v>39.718309859154928</c:v>
                </c:pt>
                <c:pt idx="10">
                  <c:v>18</c:v>
                </c:pt>
                <c:pt idx="11">
                  <c:v>44</c:v>
                </c:pt>
                <c:pt idx="12">
                  <c:v>31</c:v>
                </c:pt>
                <c:pt idx="13">
                  <c:v>22</c:v>
                </c:pt>
                <c:pt idx="14">
                  <c:v>52</c:v>
                </c:pt>
                <c:pt idx="15">
                  <c:v>51.583333333333336</c:v>
                </c:pt>
                <c:pt idx="16">
                  <c:v>31</c:v>
                </c:pt>
                <c:pt idx="17">
                  <c:v>75</c:v>
                </c:pt>
                <c:pt idx="18">
                  <c:v>18</c:v>
                </c:pt>
                <c:pt idx="19">
                  <c:v>49</c:v>
                </c:pt>
                <c:pt idx="20">
                  <c:v>72</c:v>
                </c:pt>
                <c:pt idx="21">
                  <c:v>49.647058823529413</c:v>
                </c:pt>
                <c:pt idx="22">
                  <c:v>10</c:v>
                </c:pt>
                <c:pt idx="23">
                  <c:v>50</c:v>
                </c:pt>
                <c:pt idx="24">
                  <c:v>7</c:v>
                </c:pt>
                <c:pt idx="25">
                  <c:v>11</c:v>
                </c:pt>
                <c:pt idx="26">
                  <c:v>47</c:v>
                </c:pt>
                <c:pt idx="27">
                  <c:v>55</c:v>
                </c:pt>
                <c:pt idx="28">
                  <c:v>26.4</c:v>
                </c:pt>
                <c:pt idx="29">
                  <c:v>18.111111111111111</c:v>
                </c:pt>
                <c:pt idx="30">
                  <c:v>26</c:v>
                </c:pt>
                <c:pt idx="31">
                  <c:v>55</c:v>
                </c:pt>
                <c:pt idx="32">
                  <c:v>61</c:v>
                </c:pt>
                <c:pt idx="33">
                  <c:v>40.833333333333336</c:v>
                </c:pt>
                <c:pt idx="34">
                  <c:v>31</c:v>
                </c:pt>
                <c:pt idx="35">
                  <c:v>59</c:v>
                </c:pt>
                <c:pt idx="36">
                  <c:v>27.5</c:v>
                </c:pt>
                <c:pt idx="37">
                  <c:v>78</c:v>
                </c:pt>
                <c:pt idx="38">
                  <c:v>9</c:v>
                </c:pt>
                <c:pt idx="39">
                  <c:v>47.571428571428569</c:v>
                </c:pt>
                <c:pt idx="40">
                  <c:v>52.25</c:v>
                </c:pt>
                <c:pt idx="41">
                  <c:v>68.142857142857139</c:v>
                </c:pt>
                <c:pt idx="42">
                  <c:v>31</c:v>
                </c:pt>
                <c:pt idx="43">
                  <c:v>99.5</c:v>
                </c:pt>
                <c:pt idx="44">
                  <c:v>39</c:v>
                </c:pt>
                <c:pt idx="45">
                  <c:v>40.875</c:v>
                </c:pt>
                <c:pt idx="46">
                  <c:v>41</c:v>
                </c:pt>
                <c:pt idx="47">
                  <c:v>34</c:v>
                </c:pt>
                <c:pt idx="48">
                  <c:v>38.545454545454547</c:v>
                </c:pt>
                <c:pt idx="49">
                  <c:v>30</c:v>
                </c:pt>
                <c:pt idx="50">
                  <c:v>52</c:v>
                </c:pt>
                <c:pt idx="51">
                  <c:v>41</c:v>
                </c:pt>
                <c:pt idx="52">
                  <c:v>79.333333333333329</c:v>
                </c:pt>
                <c:pt idx="53">
                  <c:v>29</c:v>
                </c:pt>
                <c:pt idx="54">
                  <c:v>10</c:v>
                </c:pt>
                <c:pt idx="55">
                  <c:v>23</c:v>
                </c:pt>
                <c:pt idx="56">
                  <c:v>85</c:v>
                </c:pt>
                <c:pt idx="57">
                  <c:v>15</c:v>
                </c:pt>
                <c:pt idx="58">
                  <c:v>58</c:v>
                </c:pt>
                <c:pt idx="59">
                  <c:v>35</c:v>
                </c:pt>
                <c:pt idx="60">
                  <c:v>15</c:v>
                </c:pt>
                <c:pt idx="61">
                  <c:v>68</c:v>
                </c:pt>
                <c:pt idx="62">
                  <c:v>13.5</c:v>
                </c:pt>
              </c:numCache>
            </c:numRef>
          </c:yVal>
          <c:smooth val="0"/>
          <c:extLst>
            <c:ext xmlns:c16="http://schemas.microsoft.com/office/drawing/2014/chart" uri="{C3380CC4-5D6E-409C-BE32-E72D297353CC}">
              <c16:uniqueId val="{00000000-C01A-4CE2-A263-61CE9FF4B851}"/>
            </c:ext>
          </c:extLst>
        </c:ser>
        <c:ser>
          <c:idx val="1"/>
          <c:order val="1"/>
          <c:tx>
            <c:v>EXEMPLE CALCULER PAR LE MODEL</c:v>
          </c:tx>
          <c:spPr>
            <a:ln w="25400" cap="rnd">
              <a:noFill/>
              <a:round/>
            </a:ln>
            <a:effectLst/>
          </c:spPr>
          <c:marker>
            <c:symbol val="circle"/>
            <c:size val="5"/>
            <c:spPr>
              <a:solidFill>
                <a:schemeClr val="accent2"/>
              </a:solidFill>
              <a:ln w="9525">
                <a:solidFill>
                  <a:schemeClr val="accent2"/>
                </a:solidFill>
              </a:ln>
              <a:effectLst/>
            </c:spPr>
          </c:marker>
          <c:xVal>
            <c:numRef>
              <c:f>'br2#'!$E$4:$BP$4</c:f>
              <c:numCache>
                <c:formatCode>General</c:formatCode>
                <c:ptCount val="64"/>
                <c:pt idx="0">
                  <c:v>10</c:v>
                </c:pt>
                <c:pt idx="1">
                  <c:v>12</c:v>
                </c:pt>
                <c:pt idx="2">
                  <c:v>14</c:v>
                </c:pt>
                <c:pt idx="3">
                  <c:v>15</c:v>
                </c:pt>
                <c:pt idx="4">
                  <c:v>17</c:v>
                </c:pt>
                <c:pt idx="5">
                  <c:v>19</c:v>
                </c:pt>
                <c:pt idx="6">
                  <c:v>21</c:v>
                </c:pt>
                <c:pt idx="7">
                  <c:v>22</c:v>
                </c:pt>
                <c:pt idx="8">
                  <c:v>23</c:v>
                </c:pt>
                <c:pt idx="9">
                  <c:v>24</c:v>
                </c:pt>
                <c:pt idx="10">
                  <c:v>25</c:v>
                </c:pt>
                <c:pt idx="11">
                  <c:v>26</c:v>
                </c:pt>
                <c:pt idx="12">
                  <c:v>28</c:v>
                </c:pt>
                <c:pt idx="13">
                  <c:v>30</c:v>
                </c:pt>
                <c:pt idx="14">
                  <c:v>31</c:v>
                </c:pt>
                <c:pt idx="15">
                  <c:v>32</c:v>
                </c:pt>
                <c:pt idx="16">
                  <c:v>33</c:v>
                </c:pt>
                <c:pt idx="17">
                  <c:v>34</c:v>
                </c:pt>
                <c:pt idx="18">
                  <c:v>38</c:v>
                </c:pt>
                <c:pt idx="19">
                  <c:v>39</c:v>
                </c:pt>
                <c:pt idx="20">
                  <c:v>40</c:v>
                </c:pt>
                <c:pt idx="21">
                  <c:v>41</c:v>
                </c:pt>
                <c:pt idx="22">
                  <c:v>43</c:v>
                </c:pt>
                <c:pt idx="23">
                  <c:v>44</c:v>
                </c:pt>
                <c:pt idx="24">
                  <c:v>45</c:v>
                </c:pt>
                <c:pt idx="25">
                  <c:v>46</c:v>
                </c:pt>
                <c:pt idx="26">
                  <c:v>48</c:v>
                </c:pt>
                <c:pt idx="27">
                  <c:v>49</c:v>
                </c:pt>
                <c:pt idx="28">
                  <c:v>50</c:v>
                </c:pt>
                <c:pt idx="29">
                  <c:v>51</c:v>
                </c:pt>
                <c:pt idx="30">
                  <c:v>52</c:v>
                </c:pt>
                <c:pt idx="31">
                  <c:v>53</c:v>
                </c:pt>
                <c:pt idx="32">
                  <c:v>54</c:v>
                </c:pt>
                <c:pt idx="33">
                  <c:v>55</c:v>
                </c:pt>
                <c:pt idx="34">
                  <c:v>56</c:v>
                </c:pt>
                <c:pt idx="35">
                  <c:v>57</c:v>
                </c:pt>
                <c:pt idx="36">
                  <c:v>58</c:v>
                </c:pt>
                <c:pt idx="37">
                  <c:v>59</c:v>
                </c:pt>
                <c:pt idx="38">
                  <c:v>60</c:v>
                </c:pt>
                <c:pt idx="39">
                  <c:v>61</c:v>
                </c:pt>
                <c:pt idx="40">
                  <c:v>62</c:v>
                </c:pt>
                <c:pt idx="41">
                  <c:v>63</c:v>
                </c:pt>
                <c:pt idx="42">
                  <c:v>64</c:v>
                </c:pt>
                <c:pt idx="43">
                  <c:v>65</c:v>
                </c:pt>
                <c:pt idx="44">
                  <c:v>66</c:v>
                </c:pt>
                <c:pt idx="45">
                  <c:v>68</c:v>
                </c:pt>
                <c:pt idx="46">
                  <c:v>69</c:v>
                </c:pt>
                <c:pt idx="47">
                  <c:v>70</c:v>
                </c:pt>
                <c:pt idx="48">
                  <c:v>71</c:v>
                </c:pt>
                <c:pt idx="49">
                  <c:v>72</c:v>
                </c:pt>
                <c:pt idx="50">
                  <c:v>73</c:v>
                </c:pt>
                <c:pt idx="51">
                  <c:v>74</c:v>
                </c:pt>
                <c:pt idx="52">
                  <c:v>75</c:v>
                </c:pt>
                <c:pt idx="53">
                  <c:v>76</c:v>
                </c:pt>
                <c:pt idx="54">
                  <c:v>77</c:v>
                </c:pt>
                <c:pt idx="55">
                  <c:v>78</c:v>
                </c:pt>
                <c:pt idx="56">
                  <c:v>81</c:v>
                </c:pt>
                <c:pt idx="57">
                  <c:v>87</c:v>
                </c:pt>
                <c:pt idx="58">
                  <c:v>88</c:v>
                </c:pt>
                <c:pt idx="59">
                  <c:v>89</c:v>
                </c:pt>
                <c:pt idx="60">
                  <c:v>91</c:v>
                </c:pt>
                <c:pt idx="61">
                  <c:v>93</c:v>
                </c:pt>
                <c:pt idx="62">
                  <c:v>96</c:v>
                </c:pt>
              </c:numCache>
            </c:numRef>
          </c:xVal>
          <c:yVal>
            <c:numRef>
              <c:f>'br2#'!$E$6:$BP$6</c:f>
              <c:numCache>
                <c:formatCode>General</c:formatCode>
                <c:ptCount val="64"/>
                <c:pt idx="0">
                  <c:v>65.671135220911736</c:v>
                </c:pt>
                <c:pt idx="1">
                  <c:v>22.236492035665528</c:v>
                </c:pt>
                <c:pt idx="2">
                  <c:v>48.550778150526128</c:v>
                </c:pt>
                <c:pt idx="3">
                  <c:v>32.686107074761843</c:v>
                </c:pt>
                <c:pt idx="4">
                  <c:v>92.538568956007794</c:v>
                </c:pt>
                <c:pt idx="5">
                  <c:v>36.899389849017773</c:v>
                </c:pt>
                <c:pt idx="6">
                  <c:v>38.958480926236746</c:v>
                </c:pt>
                <c:pt idx="7">
                  <c:v>32.19462460323529</c:v>
                </c:pt>
                <c:pt idx="8">
                  <c:v>12.563845891588883</c:v>
                </c:pt>
                <c:pt idx="9">
                  <c:v>62.555753757918225</c:v>
                </c:pt>
                <c:pt idx="10">
                  <c:v>53.672753235593952</c:v>
                </c:pt>
                <c:pt idx="11">
                  <c:v>39.041706737336575</c:v>
                </c:pt>
                <c:pt idx="12">
                  <c:v>32.591062871774461</c:v>
                </c:pt>
                <c:pt idx="13">
                  <c:v>22.261709964358481</c:v>
                </c:pt>
                <c:pt idx="14">
                  <c:v>50.500823046246154</c:v>
                </c:pt>
                <c:pt idx="15">
                  <c:v>32.230601186705009</c:v>
                </c:pt>
                <c:pt idx="16">
                  <c:v>28.555482038739555</c:v>
                </c:pt>
                <c:pt idx="17">
                  <c:v>45.905777562459235</c:v>
                </c:pt>
                <c:pt idx="18">
                  <c:v>53.794522919464207</c:v>
                </c:pt>
                <c:pt idx="19">
                  <c:v>34.2006148353707</c:v>
                </c:pt>
                <c:pt idx="20">
                  <c:v>88.649577784212497</c:v>
                </c:pt>
                <c:pt idx="21">
                  <c:v>43.379290168197933</c:v>
                </c:pt>
                <c:pt idx="22">
                  <c:v>70.591236517663901</c:v>
                </c:pt>
                <c:pt idx="23">
                  <c:v>-1.3533148873730596</c:v>
                </c:pt>
                <c:pt idx="24">
                  <c:v>51.430036322639928</c:v>
                </c:pt>
                <c:pt idx="25">
                  <c:v>22.273448977406439</c:v>
                </c:pt>
                <c:pt idx="26">
                  <c:v>29.380868191759205</c:v>
                </c:pt>
                <c:pt idx="27">
                  <c:v>22.844193842289805</c:v>
                </c:pt>
                <c:pt idx="28">
                  <c:v>37.624659936492101</c:v>
                </c:pt>
                <c:pt idx="29">
                  <c:v>64.543596282935297</c:v>
                </c:pt>
                <c:pt idx="30">
                  <c:v>27.644578722361977</c:v>
                </c:pt>
                <c:pt idx="31">
                  <c:v>34.651982345768317</c:v>
                </c:pt>
                <c:pt idx="32">
                  <c:v>7.9790641575274108</c:v>
                </c:pt>
                <c:pt idx="33">
                  <c:v>59.544240490048324</c:v>
                </c:pt>
                <c:pt idx="34">
                  <c:v>36.550090254089014</c:v>
                </c:pt>
                <c:pt idx="35">
                  <c:v>50.65928281737677</c:v>
                </c:pt>
                <c:pt idx="36">
                  <c:v>49.254206508767084</c:v>
                </c:pt>
                <c:pt idx="37">
                  <c:v>32.033070594439266</c:v>
                </c:pt>
                <c:pt idx="38">
                  <c:v>60.8188719253409</c:v>
                </c:pt>
                <c:pt idx="39">
                  <c:v>40.07630709856911</c:v>
                </c:pt>
                <c:pt idx="40">
                  <c:v>88.168051530164817</c:v>
                </c:pt>
                <c:pt idx="41">
                  <c:v>35.964502928375758</c:v>
                </c:pt>
                <c:pt idx="42">
                  <c:v>70.941030898755045</c:v>
                </c:pt>
                <c:pt idx="43">
                  <c:v>30.418174719816811</c:v>
                </c:pt>
                <c:pt idx="44">
                  <c:v>20.136953167144508</c:v>
                </c:pt>
                <c:pt idx="45">
                  <c:v>34.211798673918942</c:v>
                </c:pt>
                <c:pt idx="46">
                  <c:v>25.543633069389152</c:v>
                </c:pt>
                <c:pt idx="47">
                  <c:v>28.924830204674983</c:v>
                </c:pt>
                <c:pt idx="48">
                  <c:v>49.794391580728856</c:v>
                </c:pt>
                <c:pt idx="49">
                  <c:v>53.286764632720967</c:v>
                </c:pt>
                <c:pt idx="50">
                  <c:v>41.373979493415767</c:v>
                </c:pt>
                <c:pt idx="51">
                  <c:v>35.407838058497681</c:v>
                </c:pt>
                <c:pt idx="52">
                  <c:v>33.529021225446549</c:v>
                </c:pt>
                <c:pt idx="53">
                  <c:v>53.856052210369228</c:v>
                </c:pt>
                <c:pt idx="54">
                  <c:v>37.093724774485217</c:v>
                </c:pt>
                <c:pt idx="55">
                  <c:v>50.470425306986741</c:v>
                </c:pt>
                <c:pt idx="56">
                  <c:v>71.814725133678806</c:v>
                </c:pt>
                <c:pt idx="57">
                  <c:v>14.271895095746611</c:v>
                </c:pt>
                <c:pt idx="58">
                  <c:v>49.269420571025059</c:v>
                </c:pt>
                <c:pt idx="59">
                  <c:v>75.588677579794464</c:v>
                </c:pt>
                <c:pt idx="60">
                  <c:v>51.488681098628412</c:v>
                </c:pt>
                <c:pt idx="61">
                  <c:v>45.651909935191412</c:v>
                </c:pt>
                <c:pt idx="62">
                  <c:v>34.187801733943893</c:v>
                </c:pt>
              </c:numCache>
            </c:numRef>
          </c:yVal>
          <c:smooth val="0"/>
          <c:extLst>
            <c:ext xmlns:c16="http://schemas.microsoft.com/office/drawing/2014/chart" uri="{C3380CC4-5D6E-409C-BE32-E72D297353CC}">
              <c16:uniqueId val="{00000001-C01A-4CE2-A263-61CE9FF4B851}"/>
            </c:ext>
          </c:extLst>
        </c:ser>
        <c:dLbls>
          <c:showLegendKey val="0"/>
          <c:showVal val="0"/>
          <c:showCatName val="0"/>
          <c:showSerName val="0"/>
          <c:showPercent val="0"/>
          <c:showBubbleSize val="0"/>
        </c:dLbls>
        <c:axId val="516520624"/>
        <c:axId val="516521168"/>
      </c:scatterChart>
      <c:valAx>
        <c:axId val="51652062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516521168"/>
        <c:crosses val="autoZero"/>
        <c:crossBetween val="midCat"/>
      </c:valAx>
      <c:valAx>
        <c:axId val="5165211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516520624"/>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sz="1800" b="0" i="0" baseline="0">
                <a:effectLst/>
              </a:rPr>
              <a:t>NUAGE DE L’ANGLE MOYEN « ! » (ANGLE PHYLLOTAXIE CUMULE) AU LONG DES 69 ITERATIONS (BRANCHE1)</a:t>
            </a:r>
            <a:endParaRPr lang="fr-FR">
              <a:effectLst/>
            </a:endParaRPr>
          </a:p>
        </c:rich>
      </c:tx>
      <c:layout>
        <c:manualLayout>
          <c:xMode val="edge"/>
          <c:yMode val="edge"/>
          <c:x val="0.12838162346801513"/>
          <c:y val="3.6394160217482305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scatterChart>
        <c:scatterStyle val="lineMarker"/>
        <c:varyColors val="0"/>
        <c:ser>
          <c:idx val="0"/>
          <c:order val="0"/>
          <c:tx>
            <c:v>MOYENNE DONNEES</c:v>
          </c:tx>
          <c:spPr>
            <a:ln w="28575" cap="rnd">
              <a:noFill/>
              <a:round/>
            </a:ln>
            <a:effectLst/>
          </c:spPr>
          <c:marker>
            <c:symbol val="circle"/>
            <c:size val="5"/>
            <c:spPr>
              <a:solidFill>
                <a:schemeClr val="accent1"/>
              </a:solidFill>
              <a:ln w="9525">
                <a:solidFill>
                  <a:schemeClr val="accent1"/>
                </a:solidFill>
              </a:ln>
              <a:effectLst/>
            </c:spPr>
          </c:marker>
          <c:xVal>
            <c:numRef>
              <c:f>'br1!'!$E$4:$AO$4</c:f>
              <c:numCache>
                <c:formatCode>General</c:formatCode>
                <c:ptCount val="37"/>
                <c:pt idx="0">
                  <c:v>6</c:v>
                </c:pt>
                <c:pt idx="1">
                  <c:v>12</c:v>
                </c:pt>
                <c:pt idx="2">
                  <c:v>17</c:v>
                </c:pt>
                <c:pt idx="3">
                  <c:v>20</c:v>
                </c:pt>
                <c:pt idx="4">
                  <c:v>21</c:v>
                </c:pt>
                <c:pt idx="5">
                  <c:v>22</c:v>
                </c:pt>
                <c:pt idx="6">
                  <c:v>23</c:v>
                </c:pt>
                <c:pt idx="7">
                  <c:v>24</c:v>
                </c:pt>
                <c:pt idx="8">
                  <c:v>25</c:v>
                </c:pt>
                <c:pt idx="9">
                  <c:v>26</c:v>
                </c:pt>
                <c:pt idx="10">
                  <c:v>28</c:v>
                </c:pt>
                <c:pt idx="11">
                  <c:v>29</c:v>
                </c:pt>
                <c:pt idx="12">
                  <c:v>30</c:v>
                </c:pt>
                <c:pt idx="13">
                  <c:v>31</c:v>
                </c:pt>
                <c:pt idx="14">
                  <c:v>32</c:v>
                </c:pt>
                <c:pt idx="15">
                  <c:v>34</c:v>
                </c:pt>
                <c:pt idx="16">
                  <c:v>35</c:v>
                </c:pt>
                <c:pt idx="17">
                  <c:v>36</c:v>
                </c:pt>
                <c:pt idx="18">
                  <c:v>37</c:v>
                </c:pt>
                <c:pt idx="19">
                  <c:v>38</c:v>
                </c:pt>
                <c:pt idx="20">
                  <c:v>39</c:v>
                </c:pt>
                <c:pt idx="21">
                  <c:v>40</c:v>
                </c:pt>
                <c:pt idx="22">
                  <c:v>41</c:v>
                </c:pt>
                <c:pt idx="23">
                  <c:v>42</c:v>
                </c:pt>
                <c:pt idx="24">
                  <c:v>43</c:v>
                </c:pt>
                <c:pt idx="25">
                  <c:v>44</c:v>
                </c:pt>
                <c:pt idx="26">
                  <c:v>45</c:v>
                </c:pt>
                <c:pt idx="27">
                  <c:v>48</c:v>
                </c:pt>
                <c:pt idx="28">
                  <c:v>50</c:v>
                </c:pt>
                <c:pt idx="29">
                  <c:v>51</c:v>
                </c:pt>
                <c:pt idx="30">
                  <c:v>52</c:v>
                </c:pt>
                <c:pt idx="31">
                  <c:v>54</c:v>
                </c:pt>
                <c:pt idx="32">
                  <c:v>58</c:v>
                </c:pt>
                <c:pt idx="33">
                  <c:v>60</c:v>
                </c:pt>
                <c:pt idx="34">
                  <c:v>61</c:v>
                </c:pt>
                <c:pt idx="35">
                  <c:v>62</c:v>
                </c:pt>
                <c:pt idx="36">
                  <c:v>63</c:v>
                </c:pt>
              </c:numCache>
            </c:numRef>
          </c:xVal>
          <c:yVal>
            <c:numRef>
              <c:f>'br1!'!$E$5:$AO$5</c:f>
              <c:numCache>
                <c:formatCode>General</c:formatCode>
                <c:ptCount val="37"/>
                <c:pt idx="0">
                  <c:v>105</c:v>
                </c:pt>
                <c:pt idx="1">
                  <c:v>130</c:v>
                </c:pt>
                <c:pt idx="2">
                  <c:v>325</c:v>
                </c:pt>
                <c:pt idx="3">
                  <c:v>70</c:v>
                </c:pt>
                <c:pt idx="4">
                  <c:v>256</c:v>
                </c:pt>
                <c:pt idx="5">
                  <c:v>217.76923076923077</c:v>
                </c:pt>
                <c:pt idx="6">
                  <c:v>310</c:v>
                </c:pt>
                <c:pt idx="7">
                  <c:v>242.5</c:v>
                </c:pt>
                <c:pt idx="8">
                  <c:v>60</c:v>
                </c:pt>
                <c:pt idx="9">
                  <c:v>317</c:v>
                </c:pt>
                <c:pt idx="10">
                  <c:v>120</c:v>
                </c:pt>
                <c:pt idx="11">
                  <c:v>235</c:v>
                </c:pt>
                <c:pt idx="12">
                  <c:v>136.75</c:v>
                </c:pt>
                <c:pt idx="13">
                  <c:v>181</c:v>
                </c:pt>
                <c:pt idx="14">
                  <c:v>182.75</c:v>
                </c:pt>
                <c:pt idx="15">
                  <c:v>136.5</c:v>
                </c:pt>
                <c:pt idx="16">
                  <c:v>248.55555555555554</c:v>
                </c:pt>
                <c:pt idx="17">
                  <c:v>147</c:v>
                </c:pt>
                <c:pt idx="18">
                  <c:v>353</c:v>
                </c:pt>
                <c:pt idx="19">
                  <c:v>204.5</c:v>
                </c:pt>
                <c:pt idx="20">
                  <c:v>258</c:v>
                </c:pt>
                <c:pt idx="21">
                  <c:v>252.33333333333334</c:v>
                </c:pt>
                <c:pt idx="22">
                  <c:v>114.33333333333333</c:v>
                </c:pt>
                <c:pt idx="23">
                  <c:v>127.25</c:v>
                </c:pt>
                <c:pt idx="24">
                  <c:v>302</c:v>
                </c:pt>
                <c:pt idx="25">
                  <c:v>151</c:v>
                </c:pt>
                <c:pt idx="26">
                  <c:v>345</c:v>
                </c:pt>
                <c:pt idx="27">
                  <c:v>305.66666666666669</c:v>
                </c:pt>
                <c:pt idx="28">
                  <c:v>166</c:v>
                </c:pt>
                <c:pt idx="29">
                  <c:v>82</c:v>
                </c:pt>
                <c:pt idx="30">
                  <c:v>54.5</c:v>
                </c:pt>
                <c:pt idx="31">
                  <c:v>260</c:v>
                </c:pt>
                <c:pt idx="32">
                  <c:v>277</c:v>
                </c:pt>
                <c:pt idx="33">
                  <c:v>243</c:v>
                </c:pt>
                <c:pt idx="34">
                  <c:v>227</c:v>
                </c:pt>
                <c:pt idx="35">
                  <c:v>10</c:v>
                </c:pt>
                <c:pt idx="36">
                  <c:v>269</c:v>
                </c:pt>
              </c:numCache>
            </c:numRef>
          </c:yVal>
          <c:smooth val="0"/>
          <c:extLst>
            <c:ext xmlns:c16="http://schemas.microsoft.com/office/drawing/2014/chart" uri="{C3380CC4-5D6E-409C-BE32-E72D297353CC}">
              <c16:uniqueId val="{00000000-B614-4354-B1A6-4D036602A58C}"/>
            </c:ext>
          </c:extLst>
        </c:ser>
        <c:ser>
          <c:idx val="1"/>
          <c:order val="1"/>
          <c:tx>
            <c:v>VALEUR PHYLLOTAXIE PAR HYPOTHESE</c:v>
          </c:tx>
          <c:spPr>
            <a:ln w="28575" cap="rnd">
              <a:noFill/>
              <a:round/>
            </a:ln>
            <a:effectLst/>
          </c:spPr>
          <c:marker>
            <c:symbol val="circle"/>
            <c:size val="5"/>
            <c:spPr>
              <a:solidFill>
                <a:schemeClr val="accent2"/>
              </a:solidFill>
              <a:ln w="9525">
                <a:solidFill>
                  <a:schemeClr val="accent2"/>
                </a:solidFill>
              </a:ln>
              <a:effectLst/>
            </c:spPr>
          </c:marker>
          <c:xVal>
            <c:numRef>
              <c:f>'br1!'!$E$4:$AO$4</c:f>
              <c:numCache>
                <c:formatCode>General</c:formatCode>
                <c:ptCount val="37"/>
                <c:pt idx="0">
                  <c:v>6</c:v>
                </c:pt>
                <c:pt idx="1">
                  <c:v>12</c:v>
                </c:pt>
                <c:pt idx="2">
                  <c:v>17</c:v>
                </c:pt>
                <c:pt idx="3">
                  <c:v>20</c:v>
                </c:pt>
                <c:pt idx="4">
                  <c:v>21</c:v>
                </c:pt>
                <c:pt idx="5">
                  <c:v>22</c:v>
                </c:pt>
                <c:pt idx="6">
                  <c:v>23</c:v>
                </c:pt>
                <c:pt idx="7">
                  <c:v>24</c:v>
                </c:pt>
                <c:pt idx="8">
                  <c:v>25</c:v>
                </c:pt>
                <c:pt idx="9">
                  <c:v>26</c:v>
                </c:pt>
                <c:pt idx="10">
                  <c:v>28</c:v>
                </c:pt>
                <c:pt idx="11">
                  <c:v>29</c:v>
                </c:pt>
                <c:pt idx="12">
                  <c:v>30</c:v>
                </c:pt>
                <c:pt idx="13">
                  <c:v>31</c:v>
                </c:pt>
                <c:pt idx="14">
                  <c:v>32</c:v>
                </c:pt>
                <c:pt idx="15">
                  <c:v>34</c:v>
                </c:pt>
                <c:pt idx="16">
                  <c:v>35</c:v>
                </c:pt>
                <c:pt idx="17">
                  <c:v>36</c:v>
                </c:pt>
                <c:pt idx="18">
                  <c:v>37</c:v>
                </c:pt>
                <c:pt idx="19">
                  <c:v>38</c:v>
                </c:pt>
                <c:pt idx="20">
                  <c:v>39</c:v>
                </c:pt>
                <c:pt idx="21">
                  <c:v>40</c:v>
                </c:pt>
                <c:pt idx="22">
                  <c:v>41</c:v>
                </c:pt>
                <c:pt idx="23">
                  <c:v>42</c:v>
                </c:pt>
                <c:pt idx="24">
                  <c:v>43</c:v>
                </c:pt>
                <c:pt idx="25">
                  <c:v>44</c:v>
                </c:pt>
                <c:pt idx="26">
                  <c:v>45</c:v>
                </c:pt>
                <c:pt idx="27">
                  <c:v>48</c:v>
                </c:pt>
                <c:pt idx="28">
                  <c:v>50</c:v>
                </c:pt>
                <c:pt idx="29">
                  <c:v>51</c:v>
                </c:pt>
                <c:pt idx="30">
                  <c:v>52</c:v>
                </c:pt>
                <c:pt idx="31">
                  <c:v>54</c:v>
                </c:pt>
                <c:pt idx="32">
                  <c:v>58</c:v>
                </c:pt>
                <c:pt idx="33">
                  <c:v>60</c:v>
                </c:pt>
                <c:pt idx="34">
                  <c:v>61</c:v>
                </c:pt>
                <c:pt idx="35">
                  <c:v>62</c:v>
                </c:pt>
                <c:pt idx="36">
                  <c:v>63</c:v>
                </c:pt>
              </c:numCache>
            </c:numRef>
          </c:xVal>
          <c:yVal>
            <c:numRef>
              <c:f>'br1!'!$E$6:$AO$6</c:f>
              <c:numCache>
                <c:formatCode>General</c:formatCode>
                <c:ptCount val="37"/>
                <c:pt idx="0">
                  <c:v>279.41064370348982</c:v>
                </c:pt>
                <c:pt idx="1">
                  <c:v>28.821287406979874</c:v>
                </c:pt>
                <c:pt idx="2">
                  <c:v>359.99682382655516</c:v>
                </c:pt>
                <c:pt idx="3">
                  <c:v>54.702145678299715</c:v>
                </c:pt>
                <c:pt idx="4">
                  <c:v>192.93725296221513</c:v>
                </c:pt>
                <c:pt idx="5">
                  <c:v>331.1723602461297</c:v>
                </c:pt>
                <c:pt idx="6">
                  <c:v>109.40746753004474</c:v>
                </c:pt>
                <c:pt idx="7">
                  <c:v>247.64257481395973</c:v>
                </c:pt>
                <c:pt idx="8">
                  <c:v>25.877682097875145</c:v>
                </c:pt>
                <c:pt idx="9">
                  <c:v>164.11278938178972</c:v>
                </c:pt>
                <c:pt idx="10">
                  <c:v>80.583003949619751</c:v>
                </c:pt>
                <c:pt idx="11">
                  <c:v>218.81811123353557</c:v>
                </c:pt>
                <c:pt idx="12">
                  <c:v>357.05321851744975</c:v>
                </c:pt>
                <c:pt idx="13">
                  <c:v>135.28832580136557</c:v>
                </c:pt>
                <c:pt idx="14">
                  <c:v>273.52343308527981</c:v>
                </c:pt>
                <c:pt idx="15">
                  <c:v>189.99364765310978</c:v>
                </c:pt>
                <c:pt idx="16">
                  <c:v>328.22875493702475</c:v>
                </c:pt>
                <c:pt idx="17">
                  <c:v>106.4638622209398</c:v>
                </c:pt>
                <c:pt idx="18">
                  <c:v>244.6989695048556</c:v>
                </c:pt>
                <c:pt idx="19">
                  <c:v>22.934076788769808</c:v>
                </c:pt>
                <c:pt idx="20">
                  <c:v>161.1691840726848</c:v>
                </c:pt>
                <c:pt idx="21">
                  <c:v>299.40429135660065</c:v>
                </c:pt>
                <c:pt idx="22">
                  <c:v>77.639398640514827</c:v>
                </c:pt>
                <c:pt idx="23">
                  <c:v>215.87450592442983</c:v>
                </c:pt>
                <c:pt idx="24">
                  <c:v>354.10961320834485</c:v>
                </c:pt>
                <c:pt idx="25">
                  <c:v>132.34472049225903</c:v>
                </c:pt>
                <c:pt idx="26">
                  <c:v>270.57982777617485</c:v>
                </c:pt>
                <c:pt idx="27">
                  <c:v>325.2851496279207</c:v>
                </c:pt>
                <c:pt idx="28">
                  <c:v>241.75536419574988</c:v>
                </c:pt>
                <c:pt idx="29">
                  <c:v>19.99047147966488</c:v>
                </c:pt>
                <c:pt idx="30">
                  <c:v>158.22557876357988</c:v>
                </c:pt>
                <c:pt idx="31">
                  <c:v>74.695793331409902</c:v>
                </c:pt>
                <c:pt idx="32">
                  <c:v>267.63622246706996</c:v>
                </c:pt>
                <c:pt idx="33">
                  <c:v>184.10643703489993</c:v>
                </c:pt>
                <c:pt idx="34">
                  <c:v>322.3415443188141</c:v>
                </c:pt>
                <c:pt idx="35">
                  <c:v>100.57665160272994</c:v>
                </c:pt>
                <c:pt idx="36">
                  <c:v>238.81175888664413</c:v>
                </c:pt>
              </c:numCache>
            </c:numRef>
          </c:yVal>
          <c:smooth val="0"/>
          <c:extLst>
            <c:ext xmlns:c16="http://schemas.microsoft.com/office/drawing/2014/chart" uri="{C3380CC4-5D6E-409C-BE32-E72D297353CC}">
              <c16:uniqueId val="{00000001-B614-4354-B1A6-4D036602A58C}"/>
            </c:ext>
          </c:extLst>
        </c:ser>
        <c:dLbls>
          <c:showLegendKey val="0"/>
          <c:showVal val="0"/>
          <c:showCatName val="0"/>
          <c:showSerName val="0"/>
          <c:showPercent val="0"/>
          <c:showBubbleSize val="0"/>
        </c:dLbls>
        <c:axId val="516523344"/>
        <c:axId val="516528240"/>
      </c:scatterChart>
      <c:valAx>
        <c:axId val="51652334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516528240"/>
        <c:crosses val="autoZero"/>
        <c:crossBetween val="midCat"/>
      </c:valAx>
      <c:valAx>
        <c:axId val="5165282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516523344"/>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sz="1800" b="0" i="0" baseline="0">
                <a:effectLst/>
              </a:rPr>
              <a:t>NUAGE DE L’ANGLE MOYEN « ! » (ANGLE PHYLLOTAXIE CUMULE) AU LONG DES 99 ITERATIONS (BRANCHE2)</a:t>
            </a:r>
            <a:endParaRPr lang="fr-FR">
              <a:effectLst/>
            </a:endParaRPr>
          </a:p>
        </c:rich>
      </c:tx>
      <c:layout>
        <c:manualLayout>
          <c:xMode val="edge"/>
          <c:yMode val="edge"/>
          <c:x val="0.10527639372812306"/>
          <c:y val="4.3106696200976319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scatterChart>
        <c:scatterStyle val="lineMarker"/>
        <c:varyColors val="0"/>
        <c:ser>
          <c:idx val="0"/>
          <c:order val="0"/>
          <c:tx>
            <c:v>MOYENNE DONNEES</c:v>
          </c:tx>
          <c:spPr>
            <a:ln w="28575" cap="rnd">
              <a:noFill/>
              <a:round/>
            </a:ln>
            <a:effectLst/>
          </c:spPr>
          <c:marker>
            <c:symbol val="circle"/>
            <c:size val="5"/>
            <c:spPr>
              <a:solidFill>
                <a:schemeClr val="accent1"/>
              </a:solidFill>
              <a:ln w="9525">
                <a:solidFill>
                  <a:schemeClr val="accent1"/>
                </a:solidFill>
              </a:ln>
              <a:effectLst/>
            </c:spPr>
          </c:marker>
          <c:xVal>
            <c:numRef>
              <c:f>'br2!!'!$E$4:$BJ$4</c:f>
              <c:numCache>
                <c:formatCode>General</c:formatCode>
                <c:ptCount val="58"/>
                <c:pt idx="0">
                  <c:v>19</c:v>
                </c:pt>
                <c:pt idx="1">
                  <c:v>21</c:v>
                </c:pt>
                <c:pt idx="2">
                  <c:v>22</c:v>
                </c:pt>
                <c:pt idx="3">
                  <c:v>23</c:v>
                </c:pt>
                <c:pt idx="4">
                  <c:v>24</c:v>
                </c:pt>
                <c:pt idx="5">
                  <c:v>25</c:v>
                </c:pt>
                <c:pt idx="6">
                  <c:v>26</c:v>
                </c:pt>
                <c:pt idx="7">
                  <c:v>28</c:v>
                </c:pt>
                <c:pt idx="8">
                  <c:v>30</c:v>
                </c:pt>
                <c:pt idx="9">
                  <c:v>31</c:v>
                </c:pt>
                <c:pt idx="10">
                  <c:v>32</c:v>
                </c:pt>
                <c:pt idx="11">
                  <c:v>33</c:v>
                </c:pt>
                <c:pt idx="12">
                  <c:v>34</c:v>
                </c:pt>
                <c:pt idx="13">
                  <c:v>38</c:v>
                </c:pt>
                <c:pt idx="14">
                  <c:v>39</c:v>
                </c:pt>
                <c:pt idx="15">
                  <c:v>40</c:v>
                </c:pt>
                <c:pt idx="16">
                  <c:v>41</c:v>
                </c:pt>
                <c:pt idx="17">
                  <c:v>43</c:v>
                </c:pt>
                <c:pt idx="18">
                  <c:v>44</c:v>
                </c:pt>
                <c:pt idx="19">
                  <c:v>45</c:v>
                </c:pt>
                <c:pt idx="20">
                  <c:v>46</c:v>
                </c:pt>
                <c:pt idx="21">
                  <c:v>48</c:v>
                </c:pt>
                <c:pt idx="22">
                  <c:v>49</c:v>
                </c:pt>
                <c:pt idx="23">
                  <c:v>50</c:v>
                </c:pt>
                <c:pt idx="24">
                  <c:v>51</c:v>
                </c:pt>
                <c:pt idx="25">
                  <c:v>52</c:v>
                </c:pt>
                <c:pt idx="26">
                  <c:v>53</c:v>
                </c:pt>
                <c:pt idx="27">
                  <c:v>54</c:v>
                </c:pt>
                <c:pt idx="28">
                  <c:v>55</c:v>
                </c:pt>
                <c:pt idx="29">
                  <c:v>56</c:v>
                </c:pt>
                <c:pt idx="30">
                  <c:v>57</c:v>
                </c:pt>
                <c:pt idx="31">
                  <c:v>58</c:v>
                </c:pt>
                <c:pt idx="32">
                  <c:v>59</c:v>
                </c:pt>
                <c:pt idx="33">
                  <c:v>60</c:v>
                </c:pt>
                <c:pt idx="34">
                  <c:v>61</c:v>
                </c:pt>
                <c:pt idx="35">
                  <c:v>62</c:v>
                </c:pt>
                <c:pt idx="36">
                  <c:v>63</c:v>
                </c:pt>
                <c:pt idx="37">
                  <c:v>64</c:v>
                </c:pt>
                <c:pt idx="38">
                  <c:v>65</c:v>
                </c:pt>
                <c:pt idx="39">
                  <c:v>66</c:v>
                </c:pt>
                <c:pt idx="40">
                  <c:v>68</c:v>
                </c:pt>
                <c:pt idx="41">
                  <c:v>69</c:v>
                </c:pt>
                <c:pt idx="42">
                  <c:v>70</c:v>
                </c:pt>
                <c:pt idx="43">
                  <c:v>71</c:v>
                </c:pt>
                <c:pt idx="44">
                  <c:v>72</c:v>
                </c:pt>
                <c:pt idx="45">
                  <c:v>73</c:v>
                </c:pt>
                <c:pt idx="46">
                  <c:v>74</c:v>
                </c:pt>
                <c:pt idx="47">
                  <c:v>75</c:v>
                </c:pt>
                <c:pt idx="48">
                  <c:v>76</c:v>
                </c:pt>
                <c:pt idx="49">
                  <c:v>77</c:v>
                </c:pt>
                <c:pt idx="50">
                  <c:v>78</c:v>
                </c:pt>
                <c:pt idx="51">
                  <c:v>81</c:v>
                </c:pt>
                <c:pt idx="52">
                  <c:v>87</c:v>
                </c:pt>
                <c:pt idx="53">
                  <c:v>88</c:v>
                </c:pt>
                <c:pt idx="54">
                  <c:v>89</c:v>
                </c:pt>
                <c:pt idx="55">
                  <c:v>91</c:v>
                </c:pt>
                <c:pt idx="56">
                  <c:v>93</c:v>
                </c:pt>
                <c:pt idx="57">
                  <c:v>96</c:v>
                </c:pt>
              </c:numCache>
            </c:numRef>
          </c:xVal>
          <c:yVal>
            <c:numRef>
              <c:f>'br2!!'!$E$5:$BJ$5</c:f>
              <c:numCache>
                <c:formatCode>General</c:formatCode>
                <c:ptCount val="58"/>
                <c:pt idx="0">
                  <c:v>242</c:v>
                </c:pt>
                <c:pt idx="1">
                  <c:v>60</c:v>
                </c:pt>
                <c:pt idx="2">
                  <c:v>227.33333333333334</c:v>
                </c:pt>
                <c:pt idx="3">
                  <c:v>85</c:v>
                </c:pt>
                <c:pt idx="4">
                  <c:v>80.633802816901408</c:v>
                </c:pt>
                <c:pt idx="5">
                  <c:v>135</c:v>
                </c:pt>
                <c:pt idx="6">
                  <c:v>18</c:v>
                </c:pt>
                <c:pt idx="7">
                  <c:v>310</c:v>
                </c:pt>
                <c:pt idx="8">
                  <c:v>217</c:v>
                </c:pt>
                <c:pt idx="9">
                  <c:v>40</c:v>
                </c:pt>
                <c:pt idx="10">
                  <c:v>65.75</c:v>
                </c:pt>
                <c:pt idx="11">
                  <c:v>196</c:v>
                </c:pt>
                <c:pt idx="12">
                  <c:v>96</c:v>
                </c:pt>
                <c:pt idx="13">
                  <c:v>200</c:v>
                </c:pt>
                <c:pt idx="14">
                  <c:v>80</c:v>
                </c:pt>
                <c:pt idx="15">
                  <c:v>180</c:v>
                </c:pt>
                <c:pt idx="16">
                  <c:v>220.29411764705881</c:v>
                </c:pt>
                <c:pt idx="17">
                  <c:v>176</c:v>
                </c:pt>
                <c:pt idx="18">
                  <c:v>355</c:v>
                </c:pt>
                <c:pt idx="19">
                  <c:v>87</c:v>
                </c:pt>
                <c:pt idx="20">
                  <c:v>226</c:v>
                </c:pt>
                <c:pt idx="21">
                  <c:v>262</c:v>
                </c:pt>
                <c:pt idx="22">
                  <c:v>316</c:v>
                </c:pt>
                <c:pt idx="23">
                  <c:v>218.6</c:v>
                </c:pt>
                <c:pt idx="24">
                  <c:v>240.11111111111111</c:v>
                </c:pt>
                <c:pt idx="25">
                  <c:v>230.33333333333334</c:v>
                </c:pt>
                <c:pt idx="26">
                  <c:v>219</c:v>
                </c:pt>
                <c:pt idx="27">
                  <c:v>139</c:v>
                </c:pt>
                <c:pt idx="28">
                  <c:v>221.66666666666666</c:v>
                </c:pt>
                <c:pt idx="29">
                  <c:v>96</c:v>
                </c:pt>
                <c:pt idx="30">
                  <c:v>195.4</c:v>
                </c:pt>
                <c:pt idx="31">
                  <c:v>301.25</c:v>
                </c:pt>
                <c:pt idx="32">
                  <c:v>182.5</c:v>
                </c:pt>
                <c:pt idx="33">
                  <c:v>162</c:v>
                </c:pt>
                <c:pt idx="34">
                  <c:v>185</c:v>
                </c:pt>
                <c:pt idx="35">
                  <c:v>151</c:v>
                </c:pt>
                <c:pt idx="36">
                  <c:v>272.35714285714283</c:v>
                </c:pt>
                <c:pt idx="37">
                  <c:v>213</c:v>
                </c:pt>
                <c:pt idx="38">
                  <c:v>113</c:v>
                </c:pt>
                <c:pt idx="39">
                  <c:v>227.25</c:v>
                </c:pt>
                <c:pt idx="40">
                  <c:v>160.375</c:v>
                </c:pt>
                <c:pt idx="41">
                  <c:v>100</c:v>
                </c:pt>
                <c:pt idx="42">
                  <c:v>249</c:v>
                </c:pt>
                <c:pt idx="43">
                  <c:v>209.09090909090909</c:v>
                </c:pt>
                <c:pt idx="44">
                  <c:v>357</c:v>
                </c:pt>
                <c:pt idx="45">
                  <c:v>248.5</c:v>
                </c:pt>
                <c:pt idx="46">
                  <c:v>256.5</c:v>
                </c:pt>
                <c:pt idx="47">
                  <c:v>237</c:v>
                </c:pt>
                <c:pt idx="48">
                  <c:v>196</c:v>
                </c:pt>
                <c:pt idx="49">
                  <c:v>294</c:v>
                </c:pt>
                <c:pt idx="50">
                  <c:v>19</c:v>
                </c:pt>
                <c:pt idx="51">
                  <c:v>205</c:v>
                </c:pt>
                <c:pt idx="52">
                  <c:v>12</c:v>
                </c:pt>
                <c:pt idx="53">
                  <c:v>192</c:v>
                </c:pt>
                <c:pt idx="54">
                  <c:v>20</c:v>
                </c:pt>
                <c:pt idx="55">
                  <c:v>12</c:v>
                </c:pt>
                <c:pt idx="56">
                  <c:v>159</c:v>
                </c:pt>
                <c:pt idx="57">
                  <c:v>229.5</c:v>
                </c:pt>
              </c:numCache>
            </c:numRef>
          </c:yVal>
          <c:smooth val="0"/>
          <c:extLst>
            <c:ext xmlns:c16="http://schemas.microsoft.com/office/drawing/2014/chart" uri="{C3380CC4-5D6E-409C-BE32-E72D297353CC}">
              <c16:uniqueId val="{00000000-D933-4270-AA63-174EEDA2DE31}"/>
            </c:ext>
          </c:extLst>
        </c:ser>
        <c:ser>
          <c:idx val="1"/>
          <c:order val="1"/>
          <c:tx>
            <c:v>VALEUR PHYLLOTAXIE PAR HYPOTHESE</c:v>
          </c:tx>
          <c:spPr>
            <a:ln w="28575" cap="rnd">
              <a:noFill/>
              <a:round/>
            </a:ln>
            <a:effectLst/>
          </c:spPr>
          <c:marker>
            <c:symbol val="circle"/>
            <c:size val="5"/>
            <c:spPr>
              <a:solidFill>
                <a:schemeClr val="accent2"/>
              </a:solidFill>
              <a:ln w="9525">
                <a:solidFill>
                  <a:schemeClr val="accent2"/>
                </a:solidFill>
              </a:ln>
              <a:effectLst/>
            </c:spPr>
          </c:marker>
          <c:xVal>
            <c:numRef>
              <c:f>'br2!!'!$E$4:$BJ$4</c:f>
              <c:numCache>
                <c:formatCode>General</c:formatCode>
                <c:ptCount val="58"/>
                <c:pt idx="0">
                  <c:v>19</c:v>
                </c:pt>
                <c:pt idx="1">
                  <c:v>21</c:v>
                </c:pt>
                <c:pt idx="2">
                  <c:v>22</c:v>
                </c:pt>
                <c:pt idx="3">
                  <c:v>23</c:v>
                </c:pt>
                <c:pt idx="4">
                  <c:v>24</c:v>
                </c:pt>
                <c:pt idx="5">
                  <c:v>25</c:v>
                </c:pt>
                <c:pt idx="6">
                  <c:v>26</c:v>
                </c:pt>
                <c:pt idx="7">
                  <c:v>28</c:v>
                </c:pt>
                <c:pt idx="8">
                  <c:v>30</c:v>
                </c:pt>
                <c:pt idx="9">
                  <c:v>31</c:v>
                </c:pt>
                <c:pt idx="10">
                  <c:v>32</c:v>
                </c:pt>
                <c:pt idx="11">
                  <c:v>33</c:v>
                </c:pt>
                <c:pt idx="12">
                  <c:v>34</c:v>
                </c:pt>
                <c:pt idx="13">
                  <c:v>38</c:v>
                </c:pt>
                <c:pt idx="14">
                  <c:v>39</c:v>
                </c:pt>
                <c:pt idx="15">
                  <c:v>40</c:v>
                </c:pt>
                <c:pt idx="16">
                  <c:v>41</c:v>
                </c:pt>
                <c:pt idx="17">
                  <c:v>43</c:v>
                </c:pt>
                <c:pt idx="18">
                  <c:v>44</c:v>
                </c:pt>
                <c:pt idx="19">
                  <c:v>45</c:v>
                </c:pt>
                <c:pt idx="20">
                  <c:v>46</c:v>
                </c:pt>
                <c:pt idx="21">
                  <c:v>48</c:v>
                </c:pt>
                <c:pt idx="22">
                  <c:v>49</c:v>
                </c:pt>
                <c:pt idx="23">
                  <c:v>50</c:v>
                </c:pt>
                <c:pt idx="24">
                  <c:v>51</c:v>
                </c:pt>
                <c:pt idx="25">
                  <c:v>52</c:v>
                </c:pt>
                <c:pt idx="26">
                  <c:v>53</c:v>
                </c:pt>
                <c:pt idx="27">
                  <c:v>54</c:v>
                </c:pt>
                <c:pt idx="28">
                  <c:v>55</c:v>
                </c:pt>
                <c:pt idx="29">
                  <c:v>56</c:v>
                </c:pt>
                <c:pt idx="30">
                  <c:v>57</c:v>
                </c:pt>
                <c:pt idx="31">
                  <c:v>58</c:v>
                </c:pt>
                <c:pt idx="32">
                  <c:v>59</c:v>
                </c:pt>
                <c:pt idx="33">
                  <c:v>60</c:v>
                </c:pt>
                <c:pt idx="34">
                  <c:v>61</c:v>
                </c:pt>
                <c:pt idx="35">
                  <c:v>62</c:v>
                </c:pt>
                <c:pt idx="36">
                  <c:v>63</c:v>
                </c:pt>
                <c:pt idx="37">
                  <c:v>64</c:v>
                </c:pt>
                <c:pt idx="38">
                  <c:v>65</c:v>
                </c:pt>
                <c:pt idx="39">
                  <c:v>66</c:v>
                </c:pt>
                <c:pt idx="40">
                  <c:v>68</c:v>
                </c:pt>
                <c:pt idx="41">
                  <c:v>69</c:v>
                </c:pt>
                <c:pt idx="42">
                  <c:v>70</c:v>
                </c:pt>
                <c:pt idx="43">
                  <c:v>71</c:v>
                </c:pt>
                <c:pt idx="44">
                  <c:v>72</c:v>
                </c:pt>
                <c:pt idx="45">
                  <c:v>73</c:v>
                </c:pt>
                <c:pt idx="46">
                  <c:v>74</c:v>
                </c:pt>
                <c:pt idx="47">
                  <c:v>75</c:v>
                </c:pt>
                <c:pt idx="48">
                  <c:v>76</c:v>
                </c:pt>
                <c:pt idx="49">
                  <c:v>77</c:v>
                </c:pt>
                <c:pt idx="50">
                  <c:v>78</c:v>
                </c:pt>
                <c:pt idx="51">
                  <c:v>81</c:v>
                </c:pt>
                <c:pt idx="52">
                  <c:v>87</c:v>
                </c:pt>
                <c:pt idx="53">
                  <c:v>88</c:v>
                </c:pt>
                <c:pt idx="54">
                  <c:v>89</c:v>
                </c:pt>
                <c:pt idx="55">
                  <c:v>91</c:v>
                </c:pt>
                <c:pt idx="56">
                  <c:v>93</c:v>
                </c:pt>
                <c:pt idx="57">
                  <c:v>96</c:v>
                </c:pt>
              </c:numCache>
            </c:numRef>
          </c:xVal>
          <c:yVal>
            <c:numRef>
              <c:f>'br2!!'!$E$6:$BJ$6</c:f>
              <c:numCache>
                <c:formatCode>General</c:formatCode>
                <c:ptCount val="58"/>
                <c:pt idx="0">
                  <c:v>149</c:v>
                </c:pt>
                <c:pt idx="1">
                  <c:v>65</c:v>
                </c:pt>
                <c:pt idx="2">
                  <c:v>203</c:v>
                </c:pt>
                <c:pt idx="3">
                  <c:v>341</c:v>
                </c:pt>
                <c:pt idx="4">
                  <c:v>119</c:v>
                </c:pt>
                <c:pt idx="5">
                  <c:v>257</c:v>
                </c:pt>
                <c:pt idx="6">
                  <c:v>35</c:v>
                </c:pt>
                <c:pt idx="7">
                  <c:v>311</c:v>
                </c:pt>
                <c:pt idx="8">
                  <c:v>227</c:v>
                </c:pt>
                <c:pt idx="9">
                  <c:v>5</c:v>
                </c:pt>
                <c:pt idx="10">
                  <c:v>143</c:v>
                </c:pt>
                <c:pt idx="11">
                  <c:v>281</c:v>
                </c:pt>
                <c:pt idx="12">
                  <c:v>59</c:v>
                </c:pt>
                <c:pt idx="13">
                  <c:v>251</c:v>
                </c:pt>
                <c:pt idx="14">
                  <c:v>29</c:v>
                </c:pt>
                <c:pt idx="15">
                  <c:v>167</c:v>
                </c:pt>
                <c:pt idx="16">
                  <c:v>305</c:v>
                </c:pt>
                <c:pt idx="17">
                  <c:v>221</c:v>
                </c:pt>
                <c:pt idx="18">
                  <c:v>359</c:v>
                </c:pt>
                <c:pt idx="19">
                  <c:v>137</c:v>
                </c:pt>
                <c:pt idx="20">
                  <c:v>275</c:v>
                </c:pt>
                <c:pt idx="21">
                  <c:v>191</c:v>
                </c:pt>
                <c:pt idx="22">
                  <c:v>329</c:v>
                </c:pt>
                <c:pt idx="23">
                  <c:v>107</c:v>
                </c:pt>
                <c:pt idx="24">
                  <c:v>245</c:v>
                </c:pt>
                <c:pt idx="25">
                  <c:v>23</c:v>
                </c:pt>
                <c:pt idx="26">
                  <c:v>161</c:v>
                </c:pt>
                <c:pt idx="27">
                  <c:v>299</c:v>
                </c:pt>
                <c:pt idx="28">
                  <c:v>77</c:v>
                </c:pt>
                <c:pt idx="29">
                  <c:v>215</c:v>
                </c:pt>
                <c:pt idx="30">
                  <c:v>353</c:v>
                </c:pt>
                <c:pt idx="31">
                  <c:v>131</c:v>
                </c:pt>
                <c:pt idx="32">
                  <c:v>269</c:v>
                </c:pt>
                <c:pt idx="33">
                  <c:v>47</c:v>
                </c:pt>
                <c:pt idx="34">
                  <c:v>185</c:v>
                </c:pt>
                <c:pt idx="35">
                  <c:v>323</c:v>
                </c:pt>
                <c:pt idx="36">
                  <c:v>101</c:v>
                </c:pt>
                <c:pt idx="37">
                  <c:v>239</c:v>
                </c:pt>
                <c:pt idx="38">
                  <c:v>17</c:v>
                </c:pt>
                <c:pt idx="39">
                  <c:v>155</c:v>
                </c:pt>
                <c:pt idx="40">
                  <c:v>71</c:v>
                </c:pt>
                <c:pt idx="41">
                  <c:v>209</c:v>
                </c:pt>
                <c:pt idx="42">
                  <c:v>347</c:v>
                </c:pt>
                <c:pt idx="43">
                  <c:v>125</c:v>
                </c:pt>
                <c:pt idx="44">
                  <c:v>263</c:v>
                </c:pt>
                <c:pt idx="45">
                  <c:v>41</c:v>
                </c:pt>
                <c:pt idx="46">
                  <c:v>179</c:v>
                </c:pt>
                <c:pt idx="47">
                  <c:v>317</c:v>
                </c:pt>
                <c:pt idx="48">
                  <c:v>95</c:v>
                </c:pt>
                <c:pt idx="49">
                  <c:v>233</c:v>
                </c:pt>
                <c:pt idx="50">
                  <c:v>11</c:v>
                </c:pt>
                <c:pt idx="51">
                  <c:v>65</c:v>
                </c:pt>
                <c:pt idx="52">
                  <c:v>173</c:v>
                </c:pt>
                <c:pt idx="53">
                  <c:v>311</c:v>
                </c:pt>
                <c:pt idx="54">
                  <c:v>89</c:v>
                </c:pt>
                <c:pt idx="55">
                  <c:v>5</c:v>
                </c:pt>
                <c:pt idx="56">
                  <c:v>281</c:v>
                </c:pt>
                <c:pt idx="57">
                  <c:v>335</c:v>
                </c:pt>
              </c:numCache>
            </c:numRef>
          </c:yVal>
          <c:smooth val="0"/>
          <c:extLst>
            <c:ext xmlns:c16="http://schemas.microsoft.com/office/drawing/2014/chart" uri="{C3380CC4-5D6E-409C-BE32-E72D297353CC}">
              <c16:uniqueId val="{00000001-D933-4270-AA63-174EEDA2DE31}"/>
            </c:ext>
          </c:extLst>
        </c:ser>
        <c:dLbls>
          <c:showLegendKey val="0"/>
          <c:showVal val="0"/>
          <c:showCatName val="0"/>
          <c:showSerName val="0"/>
          <c:showPercent val="0"/>
          <c:showBubbleSize val="0"/>
        </c:dLbls>
        <c:axId val="516528784"/>
        <c:axId val="516525520"/>
      </c:scatterChart>
      <c:valAx>
        <c:axId val="51652878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516525520"/>
        <c:crosses val="autoZero"/>
        <c:crossBetween val="midCat"/>
      </c:valAx>
      <c:valAx>
        <c:axId val="5165255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516528784"/>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a:t>NUAGE DE POINT DE L'ERREUR</a:t>
            </a:r>
            <a:r>
              <a:rPr lang="fr-FR" baseline="0"/>
              <a:t> ANGLE PHYLLOTAXIE FIXE</a:t>
            </a:r>
            <a:r>
              <a:rPr lang="fr-FR" sz="1400" b="0" i="0" u="none" strike="noStrike" baseline="0">
                <a:effectLst/>
              </a:rPr>
              <a:t>« @» </a:t>
            </a:r>
            <a:r>
              <a:rPr lang="fr-FR" baseline="0"/>
              <a:t>  CONSIDERER</a:t>
            </a:r>
            <a:endParaRPr lang="fr-F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manualLayout>
          <c:layoutTarget val="inner"/>
          <c:xMode val="edge"/>
          <c:yMode val="edge"/>
          <c:x val="8.8122703412073497E-2"/>
          <c:y val="0.26709391175745623"/>
          <c:w val="0.87621062992125986"/>
          <c:h val="0.67867882671925073"/>
        </c:manualLayout>
      </c:layout>
      <c:scatterChart>
        <c:scatterStyle val="lineMarker"/>
        <c:varyColors val="0"/>
        <c:ser>
          <c:idx val="0"/>
          <c:order val="0"/>
          <c:spPr>
            <a:ln w="28575" cap="rnd">
              <a:noFill/>
              <a:round/>
            </a:ln>
            <a:effectLst/>
          </c:spPr>
          <c:marker>
            <c:symbol val="circle"/>
            <c:size val="5"/>
            <c:spPr>
              <a:solidFill>
                <a:schemeClr val="accent1"/>
              </a:solidFill>
              <a:ln w="9525">
                <a:solidFill>
                  <a:schemeClr val="accent1"/>
                </a:solidFill>
              </a:ln>
              <a:effectLst/>
            </c:spPr>
          </c:marker>
          <c:yVal>
            <c:numRef>
              <c:f>'!BR1BR2'!$E$7:$CU$7</c:f>
              <c:numCache>
                <c:formatCode>General</c:formatCode>
                <c:ptCount val="95"/>
                <c:pt idx="0">
                  <c:v>4.8947368421052628</c:v>
                </c:pt>
                <c:pt idx="1">
                  <c:v>-0.23809523809523808</c:v>
                </c:pt>
                <c:pt idx="2">
                  <c:v>1.1060606060606064</c:v>
                </c:pt>
                <c:pt idx="3">
                  <c:v>-11.130434782608695</c:v>
                </c:pt>
                <c:pt idx="4">
                  <c:v>-1.5985915492957747</c:v>
                </c:pt>
                <c:pt idx="5">
                  <c:v>-4.88</c:v>
                </c:pt>
                <c:pt idx="6">
                  <c:v>-0.65384615384615385</c:v>
                </c:pt>
                <c:pt idx="7">
                  <c:v>-3.5714285714285712E-2</c:v>
                </c:pt>
                <c:pt idx="8">
                  <c:v>-0.33333333333333331</c:v>
                </c:pt>
                <c:pt idx="9">
                  <c:v>1.1290322580645162</c:v>
                </c:pt>
                <c:pt idx="10">
                  <c:v>-2.4140625</c:v>
                </c:pt>
                <c:pt idx="11">
                  <c:v>-2.5757575757575757</c:v>
                </c:pt>
                <c:pt idx="12">
                  <c:v>1.088235294117647</c:v>
                </c:pt>
                <c:pt idx="13">
                  <c:v>-1.3421052631578947</c:v>
                </c:pt>
                <c:pt idx="14">
                  <c:v>1.3076923076923077</c:v>
                </c:pt>
                <c:pt idx="15">
                  <c:v>0.32500000000000001</c:v>
                </c:pt>
                <c:pt idx="16">
                  <c:v>-2.0659971305595413</c:v>
                </c:pt>
                <c:pt idx="17">
                  <c:v>-1.0465116279069768</c:v>
                </c:pt>
                <c:pt idx="18">
                  <c:v>-9.0909090909090912E-2</c:v>
                </c:pt>
                <c:pt idx="19">
                  <c:v>-1.1111111111111112</c:v>
                </c:pt>
                <c:pt idx="20">
                  <c:v>-1.0652173913043479</c:v>
                </c:pt>
                <c:pt idx="21">
                  <c:v>1.4791666666666667</c:v>
                </c:pt>
                <c:pt idx="22">
                  <c:v>-0.26530612244897961</c:v>
                </c:pt>
                <c:pt idx="23">
                  <c:v>2.2319999999999998</c:v>
                </c:pt>
                <c:pt idx="24">
                  <c:v>-9.5860566448801685E-2</c:v>
                </c:pt>
                <c:pt idx="25">
                  <c:v>3.9871794871794872</c:v>
                </c:pt>
                <c:pt idx="26">
                  <c:v>1.0943396226415094</c:v>
                </c:pt>
                <c:pt idx="27">
                  <c:v>-2.9629629629629628</c:v>
                </c:pt>
                <c:pt idx="28">
                  <c:v>2.6303030303030299</c:v>
                </c:pt>
                <c:pt idx="29">
                  <c:v>-2.125</c:v>
                </c:pt>
                <c:pt idx="30">
                  <c:v>-2.7649122807017541</c:v>
                </c:pt>
                <c:pt idx="31">
                  <c:v>2.9353448275862069</c:v>
                </c:pt>
                <c:pt idx="32">
                  <c:v>-1.4661016949152543</c:v>
                </c:pt>
                <c:pt idx="33">
                  <c:v>1.9166666666666667</c:v>
                </c:pt>
                <c:pt idx="34">
                  <c:v>0</c:v>
                </c:pt>
                <c:pt idx="35">
                  <c:v>-2.774193548387097</c:v>
                </c:pt>
                <c:pt idx="36">
                  <c:v>2.7199546485260768</c:v>
                </c:pt>
                <c:pt idx="37">
                  <c:v>-0.40625</c:v>
                </c:pt>
                <c:pt idx="38">
                  <c:v>1.476923076923077</c:v>
                </c:pt>
                <c:pt idx="39">
                  <c:v>1.0946969696969697</c:v>
                </c:pt>
                <c:pt idx="40">
                  <c:v>1.3143382352941178</c:v>
                </c:pt>
                <c:pt idx="41">
                  <c:v>-1.5797101449275361</c:v>
                </c:pt>
                <c:pt idx="42">
                  <c:v>-1.4</c:v>
                </c:pt>
                <c:pt idx="43">
                  <c:v>1.1843790012804098</c:v>
                </c:pt>
                <c:pt idx="44">
                  <c:v>1.3055555555555556</c:v>
                </c:pt>
                <c:pt idx="45">
                  <c:v>2.8424657534246576</c:v>
                </c:pt>
                <c:pt idx="46">
                  <c:v>1.0472972972972974</c:v>
                </c:pt>
                <c:pt idx="47">
                  <c:v>-1.0666666666666667</c:v>
                </c:pt>
                <c:pt idx="48">
                  <c:v>1.3289473684210527</c:v>
                </c:pt>
                <c:pt idx="49">
                  <c:v>0.79220779220779225</c:v>
                </c:pt>
                <c:pt idx="50">
                  <c:v>0.10256410256410256</c:v>
                </c:pt>
                <c:pt idx="51">
                  <c:v>1.728395061728395</c:v>
                </c:pt>
                <c:pt idx="52">
                  <c:v>-1.8505747126436782</c:v>
                </c:pt>
                <c:pt idx="53">
                  <c:v>-1.3522727272727273</c:v>
                </c:pt>
                <c:pt idx="54">
                  <c:v>-0.7752808988764045</c:v>
                </c:pt>
                <c:pt idx="55">
                  <c:v>7.6923076923076927E-2</c:v>
                </c:pt>
                <c:pt idx="56">
                  <c:v>-1.3118279569892473</c:v>
                </c:pt>
                <c:pt idx="57">
                  <c:v>-1.0989583333333333</c:v>
                </c:pt>
                <c:pt idx="58">
                  <c:v>-29.068440617248303</c:v>
                </c:pt>
                <c:pt idx="59">
                  <c:v>8.4315593827516775</c:v>
                </c:pt>
                <c:pt idx="60">
                  <c:v>-2.0586366956797151</c:v>
                </c:pt>
                <c:pt idx="61">
                  <c:v>0.7648927160850143</c:v>
                </c:pt>
                <c:pt idx="62">
                  <c:v>3.0029879541802322</c:v>
                </c:pt>
                <c:pt idx="63">
                  <c:v>-5.1546877034954059</c:v>
                </c:pt>
                <c:pt idx="64">
                  <c:v>8.7214144552154451</c:v>
                </c:pt>
                <c:pt idx="65">
                  <c:v>-0.21427395058165524</c:v>
                </c:pt>
                <c:pt idx="66">
                  <c:v>1.3648927160849942</c:v>
                </c:pt>
                <c:pt idx="67">
                  <c:v>5.8802773314696264</c:v>
                </c:pt>
                <c:pt idx="68">
                  <c:v>1.4077498589421518</c:v>
                </c:pt>
                <c:pt idx="69">
                  <c:v>0.55799616436084221</c:v>
                </c:pt>
                <c:pt idx="70">
                  <c:v>-7.3434406172483246</c:v>
                </c:pt>
                <c:pt idx="71">
                  <c:v>1.4745701354398202</c:v>
                </c:pt>
                <c:pt idx="72">
                  <c:v>-2.8366697839149939</c:v>
                </c:pt>
                <c:pt idx="73">
                  <c:v>-1.5733425780326404</c:v>
                </c:pt>
                <c:pt idx="74">
                  <c:v>-2.2763771251848346</c:v>
                </c:pt>
                <c:pt idx="75">
                  <c:v>1.1260038271961166</c:v>
                </c:pt>
                <c:pt idx="76">
                  <c:v>2.9270548782471462</c:v>
                </c:pt>
                <c:pt idx="77">
                  <c:v>4.7780506108218477</c:v>
                </c:pt>
                <c:pt idx="78">
                  <c:v>2.4828414340337233</c:v>
                </c:pt>
                <c:pt idx="79">
                  <c:v>-1.1767739505816828</c:v>
                </c:pt>
                <c:pt idx="80">
                  <c:v>0.89497401689801226</c:v>
                </c:pt>
                <c:pt idx="81">
                  <c:v>-2.1101072839149957</c:v>
                </c:pt>
                <c:pt idx="82">
                  <c:v>-1.2118514699615082</c:v>
                </c:pt>
                <c:pt idx="83">
                  <c:v>0.42398362517593119</c:v>
                </c:pt>
                <c:pt idx="84">
                  <c:v>1.6537816049738923</c:v>
                </c:pt>
                <c:pt idx="85">
                  <c:v>-0.40871839502612534</c:v>
                </c:pt>
                <c:pt idx="86">
                  <c:v>-1.5151072839149975</c:v>
                </c:pt>
                <c:pt idx="87">
                  <c:v>1.2158731082418652</c:v>
                </c:pt>
                <c:pt idx="88">
                  <c:v>-1.9947226685303823</c:v>
                </c:pt>
                <c:pt idx="89">
                  <c:v>3.4315593827516686</c:v>
                </c:pt>
                <c:pt idx="90">
                  <c:v>0.16144444022293178</c:v>
                </c:pt>
                <c:pt idx="91">
                  <c:v>0.98155938275166787</c:v>
                </c:pt>
                <c:pt idx="92">
                  <c:v>-1.5629761363740016</c:v>
                </c:pt>
                <c:pt idx="93">
                  <c:v>-1.4609137355279023</c:v>
                </c:pt>
                <c:pt idx="94">
                  <c:v>0.4791784303707281</c:v>
                </c:pt>
              </c:numCache>
            </c:numRef>
          </c:yVal>
          <c:smooth val="0"/>
          <c:extLst>
            <c:ext xmlns:c16="http://schemas.microsoft.com/office/drawing/2014/chart" uri="{C3380CC4-5D6E-409C-BE32-E72D297353CC}">
              <c16:uniqueId val="{00000000-1D5D-482F-8593-9E169EDB69CA}"/>
            </c:ext>
          </c:extLst>
        </c:ser>
        <c:dLbls>
          <c:showLegendKey val="0"/>
          <c:showVal val="0"/>
          <c:showCatName val="0"/>
          <c:showSerName val="0"/>
          <c:showPercent val="0"/>
          <c:showBubbleSize val="0"/>
        </c:dLbls>
        <c:axId val="517247760"/>
        <c:axId val="517238512"/>
      </c:scatterChart>
      <c:valAx>
        <c:axId val="517247760"/>
        <c:scaling>
          <c:orientation val="minMax"/>
        </c:scaling>
        <c:delete val="0"/>
        <c:axPos val="b"/>
        <c:majorGridlines>
          <c:spPr>
            <a:ln w="9525" cap="flat" cmpd="sng" algn="ctr">
              <a:solidFill>
                <a:schemeClr val="tx1">
                  <a:lumMod val="15000"/>
                  <a:lumOff val="85000"/>
                </a:schemeClr>
              </a:solidFill>
              <a:round/>
            </a:ln>
            <a:effectLst/>
          </c:spPr>
        </c:majorGridlines>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517238512"/>
        <c:crosses val="autoZero"/>
        <c:crossBetween val="midCat"/>
      </c:valAx>
      <c:valAx>
        <c:axId val="5172385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517247760"/>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png"/></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image" Target="../media/image18.png"/></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5.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8.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4.png"/></Relationships>
</file>

<file path=ppt/drawings/_rels/vmlDrawing9.v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image" Target="../media/image45.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02B4B6-5972-4A7C-9502-CB471B1BA795}" type="datetimeFigureOut">
              <a:rPr lang="fr-FR" smtClean="0"/>
              <a:t>07/09/2018</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FD6F44-0ABB-45DB-A5E6-56F9EFBE797A}" type="slidenum">
              <a:rPr lang="fr-FR" smtClean="0"/>
              <a:t>‹N°›</a:t>
            </a:fld>
            <a:endParaRPr lang="fr-FR"/>
          </a:p>
        </p:txBody>
      </p:sp>
    </p:spTree>
    <p:extLst>
      <p:ext uri="{BB962C8B-B14F-4D97-AF65-F5344CB8AC3E}">
        <p14:creationId xmlns:p14="http://schemas.microsoft.com/office/powerpoint/2010/main" val="123457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1-La structure d’une branche est une structure complexe </a:t>
            </a:r>
          </a:p>
          <a:p>
            <a:endParaRPr lang="fr-FR" dirty="0"/>
          </a:p>
          <a:p>
            <a:r>
              <a:rPr lang="fr-FR" dirty="0"/>
              <a:t>2-afin de la simplifier, nous modélisons les sous structures rameaux ou</a:t>
            </a:r>
            <a:r>
              <a:rPr lang="fr-FR" baseline="0" dirty="0"/>
              <a:t> entrenœuds par des tronc de cône</a:t>
            </a:r>
          </a:p>
          <a:p>
            <a:endParaRPr lang="fr-FR" baseline="0" dirty="0"/>
          </a:p>
          <a:p>
            <a:r>
              <a:rPr lang="fr-FR" baseline="0" dirty="0"/>
              <a:t>3-Chaque tronc de cône est caractériser géométriquement par une hauteur un diamètre à la base et un diamètre au sommet</a:t>
            </a:r>
          </a:p>
          <a:p>
            <a:endParaRPr lang="fr-FR" baseline="0" dirty="0"/>
          </a:p>
          <a:p>
            <a:r>
              <a:rPr lang="fr-FR" baseline="0" dirty="0"/>
              <a:t>4-Afin de placer et orienter le cône dans l’espace</a:t>
            </a:r>
          </a:p>
          <a:p>
            <a:endParaRPr lang="fr-FR" baseline="0" dirty="0"/>
          </a:p>
          <a:p>
            <a:r>
              <a:rPr lang="fr-FR" baseline="0" dirty="0"/>
              <a:t>5-nous référant au coordonnée du centre à la base du cône</a:t>
            </a:r>
            <a:endParaRPr lang="fr-FR" dirty="0"/>
          </a:p>
        </p:txBody>
      </p:sp>
      <p:sp>
        <p:nvSpPr>
          <p:cNvPr id="4" name="Espace réservé du numéro de diapositive 3"/>
          <p:cNvSpPr>
            <a:spLocks noGrp="1"/>
          </p:cNvSpPr>
          <p:nvPr>
            <p:ph type="sldNum" sz="quarter" idx="10"/>
          </p:nvPr>
        </p:nvSpPr>
        <p:spPr/>
        <p:txBody>
          <a:bodyPr/>
          <a:lstStyle/>
          <a:p>
            <a:fld id="{6362F67A-2B17-483C-8634-BD3D5A544AD8}" type="slidenum">
              <a:rPr lang="fr-FR" smtClean="0"/>
              <a:t>5</a:t>
            </a:fld>
            <a:endParaRPr lang="fr-FR"/>
          </a:p>
        </p:txBody>
      </p:sp>
    </p:spTree>
    <p:extLst>
      <p:ext uri="{BB962C8B-B14F-4D97-AF65-F5344CB8AC3E}">
        <p14:creationId xmlns:p14="http://schemas.microsoft.com/office/powerpoint/2010/main" val="37710887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1-Et un vecteur directeur normale </a:t>
            </a:r>
          </a:p>
          <a:p>
            <a:endParaRPr lang="fr-FR" dirty="0"/>
          </a:p>
          <a:p>
            <a:r>
              <a:rPr lang="fr-FR" dirty="0"/>
              <a:t>2-de direction les centres de cercle du tronc de cônes </a:t>
            </a:r>
          </a:p>
          <a:p>
            <a:endParaRPr lang="fr-FR" dirty="0"/>
          </a:p>
          <a:p>
            <a:r>
              <a:rPr lang="fr-FR" dirty="0"/>
              <a:t>3-et</a:t>
            </a:r>
            <a:r>
              <a:rPr lang="fr-FR" baseline="0" dirty="0"/>
              <a:t> de sens allant de la base vers le sommet de cône</a:t>
            </a:r>
          </a:p>
          <a:p>
            <a:endParaRPr lang="fr-FR" baseline="0" dirty="0"/>
          </a:p>
          <a:p>
            <a:r>
              <a:rPr lang="fr-FR" baseline="0" dirty="0"/>
              <a:t>4-Ainsi pour un cône N nous avons 5 paramètre définissant</a:t>
            </a:r>
          </a:p>
          <a:p>
            <a:endParaRPr lang="fr-FR" baseline="0" dirty="0"/>
          </a:p>
          <a:p>
            <a:r>
              <a:rPr lang="fr-FR" baseline="0" dirty="0"/>
              <a:t>5-une position ,une orientation spatiale et une géométrie ON, UN, LN, EBASEN et ESOMMETN</a:t>
            </a:r>
          </a:p>
          <a:p>
            <a:endParaRPr lang="fr-FR" baseline="0" dirty="0"/>
          </a:p>
          <a:p>
            <a:r>
              <a:rPr lang="fr-FR" baseline="0" dirty="0"/>
              <a:t>6-Après des calculs effectué nous caractérisant la ramification entre rameaux ici modéliser par des cônes et nous insérant les cônes un par un</a:t>
            </a:r>
          </a:p>
          <a:p>
            <a:endParaRPr lang="fr-FR" baseline="0" dirty="0"/>
          </a:p>
          <a:p>
            <a:r>
              <a:rPr lang="fr-FR" baseline="0" dirty="0"/>
              <a:t>7-Supposons que le cône N-1 est bien placer afin d’insérer le cône N,</a:t>
            </a:r>
          </a:p>
          <a:p>
            <a:r>
              <a:rPr lang="fr-FR" baseline="0" dirty="0"/>
              <a:t>8- nous avons recours au mesure suivante;</a:t>
            </a:r>
          </a:p>
          <a:p>
            <a:r>
              <a:rPr lang="fr-FR" baseline="0" dirty="0"/>
              <a:t>9-La longueur du rameaux, les Epaisseurs du rameaux et la longueur entre le centre de base et celui du rameau parent et des angles de rotation par la convention ZYZ des angles d'Euler </a:t>
            </a:r>
          </a:p>
          <a:p>
            <a:r>
              <a:rPr lang="fr-FR" baseline="0" dirty="0"/>
              <a:t>10-ici deux angles suffit car un axe de révolution caractérise la géométrie Cône choisie pour modéliser les rameaux.</a:t>
            </a:r>
          </a:p>
          <a:p>
            <a:r>
              <a:rPr lang="fr-FR" baseline="0" dirty="0"/>
              <a:t>11-De ce fait nous choisissons l’angle de la première rotation autour de z appeler </a:t>
            </a:r>
            <a:r>
              <a:rPr lang="fr-FR" baseline="0" dirty="0" err="1"/>
              <a:t>teta</a:t>
            </a:r>
            <a:r>
              <a:rPr lang="fr-FR" baseline="0" dirty="0"/>
              <a:t> z 2 égale à 0 </a:t>
            </a:r>
          </a:p>
          <a:p>
            <a:r>
              <a:rPr lang="fr-FR" baseline="0" dirty="0"/>
              <a:t>12-et ceci bien entendu par une supposition initiale qui initialise le vecteur directeur du Cône </a:t>
            </a:r>
            <a:r>
              <a:rPr lang="fr-FR" baseline="0" dirty="0" err="1"/>
              <a:t>coliniéairement</a:t>
            </a:r>
            <a:r>
              <a:rPr lang="fr-FR" baseline="0" dirty="0"/>
              <a:t> au vecteur z vecteur du repère (o x y z) lier au sol</a:t>
            </a:r>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62F67A-2B17-483C-8634-BD3D5A544AD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372545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1-L’appareil conçu pour les mesure des angles est comme</a:t>
            </a:r>
            <a:r>
              <a:rPr lang="fr-FR" baseline="0" dirty="0"/>
              <a:t> suivant,</a:t>
            </a:r>
          </a:p>
          <a:p>
            <a:r>
              <a:rPr lang="fr-FR" baseline="0" dirty="0"/>
              <a:t>2- 4 solide reliée entre eux par 3 liaison pivot </a:t>
            </a:r>
          </a:p>
          <a:p>
            <a:r>
              <a:rPr lang="fr-FR" baseline="0" dirty="0"/>
              <a:t>3- Le solide S 0 est supposé lié au sol, </a:t>
            </a:r>
          </a:p>
          <a:p>
            <a:r>
              <a:rPr lang="fr-FR" baseline="0" dirty="0"/>
              <a:t>4- chaque liaison pivot étant gradué,</a:t>
            </a:r>
          </a:p>
          <a:p>
            <a:r>
              <a:rPr lang="fr-FR" baseline="0" dirty="0"/>
              <a:t>5- lorsqu’on oriente un axe de l’appareil parallèlement à un axe repère pour l’organe en question nous aurons une extraction de deux angles significatif </a:t>
            </a:r>
          </a:p>
          <a:p>
            <a:r>
              <a:rPr lang="fr-FR" baseline="0" dirty="0"/>
              <a:t>6-pour avoir le 3</a:t>
            </a:r>
            <a:r>
              <a:rPr lang="fr-FR" baseline="30000" dirty="0"/>
              <a:t>ème</a:t>
            </a:r>
            <a:r>
              <a:rPr lang="fr-FR" baseline="0" dirty="0"/>
              <a:t> angle eulérien il suffit d’orienté un plan de solide S3 parallèlement au plan repère</a:t>
            </a:r>
          </a:p>
          <a:p>
            <a:endParaRPr lang="fr-FR" baseline="0" dirty="0"/>
          </a:p>
          <a:p>
            <a:r>
              <a:rPr lang="fr-FR" baseline="0" dirty="0"/>
              <a:t>7-par exemple pour la feuille </a:t>
            </a:r>
          </a:p>
          <a:p>
            <a:r>
              <a:rPr lang="fr-FR" baseline="0" dirty="0"/>
              <a:t>8-le plan passant par la veine</a:t>
            </a:r>
          </a:p>
          <a:p>
            <a:r>
              <a:rPr lang="fr-FR" baseline="0" dirty="0"/>
              <a:t>9- et minimisant la distance orthogonale entre cellules de cette dernière </a:t>
            </a:r>
          </a:p>
          <a:p>
            <a:r>
              <a:rPr lang="fr-FR" baseline="0" dirty="0"/>
              <a:t>10- et plan aplatie théoriquement. </a:t>
            </a:r>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62F67A-2B17-483C-8634-BD3D5A544AD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920517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1-La base de données a été récapitulé sur Excel </a:t>
            </a:r>
          </a:p>
          <a:p>
            <a:r>
              <a:rPr lang="fr-FR" dirty="0"/>
              <a:t>2-et chaque colonne</a:t>
            </a:r>
            <a:r>
              <a:rPr lang="fr-FR" baseline="0" dirty="0"/>
              <a:t> représente une mesure nécessaire des 4 approche.</a:t>
            </a:r>
          </a:p>
          <a:p>
            <a:r>
              <a:rPr lang="fr-FR" baseline="0" dirty="0"/>
              <a:t>3-Chaque ligne représente un rameau étudier ou un organe feuille et fruits.</a:t>
            </a:r>
          </a:p>
          <a:p>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62F67A-2B17-483C-8634-BD3D5A544AD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724799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1-Afin de visualiser</a:t>
            </a:r>
            <a:r>
              <a:rPr lang="fr-FR" baseline="0" dirty="0"/>
              <a:t> en 3D. </a:t>
            </a:r>
          </a:p>
          <a:p>
            <a:r>
              <a:rPr lang="fr-FR" baseline="0" dirty="0"/>
              <a:t>2-Nous avons choisie la plateforme 3DS max </a:t>
            </a:r>
          </a:p>
          <a:p>
            <a:r>
              <a:rPr lang="fr-FR" baseline="0" dirty="0"/>
              <a:t>3-spécialisé pour la production 3D.</a:t>
            </a:r>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62F67A-2B17-483C-8634-BD3D5A544AD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115240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1- Il nous fallait convertir les donné Excel </a:t>
            </a:r>
          </a:p>
          <a:p>
            <a:r>
              <a:rPr lang="fr-FR" dirty="0"/>
              <a:t>2-en un</a:t>
            </a:r>
            <a:r>
              <a:rPr lang="fr-FR" baseline="0" dirty="0"/>
              <a:t> script (.ms) compilable à l’aide de 3DS MAX </a:t>
            </a:r>
          </a:p>
          <a:p>
            <a:r>
              <a:rPr lang="fr-FR" baseline="0" dirty="0"/>
              <a:t>3-pour cela nous avons utiliser la plateforme de développement WinDev</a:t>
            </a:r>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62F67A-2B17-483C-8634-BD3D5A544AD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339582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1-Le logiciel développer sous WinDev permet</a:t>
            </a:r>
          </a:p>
          <a:p>
            <a:r>
              <a:rPr lang="fr-FR" dirty="0"/>
              <a:t>2- d’importer la base Excel</a:t>
            </a:r>
            <a:r>
              <a:rPr lang="fr-FR" baseline="0" dirty="0"/>
              <a:t> et de convertir en script </a:t>
            </a:r>
            <a:r>
              <a:rPr lang="fr-FR" baseline="0" dirty="0" err="1"/>
              <a:t>maxscript</a:t>
            </a:r>
            <a:endParaRPr lang="fr-FR" baseline="0" dirty="0"/>
          </a:p>
          <a:p>
            <a:r>
              <a:rPr lang="fr-FR" baseline="0" dirty="0"/>
              <a:t>3- selon l’une des 4 approche à choisir par l’utilisateur </a:t>
            </a:r>
          </a:p>
          <a:p>
            <a:r>
              <a:rPr lang="fr-FR" baseline="0" dirty="0"/>
              <a:t>4- enfin d’enregistrer un fichier .ms</a:t>
            </a:r>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62F67A-2B17-483C-8634-BD3D5A544AD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345173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1-Les deux figure suivante représente deux exemple de branche</a:t>
            </a:r>
            <a:r>
              <a:rPr lang="fr-FR" baseline="0" dirty="0"/>
              <a:t> convertie par l’intermédiaire de la 1</a:t>
            </a:r>
            <a:r>
              <a:rPr lang="fr-FR" baseline="30000" dirty="0"/>
              <a:t>er</a:t>
            </a:r>
            <a:r>
              <a:rPr lang="fr-FR" baseline="0" dirty="0"/>
              <a:t> approche et implémenter par 3DS Max, </a:t>
            </a:r>
          </a:p>
          <a:p>
            <a:r>
              <a:rPr lang="fr-FR" baseline="0" dirty="0"/>
              <a:t>2-nous Comparons les résultats à leur réalité ceci prouve bien un résultat cohérant.</a:t>
            </a:r>
          </a:p>
          <a:p>
            <a:endParaRPr lang="fr-FR" baseline="0" dirty="0"/>
          </a:p>
          <a:p>
            <a:r>
              <a:rPr lang="fr-FR" baseline="0" dirty="0"/>
              <a:t>3-La figure à gauche met l’accent sur la 2éme approche de décomposition en </a:t>
            </a:r>
            <a:r>
              <a:rPr lang="fr-FR" baseline="0" dirty="0" err="1"/>
              <a:t>entrenoeud</a:t>
            </a:r>
            <a:r>
              <a:rPr lang="fr-FR" baseline="0" dirty="0"/>
              <a:t>.</a:t>
            </a:r>
          </a:p>
          <a:p>
            <a:endParaRPr lang="fr-FR" baseline="0" dirty="0"/>
          </a:p>
          <a:p>
            <a:r>
              <a:rPr lang="fr-FR" baseline="0" dirty="0"/>
              <a:t>4-Et la figure en bas met l’accent sur la 3éme approche avec position et orientation exacte des feuilles.</a:t>
            </a:r>
          </a:p>
          <a:p>
            <a:r>
              <a:rPr lang="fr-FR" baseline="0" dirty="0"/>
              <a:t> </a:t>
            </a:r>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62F67A-2B17-483C-8634-BD3D5A544AD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46788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1-Il nous a fallu avoir un moyen de reconstruction formel,</a:t>
            </a:r>
          </a:p>
          <a:p>
            <a:r>
              <a:rPr lang="fr-FR" dirty="0"/>
              <a:t>2- en analysant le formalisme nous caractérisant</a:t>
            </a:r>
            <a:r>
              <a:rPr lang="fr-FR" baseline="0" dirty="0"/>
              <a:t> la structure </a:t>
            </a:r>
          </a:p>
          <a:p>
            <a:r>
              <a:rPr lang="fr-FR" baseline="0" dirty="0"/>
              <a:t>3-et la géométrie de cette dernière</a:t>
            </a:r>
          </a:p>
          <a:p>
            <a:r>
              <a:rPr lang="fr-FR" baseline="0" dirty="0"/>
              <a:t>4-Des paramètre d’entrer ainsi définie</a:t>
            </a:r>
          </a:p>
          <a:p>
            <a:r>
              <a:rPr lang="fr-FR" baseline="0" dirty="0"/>
              <a:t>5- et nous permettent de visualisé le résultat en 3D simulé pour le provisionnement de la croissance et du développement</a:t>
            </a:r>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62F67A-2B17-483C-8634-BD3D5A544AD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905492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1-Afin de visualiser un langage</a:t>
            </a:r>
            <a:r>
              <a:rPr lang="fr-FR" baseline="0" dirty="0"/>
              <a:t> formel </a:t>
            </a:r>
          </a:p>
          <a:p>
            <a:r>
              <a:rPr lang="fr-FR" baseline="0" dirty="0"/>
              <a:t>2-il faudrait définir le rôles des alphabet et symboles</a:t>
            </a:r>
          </a:p>
          <a:p>
            <a:r>
              <a:rPr lang="fr-FR" baseline="0" dirty="0"/>
              <a:t>3-La tortue de visualisation permet de dessiner le langage.</a:t>
            </a:r>
          </a:p>
          <a:p>
            <a:endParaRPr lang="fr-FR" baseline="0" dirty="0"/>
          </a:p>
          <a:p>
            <a:r>
              <a:rPr lang="fr-FR" baseline="0" dirty="0"/>
              <a:t>4-Définissant F un avancement de la tortue imaginaire et un dessin d’une droite en bleu.</a:t>
            </a:r>
          </a:p>
          <a:p>
            <a:r>
              <a:rPr lang="fr-FR" baseline="0" dirty="0"/>
              <a:t>                  Et + une rotation de la tortue à son droite relative</a:t>
            </a:r>
          </a:p>
          <a:p>
            <a:pPr marL="0" indent="0">
              <a:buFontTx/>
              <a:buNone/>
            </a:pPr>
            <a:r>
              <a:rPr lang="fr-FR" baseline="0" dirty="0"/>
              <a:t>                      - Une rotation à son gauche relative</a:t>
            </a:r>
          </a:p>
          <a:p>
            <a:pPr marL="0" indent="0">
              <a:buFontTx/>
              <a:buNone/>
            </a:pPr>
            <a:r>
              <a:rPr lang="fr-FR" baseline="0" dirty="0"/>
              <a:t>5-De ce fait une visualisation du langage formel F+F+F+F dessine un carré</a:t>
            </a:r>
          </a:p>
          <a:p>
            <a:pPr marL="0" indent="0">
              <a:buFontTx/>
              <a:buNone/>
            </a:pPr>
            <a:r>
              <a:rPr lang="fr-FR" baseline="0" dirty="0"/>
              <a:t>Et F+F-F+F+F-F+F+FFF dessine un lego.</a:t>
            </a:r>
          </a:p>
          <a:p>
            <a:pPr marL="0" indent="0">
              <a:buFontTx/>
              <a:buNone/>
            </a:pPr>
            <a:r>
              <a:rPr lang="fr-FR" baseline="0" dirty="0"/>
              <a:t>6- Si nous considérons chaque rotation d’un angle de 90°</a:t>
            </a:r>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62F67A-2B17-483C-8634-BD3D5A544AD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453993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1-Afin de comprendre le fonctionnement</a:t>
            </a:r>
            <a:r>
              <a:rPr lang="fr-FR" baseline="0" dirty="0"/>
              <a:t> de L-system</a:t>
            </a:r>
          </a:p>
          <a:p>
            <a:r>
              <a:rPr lang="fr-FR" baseline="0" dirty="0"/>
              <a:t>2- nous commençons par cette exemple ou l’axiome FXX </a:t>
            </a:r>
          </a:p>
          <a:p>
            <a:r>
              <a:rPr lang="fr-FR" baseline="0" dirty="0"/>
              <a:t>3- et le système  ce réécrit en utilisant deux règles d’une itération à une autre.</a:t>
            </a:r>
          </a:p>
          <a:p>
            <a:endParaRPr lang="fr-FR" baseline="0" dirty="0"/>
          </a:p>
          <a:p>
            <a:r>
              <a:rPr lang="fr-FR" baseline="0" dirty="0"/>
              <a:t>4-De ce fait le début sera exactement l’axiome </a:t>
            </a:r>
          </a:p>
          <a:p>
            <a:r>
              <a:rPr lang="fr-FR" baseline="0" dirty="0"/>
              <a:t>5- a l’itération 1 en remplace X par F+Z,</a:t>
            </a:r>
          </a:p>
          <a:p>
            <a:r>
              <a:rPr lang="fr-FR" baseline="0" dirty="0"/>
              <a:t>6- F existant au début reste F c’est une règle d’identité.</a:t>
            </a:r>
          </a:p>
          <a:p>
            <a:endParaRPr lang="fr-FR" baseline="0" dirty="0"/>
          </a:p>
          <a:p>
            <a:r>
              <a:rPr lang="fr-FR" baseline="0" dirty="0"/>
              <a:t>7-A la 2</a:t>
            </a:r>
            <a:r>
              <a:rPr lang="fr-FR" baseline="30000" dirty="0"/>
              <a:t>ème</a:t>
            </a:r>
            <a:r>
              <a:rPr lang="fr-FR" baseline="0" dirty="0"/>
              <a:t> itération en remplace que Z car X n’existe pas à l’itération 1 et ainsi de suite.</a:t>
            </a:r>
          </a:p>
          <a:p>
            <a:endParaRPr lang="fr-FR" baseline="0" dirty="0"/>
          </a:p>
          <a:p>
            <a:r>
              <a:rPr lang="fr-FR" baseline="0" dirty="0"/>
              <a:t>8-On visualise les 5 itérations et l’axiome avec F un cône en bleu, </a:t>
            </a:r>
          </a:p>
          <a:p>
            <a:r>
              <a:rPr lang="fr-FR" baseline="0" dirty="0"/>
              <a:t>                                                                         X en vert demi longueur de F </a:t>
            </a:r>
          </a:p>
          <a:p>
            <a:r>
              <a:rPr lang="fr-FR" baseline="0" dirty="0"/>
              <a:t>                                                              Z en rouge de même demi longueur de F</a:t>
            </a:r>
          </a:p>
          <a:p>
            <a:r>
              <a:rPr lang="fr-FR" baseline="0" dirty="0"/>
              <a:t>9-Et l’angle est définie de 15° nous obtenons la figure suivante en bas</a:t>
            </a:r>
          </a:p>
          <a:p>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62F67A-2B17-483C-8634-BD3D5A544AD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211943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1-Un plugin sous 3DS MAX a été développé</a:t>
            </a:r>
          </a:p>
          <a:p>
            <a:r>
              <a:rPr lang="fr-FR" dirty="0"/>
              <a:t>2- permettant au utilisateur d’entrer l’axiome et les règles,</a:t>
            </a:r>
            <a:r>
              <a:rPr lang="fr-FR" baseline="0" dirty="0"/>
              <a:t> l’angles </a:t>
            </a:r>
          </a:p>
          <a:p>
            <a:r>
              <a:rPr lang="fr-FR" baseline="0" dirty="0"/>
              <a:t>                                                                                et l’itération à la quel on simule la visualisation</a:t>
            </a:r>
          </a:p>
          <a:p>
            <a:r>
              <a:rPr lang="fr-FR" baseline="0" dirty="0"/>
              <a:t>3-Le plugin se base sur une fonction récursive</a:t>
            </a:r>
          </a:p>
          <a:p>
            <a:r>
              <a:rPr lang="fr-FR" baseline="0" dirty="0"/>
              <a:t>4- et dessine en 3D en ce référant au commande définie </a:t>
            </a:r>
          </a:p>
          <a:p>
            <a:r>
              <a:rPr lang="fr-FR" baseline="0" dirty="0"/>
              <a:t>5-deux types de commande sont définie par le concepteur </a:t>
            </a:r>
          </a:p>
          <a:p>
            <a:r>
              <a:rPr lang="fr-FR" baseline="0" dirty="0"/>
              <a:t>                                des commandes de mouvements</a:t>
            </a:r>
          </a:p>
          <a:p>
            <a:r>
              <a:rPr lang="fr-FR" baseline="0" dirty="0"/>
              <a:t>                                 et des commandes d’orientations </a:t>
            </a:r>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62F67A-2B17-483C-8634-BD3D5A544AD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072711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1-Les commandes d’orientation ordonnent la tortue imaginaire</a:t>
            </a:r>
          </a:p>
          <a:p>
            <a:r>
              <a:rPr lang="fr-FR" dirty="0"/>
              <a:t>                             à tourner selon un axe et un sens lier à</a:t>
            </a:r>
            <a:r>
              <a:rPr lang="fr-FR" baseline="0" dirty="0"/>
              <a:t> cette dernière</a:t>
            </a:r>
          </a:p>
          <a:p>
            <a:r>
              <a:rPr lang="fr-FR" baseline="0" dirty="0"/>
              <a:t>Nous avons définie + - ^ &amp; &lt; et &gt;</a:t>
            </a:r>
          </a:p>
          <a:p>
            <a:endParaRPr lang="fr-FR" baseline="0" dirty="0"/>
          </a:p>
          <a:p>
            <a:r>
              <a:rPr lang="fr-FR" baseline="0" dirty="0"/>
              <a:t>2- Les commandes de mouvement ordonne d’avancer,</a:t>
            </a:r>
          </a:p>
          <a:p>
            <a:r>
              <a:rPr lang="fr-FR" baseline="0" dirty="0"/>
              <a:t>                                                                           de dessiner,</a:t>
            </a:r>
          </a:p>
          <a:p>
            <a:r>
              <a:rPr lang="fr-FR" baseline="0" dirty="0"/>
              <a:t>                                                                             de mettre en mémoire </a:t>
            </a:r>
          </a:p>
          <a:p>
            <a:r>
              <a:rPr lang="fr-FR" baseline="0" dirty="0"/>
              <a:t>                                                                                 et de revenir à la position mise en mémoire</a:t>
            </a:r>
          </a:p>
          <a:p>
            <a:r>
              <a:rPr lang="fr-FR" baseline="0" dirty="0"/>
              <a:t>3-Nous pourrons ajouté des commandes selon nos besoins</a:t>
            </a:r>
          </a:p>
          <a:p>
            <a:endParaRPr lang="fr-FR" baseline="0" dirty="0"/>
          </a:p>
          <a:p>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62F67A-2B17-483C-8634-BD3D5A544AD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606997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1-En effectuant</a:t>
            </a:r>
            <a:r>
              <a:rPr lang="fr-FR" baseline="0" dirty="0"/>
              <a:t> des essaie de simulation </a:t>
            </a:r>
          </a:p>
          <a:p>
            <a:r>
              <a:rPr lang="fr-FR" baseline="0" dirty="0"/>
              <a:t>2-nous tombons sur des structures végétales, </a:t>
            </a:r>
          </a:p>
          <a:p>
            <a:r>
              <a:rPr lang="fr-FR" baseline="0" dirty="0"/>
              <a:t>                                                                       soit en 2D</a:t>
            </a:r>
          </a:p>
          <a:p>
            <a:r>
              <a:rPr lang="fr-FR" baseline="0" dirty="0"/>
              <a:t>                                                                       soit en 3D</a:t>
            </a:r>
          </a:p>
          <a:p>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62F67A-2B17-483C-8634-BD3D5A544AD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759786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1-Nous développons le plugin pour un 0L-system stochastique </a:t>
            </a:r>
          </a:p>
          <a:p>
            <a:r>
              <a:rPr lang="fr-FR" dirty="0"/>
              <a:t>2-le plugin permet d’associer des probabilités</a:t>
            </a:r>
            <a:r>
              <a:rPr lang="fr-FR" baseline="0" dirty="0"/>
              <a:t> au règle, </a:t>
            </a:r>
          </a:p>
          <a:p>
            <a:r>
              <a:rPr lang="fr-FR" baseline="0" dirty="0"/>
              <a:t>                                                                                         des import d'objets </a:t>
            </a:r>
          </a:p>
          <a:p>
            <a:r>
              <a:rPr lang="fr-FR" baseline="0" dirty="0"/>
              <a:t>                                                                            et de changer les probabilités associer au règles </a:t>
            </a:r>
          </a:p>
          <a:p>
            <a:r>
              <a:rPr lang="fr-FR" baseline="0" dirty="0"/>
              <a:t>                                                                           suivant une matrice appelé Matrice de transition</a:t>
            </a:r>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62F67A-2B17-483C-8634-BD3D5A544AD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647477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1-La figure en haut à gauche nous montre un objet importé</a:t>
            </a:r>
          </a:p>
          <a:p>
            <a:r>
              <a:rPr lang="fr-FR" dirty="0"/>
              <a:t>2- et des simulations pour la même itérations </a:t>
            </a:r>
          </a:p>
          <a:p>
            <a:r>
              <a:rPr lang="fr-FR" dirty="0"/>
              <a:t>3-aprés définition d’une distribution de probabilité d’exécution de deux règles définie.</a:t>
            </a:r>
          </a:p>
          <a:p>
            <a:endParaRPr lang="fr-FR" dirty="0"/>
          </a:p>
          <a:p>
            <a:r>
              <a:rPr lang="fr-FR" dirty="0"/>
              <a:t>4-La figure a droite permettent de visualiser</a:t>
            </a:r>
          </a:p>
          <a:p>
            <a:r>
              <a:rPr lang="fr-FR" dirty="0"/>
              <a:t>                          l’importance d’importation d’objet feuille pour une représentation végétale</a:t>
            </a:r>
          </a:p>
          <a:p>
            <a:r>
              <a:rPr lang="fr-FR" dirty="0"/>
              <a:t>5-La</a:t>
            </a:r>
            <a:r>
              <a:rPr lang="fr-FR" baseline="0" dirty="0"/>
              <a:t> figure en bas montre la diversité de simulation </a:t>
            </a:r>
          </a:p>
          <a:p>
            <a:r>
              <a:rPr lang="fr-FR" baseline="0" dirty="0"/>
              <a:t>                                               grâce à une distribution de probabilité associé au règles</a:t>
            </a:r>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62F67A-2B17-483C-8634-BD3D5A544AD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593129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1-Le convertisseur a été améliorer afin </a:t>
            </a:r>
          </a:p>
          <a:p>
            <a:r>
              <a:rPr lang="fr-FR" dirty="0"/>
              <a:t>                            de convertir la base de donnée </a:t>
            </a:r>
            <a:r>
              <a:rPr lang="fr-FR" dirty="0" err="1"/>
              <a:t>excel</a:t>
            </a:r>
            <a:r>
              <a:rPr lang="fr-FR" dirty="0"/>
              <a:t> vers un langage formel liables par le plugin 3DSMAX</a:t>
            </a:r>
          </a:p>
          <a:p>
            <a:endParaRPr lang="fr-FR" dirty="0"/>
          </a:p>
          <a:p>
            <a:r>
              <a:rPr lang="fr-FR" dirty="0"/>
              <a:t>3-nous le développons de tel façons qu’il extrait tout paramètre ce trouvant</a:t>
            </a:r>
            <a:r>
              <a:rPr lang="fr-FR" baseline="0" dirty="0"/>
              <a:t> dans la base de donnée</a:t>
            </a:r>
          </a:p>
          <a:p>
            <a:endParaRPr lang="fr-FR" baseline="0" dirty="0"/>
          </a:p>
          <a:p>
            <a:r>
              <a:rPr lang="fr-FR" baseline="0" dirty="0"/>
              <a:t>4-La lettre F signifie  un entrenœud </a:t>
            </a:r>
            <a:r>
              <a:rPr lang="fr-FR" dirty="0"/>
              <a:t>et considérer comme étant un cône, les paramètre hauteur,</a:t>
            </a:r>
            <a:r>
              <a:rPr lang="fr-FR" baseline="0" dirty="0"/>
              <a:t> diamètre sont décrit en chiffre entre parenthèse et séparer par slache.</a:t>
            </a:r>
          </a:p>
          <a:p>
            <a:r>
              <a:rPr lang="fr-FR" baseline="0" dirty="0"/>
              <a:t>5- les croché qui mémorise la position indique la présence d’une ramification</a:t>
            </a:r>
          </a:p>
          <a:p>
            <a:endParaRPr lang="fr-FR" baseline="0" dirty="0"/>
          </a:p>
          <a:p>
            <a:r>
              <a:rPr lang="fr-FR" baseline="0" dirty="0"/>
              <a:t>6-nous plaçons des commandes d’orientations entre les entrenœuds F si c’est nécessaire </a:t>
            </a:r>
          </a:p>
          <a:p>
            <a:endParaRPr lang="fr-FR" baseline="0" dirty="0"/>
          </a:p>
          <a:p>
            <a:r>
              <a:rPr lang="fr-FR" baseline="0" dirty="0"/>
              <a:t>7-et nous notons l’angle de rotation entre parenthèse.</a:t>
            </a:r>
          </a:p>
          <a:p>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62F67A-2B17-483C-8634-BD3D5A544AD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758730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200" dirty="0"/>
              <a:t>1-Trouver les angles de rotation n’était</a:t>
            </a:r>
            <a:r>
              <a:rPr lang="fr-FR" sz="1200" baseline="0" dirty="0"/>
              <a:t> pas une affaire facile surtout qu’on avait</a:t>
            </a:r>
          </a:p>
          <a:p>
            <a:r>
              <a:rPr lang="fr-FR" sz="1200" baseline="0" dirty="0"/>
              <a:t>2- l’intension de trouver des angles significatif en matière d’analyse.</a:t>
            </a:r>
          </a:p>
          <a:p>
            <a:endParaRPr lang="fr-FR" sz="1200" baseline="0" dirty="0"/>
          </a:p>
          <a:p>
            <a:r>
              <a:rPr lang="fr-FR" sz="1200" baseline="0" dirty="0"/>
              <a:t>3-C’est pour cela qu’on définie l’angle de branchement (#) </a:t>
            </a:r>
          </a:p>
          <a:p>
            <a:r>
              <a:rPr lang="fr-FR" sz="1200" baseline="0" dirty="0"/>
              <a:t>                                                   et l’angle de phyllotaxie cumulée (!) </a:t>
            </a:r>
          </a:p>
          <a:p>
            <a:r>
              <a:rPr lang="fr-FR" sz="1200" baseline="0" dirty="0"/>
              <a:t>                                          pour la conversion et de plus l’angle de phyllotaxie fixe (@) pour les règles </a:t>
            </a:r>
          </a:p>
          <a:p>
            <a:endParaRPr lang="fr-FR" sz="1200" baseline="0" dirty="0"/>
          </a:p>
          <a:p>
            <a:r>
              <a:rPr lang="fr-FR" sz="1200" baseline="0" dirty="0"/>
              <a:t>4-Le but était de trouver un comportement de l’angle de branchement </a:t>
            </a:r>
          </a:p>
          <a:p>
            <a:r>
              <a:rPr lang="fr-FR" sz="1200" baseline="0" dirty="0"/>
              <a:t>                                                                  et de l’angle de phyllotaxie fixe</a:t>
            </a:r>
          </a:p>
          <a:p>
            <a:r>
              <a:rPr lang="fr-FR" sz="1200" baseline="0" dirty="0"/>
              <a:t>5- nous résolvant le problème, par construction </a:t>
            </a:r>
          </a:p>
          <a:p>
            <a:r>
              <a:rPr lang="fr-FR" sz="1200" baseline="0" dirty="0"/>
              <a:t>6-nous supposons un repère lié à chaque entrenœud </a:t>
            </a:r>
          </a:p>
          <a:p>
            <a:r>
              <a:rPr lang="fr-FR" sz="1200" baseline="0" dirty="0"/>
              <a:t>7-sachant le phénomène de phyllotaxie, nous calculons les vecteurs du repère suivant, </a:t>
            </a:r>
          </a:p>
          <a:p>
            <a:r>
              <a:rPr lang="fr-FR" sz="1200" baseline="0" dirty="0"/>
              <a:t>8-nous faisons varier Alpha Y lorsque on atteint le minimum de cette norme nous trouvons l’angle de branchement </a:t>
            </a:r>
          </a:p>
          <a:p>
            <a:r>
              <a:rPr lang="fr-FR" sz="1200" baseline="0" dirty="0"/>
              <a:t>9-après nous faisons varier Alpha Z pour cette deuxième norme est </a:t>
            </a:r>
          </a:p>
          <a:p>
            <a:r>
              <a:rPr lang="fr-FR" sz="1200" baseline="0" dirty="0"/>
              <a:t>10-nous tombons sur l’angle de phyllotaxie cumulé car les calculs sont appliqué pour chaque point de ramification.</a:t>
            </a:r>
          </a:p>
          <a:p>
            <a:endParaRPr lang="fr-FR" sz="1200" baseline="0" dirty="0"/>
          </a:p>
          <a:p>
            <a:endParaRPr lang="fr-FR" sz="1200"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62F67A-2B17-483C-8634-BD3D5A544AD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074458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1-Le</a:t>
            </a:r>
            <a:r>
              <a:rPr lang="fr-FR" baseline="0" dirty="0"/>
              <a:t> langage formel implémenté, </a:t>
            </a:r>
          </a:p>
          <a:p>
            <a:r>
              <a:rPr lang="fr-FR" baseline="0" dirty="0"/>
              <a:t>2-nous donne exactement les résultat comme l’implémentation du script (. Ms) dans la première partie. </a:t>
            </a:r>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62F67A-2B17-483C-8634-BD3D5A544AD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116204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1-Le</a:t>
            </a:r>
            <a:r>
              <a:rPr lang="fr-FR" baseline="0" dirty="0"/>
              <a:t> langage formel peut être analyser</a:t>
            </a:r>
          </a:p>
          <a:p>
            <a:r>
              <a:rPr lang="fr-FR" baseline="0" dirty="0"/>
              <a:t>                             et décomposer sous forme de séquence </a:t>
            </a:r>
          </a:p>
          <a:p>
            <a:r>
              <a:rPr lang="fr-FR" baseline="0" dirty="0"/>
              <a:t>2-où chaque séquence représente une série temporaire</a:t>
            </a:r>
          </a:p>
          <a:p>
            <a:r>
              <a:rPr lang="fr-FR" baseline="0" dirty="0"/>
              <a:t>3- ceci pour chaque paramètre soit pour l’étude hiérarchique ou géométrique.</a:t>
            </a:r>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62F67A-2B17-483C-8634-BD3D5A544AD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592179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1-Afin de caractériser</a:t>
            </a:r>
            <a:r>
              <a:rPr lang="fr-FR" baseline="0" dirty="0"/>
              <a:t> le processus stochastique de développement d’ une plante, </a:t>
            </a:r>
          </a:p>
          <a:p>
            <a:r>
              <a:rPr lang="fr-FR" baseline="0" dirty="0"/>
              <a:t>2-nous avons recours à la connaissance de chaine et processus de  Markov </a:t>
            </a:r>
          </a:p>
          <a:p>
            <a:endParaRPr lang="fr-FR" baseline="0" dirty="0"/>
          </a:p>
          <a:p>
            <a:r>
              <a:rPr lang="fr-FR" baseline="0" dirty="0"/>
              <a:t>3-par exemple si nous modélisons l’état 0 par un bourgeon l’état 1 rameau différé d’un cycle l’état 2 rameau différé d’un an monocyclique l’état 3 différé d’un an polycyclique et si nous notons les état de la base de l’UIC jusqu’au sommet.</a:t>
            </a:r>
          </a:p>
          <a:p>
            <a:endParaRPr lang="fr-FR" baseline="0" dirty="0"/>
          </a:p>
          <a:p>
            <a:r>
              <a:rPr lang="fr-FR" baseline="0" dirty="0"/>
              <a:t>4-Nous pouvons extraire des séquences d’état représenter sous forme de série temporaire </a:t>
            </a:r>
          </a:p>
          <a:p>
            <a:r>
              <a:rPr lang="fr-FR" baseline="0" dirty="0"/>
              <a:t>5-et nous pouvons analyser ces séquences par un processus stochastique qu’on appel processus de Markov.</a:t>
            </a:r>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62F67A-2B17-483C-8634-BD3D5A544AD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85861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1-Le</a:t>
            </a:r>
            <a:r>
              <a:rPr lang="fr-FR" baseline="0" dirty="0"/>
              <a:t> principe pertinent de processus de Markov est que</a:t>
            </a:r>
          </a:p>
          <a:p>
            <a:r>
              <a:rPr lang="fr-FR" baseline="0" dirty="0"/>
              <a:t>                                            l’état futur est indépendant de son passé et dépendant que de l’état présent</a:t>
            </a:r>
          </a:p>
          <a:p>
            <a:r>
              <a:rPr lang="fr-FR" baseline="0" dirty="0"/>
              <a:t>2- la matrice de transition décrit les probabilité d’avoir un état sachant un état précédent.</a:t>
            </a:r>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62F67A-2B17-483C-8634-BD3D5A544AD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9329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1-La matrice de transition est dite stochastique</a:t>
            </a:r>
            <a:r>
              <a:rPr lang="fr-FR" baseline="0" dirty="0"/>
              <a:t> la somme de n’importe quel ligne est égale à 1.</a:t>
            </a:r>
          </a:p>
          <a:p>
            <a:r>
              <a:rPr lang="fr-FR" baseline="0" dirty="0"/>
              <a:t>2-Nous pouvons aussi savoir la probabilité d’avoir un état à l'itération n </a:t>
            </a:r>
          </a:p>
          <a:p>
            <a:r>
              <a:rPr lang="fr-FR" baseline="0" dirty="0"/>
              <a:t>3- utilisons la distribution initiale et la puissance de matrice de transition.</a:t>
            </a:r>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62F67A-2B17-483C-8634-BD3D5A544AD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593327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1-L’existance de la suite </a:t>
            </a:r>
            <a:r>
              <a:rPr lang="fr-FR" dirty="0" err="1"/>
              <a:t>Fibouacie</a:t>
            </a:r>
            <a:r>
              <a:rPr lang="fr-FR" dirty="0"/>
              <a:t> a été souligné dans plusieurs ouvrage et documentaire </a:t>
            </a:r>
          </a:p>
          <a:p>
            <a:r>
              <a:rPr lang="fr-FR" dirty="0"/>
              <a:t>2-Mathématiquement,</a:t>
            </a:r>
            <a:r>
              <a:rPr lang="fr-FR" baseline="0" dirty="0"/>
              <a:t> la suite de </a:t>
            </a:r>
            <a:r>
              <a:rPr lang="fr-FR" baseline="0" dirty="0" err="1"/>
              <a:t>Fibonacci</a:t>
            </a:r>
            <a:r>
              <a:rPr lang="fr-FR" baseline="0" dirty="0"/>
              <a:t> est une suite que son nouveau terme est la somme de deux antécédents</a:t>
            </a:r>
          </a:p>
          <a:p>
            <a:r>
              <a:rPr lang="fr-FR" baseline="0" dirty="0"/>
              <a:t>3- de ce fait nous définissant le nombre d’or, le nombre de beauté la convergence du rapport entre deux termes consécutif de la suite qui est égale 1,618. </a:t>
            </a:r>
          </a:p>
          <a:p>
            <a:r>
              <a:rPr lang="fr-FR" baseline="0" dirty="0"/>
              <a:t>4- L’angle d’or étant égale 137,51</a:t>
            </a:r>
          </a:p>
          <a:p>
            <a:r>
              <a:rPr lang="fr-FR" baseline="0" dirty="0"/>
              <a:t>5- La suite existe dans le </a:t>
            </a:r>
            <a:r>
              <a:rPr lang="fr-FR" baseline="0" dirty="0" err="1"/>
              <a:t>parastiche</a:t>
            </a:r>
            <a:r>
              <a:rPr lang="fr-FR" baseline="0" dirty="0"/>
              <a:t> des pommes  de pin, le cœur d’un tournesol, dans la structure de branchement des arbres, dans la phyllotaxie du feuillage </a:t>
            </a:r>
            <a:r>
              <a:rPr lang="fr-FR" baseline="0" dirty="0" err="1"/>
              <a:t>ect</a:t>
            </a:r>
            <a:r>
              <a:rPr lang="fr-FR" baseline="0" dirty="0"/>
              <a:t>…</a:t>
            </a:r>
          </a:p>
          <a:p>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62F67A-2B17-483C-8634-BD3D5A544AD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921449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1-Nous</a:t>
            </a:r>
            <a:r>
              <a:rPr lang="fr-FR" baseline="0" dirty="0"/>
              <a:t> nous proposons modéliser la croissance de la population lapin qui suit </a:t>
            </a:r>
            <a:r>
              <a:rPr lang="fr-FR" baseline="0" dirty="0" err="1"/>
              <a:t>fibonacci</a:t>
            </a:r>
            <a:r>
              <a:rPr lang="fr-FR" baseline="0" dirty="0"/>
              <a:t> par un L-Système</a:t>
            </a:r>
          </a:p>
          <a:p>
            <a:r>
              <a:rPr lang="fr-FR" baseline="0" dirty="0"/>
              <a:t>2- Nous commençons par OL-Système </a:t>
            </a:r>
          </a:p>
          <a:p>
            <a:r>
              <a:rPr lang="fr-FR" baseline="0" dirty="0"/>
              <a:t>3-puis par un OL-Système stochastique intégrant le processus de </a:t>
            </a:r>
            <a:r>
              <a:rPr lang="fr-FR" baseline="0" dirty="0" err="1"/>
              <a:t>markov</a:t>
            </a:r>
            <a:endParaRPr lang="fr-FR" baseline="0" dirty="0"/>
          </a:p>
          <a:p>
            <a:r>
              <a:rPr lang="fr-FR" baseline="0" dirty="0"/>
              <a:t>                                                            et nous essayons de prouvé l’existence de nombre d’or dans les équations.</a:t>
            </a:r>
            <a:endParaRPr lang="fr-FR" dirty="0"/>
          </a:p>
          <a:p>
            <a:r>
              <a:rPr lang="fr-FR" dirty="0"/>
              <a:t>4-Commençons par le cas d’un OL-Système</a:t>
            </a:r>
            <a:r>
              <a:rPr lang="fr-FR" baseline="0" dirty="0"/>
              <a:t> </a:t>
            </a:r>
          </a:p>
          <a:p>
            <a:r>
              <a:rPr lang="fr-FR" baseline="0" dirty="0"/>
              <a:t>5-Nous modélisons les lapin non mature par petit f  et les lapin capable de se reproduire par F, </a:t>
            </a:r>
          </a:p>
          <a:p>
            <a:r>
              <a:rPr lang="fr-FR" baseline="0" dirty="0"/>
              <a:t>6-la règle A dit qu’un lapin non mature grandit à une itérations de plus.</a:t>
            </a:r>
          </a:p>
          <a:p>
            <a:r>
              <a:rPr lang="fr-FR" baseline="0" dirty="0"/>
              <a:t>7-La réglé B souligne qu’un couple lapin mature donne naissance à un petit couple lapin après une itérations ( un mois dans la réalité) </a:t>
            </a:r>
          </a:p>
          <a:p>
            <a:r>
              <a:rPr lang="fr-FR" baseline="0" dirty="0"/>
              <a:t>8-aprés des calculs la distribution de la population a été éprouvé qu’elle dépend du nombre d’or à n itération</a:t>
            </a:r>
          </a:p>
          <a:p>
            <a:r>
              <a:rPr lang="fr-FR" baseline="0" dirty="0"/>
              <a:t>9-n très grand </a:t>
            </a:r>
          </a:p>
          <a:p>
            <a:r>
              <a:rPr lang="fr-FR" baseline="0" dirty="0"/>
              <a:t>10-et dans le cas d’une population initialisé par un couple de lapin non mature </a:t>
            </a:r>
          </a:p>
          <a:p>
            <a:r>
              <a:rPr lang="fr-FR" baseline="0" dirty="0"/>
              <a:t>11-elle converge vers 38% de la population sont des couples jeunes et 62% couples mures</a:t>
            </a:r>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62F67A-2B17-483C-8634-BD3D5A544AD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804518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1-Pour le cas de OL-Système  stochastique nous définissons petit f comme étant un couple de lapin capable de se reproduire </a:t>
            </a:r>
          </a:p>
          <a:p>
            <a:r>
              <a:rPr lang="fr-FR" dirty="0"/>
              <a:t>2- avec une probabilité </a:t>
            </a:r>
            <a:r>
              <a:rPr lang="fr-FR" dirty="0" err="1"/>
              <a:t>Pn</a:t>
            </a:r>
            <a:r>
              <a:rPr lang="fr-FR" baseline="0" dirty="0"/>
              <a:t>(B) </a:t>
            </a:r>
            <a:r>
              <a:rPr lang="fr-FR" dirty="0"/>
              <a:t>pour la règle</a:t>
            </a:r>
            <a:r>
              <a:rPr lang="fr-FR" baseline="0" dirty="0"/>
              <a:t> B à l’itération n , </a:t>
            </a:r>
          </a:p>
          <a:p>
            <a:r>
              <a:rPr lang="fr-FR" baseline="0" dirty="0"/>
              <a:t>3-la règle B augmente la population</a:t>
            </a:r>
          </a:p>
          <a:p>
            <a:r>
              <a:rPr lang="fr-FR" baseline="0" dirty="0"/>
              <a:t>4-ou avec probabilité </a:t>
            </a:r>
            <a:r>
              <a:rPr lang="fr-FR" baseline="0" dirty="0" err="1"/>
              <a:t>Pn</a:t>
            </a:r>
            <a:r>
              <a:rPr lang="fr-FR" baseline="0" dirty="0"/>
              <a:t> (A) pour la </a:t>
            </a:r>
            <a:r>
              <a:rPr lang="fr-FR" baseline="0" dirty="0" err="1"/>
              <a:t>régle</a:t>
            </a:r>
            <a:r>
              <a:rPr lang="fr-FR" baseline="0" dirty="0"/>
              <a:t> A à l’itération n </a:t>
            </a:r>
          </a:p>
          <a:p>
            <a:r>
              <a:rPr lang="fr-FR" baseline="0" dirty="0"/>
              <a:t>5- la règle A un phénomène de retard de reproduction</a:t>
            </a:r>
          </a:p>
          <a:p>
            <a:r>
              <a:rPr lang="fr-FR" baseline="0" dirty="0"/>
              <a:t>6-nous définissons une matrice de transition qui après calcul éprouve l’existence de nombre d’or </a:t>
            </a:r>
          </a:p>
          <a:p>
            <a:endParaRPr lang="fr-FR" baseline="0" dirty="0"/>
          </a:p>
          <a:p>
            <a:r>
              <a:rPr lang="fr-FR" baseline="0" dirty="0"/>
              <a:t>7-De ce fait si on dit que la capacité d’un arbre à se propager est comme la capacité de la suite de </a:t>
            </a:r>
            <a:r>
              <a:rPr lang="fr-FR" baseline="0" dirty="0" err="1"/>
              <a:t>Fibonacci</a:t>
            </a:r>
            <a:r>
              <a:rPr lang="fr-FR" baseline="0" dirty="0"/>
              <a:t> à se propager </a:t>
            </a:r>
          </a:p>
          <a:p>
            <a:r>
              <a:rPr lang="fr-FR" baseline="0" dirty="0"/>
              <a:t>8-alors nous pouvons déduire une contrainte suivant le rapport entre le nombre de population ou nombre d’organe consécutive qui égale au nombre d’or</a:t>
            </a:r>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62F67A-2B17-483C-8634-BD3D5A544AD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090964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1-Revenons à notre objectif celui de caractériser la structure de nos branches.</a:t>
            </a:r>
          </a:p>
          <a:p>
            <a:r>
              <a:rPr lang="fr-FR" dirty="0"/>
              <a:t>2-Soit</a:t>
            </a:r>
            <a:r>
              <a:rPr lang="fr-FR" baseline="0" dirty="0"/>
              <a:t> les règles suivantes g et f des organe invisible </a:t>
            </a:r>
          </a:p>
          <a:p>
            <a:r>
              <a:rPr lang="fr-FR" baseline="0" dirty="0"/>
              <a:t>3-g étant un organe mort, f un organe capable de produire </a:t>
            </a:r>
          </a:p>
          <a:p>
            <a:r>
              <a:rPr lang="fr-FR" baseline="0" dirty="0"/>
              <a:t>                                                  Y un entrenœud possédant une seul liaison </a:t>
            </a:r>
          </a:p>
          <a:p>
            <a:r>
              <a:rPr lang="fr-FR" baseline="0" dirty="0"/>
              <a:t>                                                    ou X un entrenœud possédant deux liaison,</a:t>
            </a:r>
          </a:p>
          <a:p>
            <a:r>
              <a:rPr lang="fr-FR" baseline="0" dirty="0"/>
              <a:t>4- </a:t>
            </a:r>
            <a:r>
              <a:rPr lang="fr-FR" baseline="0" dirty="0" err="1"/>
              <a:t>Hn</a:t>
            </a:r>
            <a:r>
              <a:rPr lang="fr-FR" baseline="0" dirty="0"/>
              <a:t> est la probabilité d’exécution</a:t>
            </a:r>
          </a:p>
          <a:p>
            <a:r>
              <a:rPr lang="fr-FR" baseline="0" dirty="0"/>
              <a:t>5- la somme de ces probabilité pour une alphabet génératrice de règles est égale à1.</a:t>
            </a:r>
          </a:p>
          <a:p>
            <a:r>
              <a:rPr lang="fr-FR" baseline="0" dirty="0"/>
              <a:t>6-La règle A étant la mort qui reste la mort </a:t>
            </a:r>
          </a:p>
          <a:p>
            <a:r>
              <a:rPr lang="fr-FR" baseline="0" dirty="0"/>
              <a:t>7-la règle B étant un organe vivant qui subit la mort</a:t>
            </a:r>
          </a:p>
          <a:p>
            <a:r>
              <a:rPr lang="fr-FR" baseline="0" dirty="0"/>
              <a:t>8-La règle C étant un phénomène de retard</a:t>
            </a:r>
          </a:p>
          <a:p>
            <a:r>
              <a:rPr lang="fr-FR" normalizeH="0" baseline="0" dirty="0"/>
              <a:t>9-La règle D étant le développement linéaire de l’organe en entrenœud et un organe lié capable de se reproduire </a:t>
            </a:r>
          </a:p>
          <a:p>
            <a:r>
              <a:rPr lang="fr-FR" normalizeH="0" baseline="0" dirty="0"/>
              <a:t>10-La règle E étant la multiplication d’organe et le développement exponentiel un entrenœud X possédant deux liaison et deux organes non observable f.</a:t>
            </a:r>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62F67A-2B17-483C-8634-BD3D5A544AD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85048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1-Nous</a:t>
            </a:r>
            <a:r>
              <a:rPr lang="fr-FR" baseline="0" dirty="0"/>
              <a:t> définissons deux matrice de transition M et H pour les passages de règles vers une autre </a:t>
            </a:r>
          </a:p>
          <a:p>
            <a:r>
              <a:rPr lang="fr-FR" baseline="0" dirty="0"/>
              <a:t>2-et nous définissions une autre probabilité P qui différencie de al probabilité H par la prise de considération de tout cardinal des règle allant de A jusqu’a E.</a:t>
            </a:r>
          </a:p>
          <a:p>
            <a:endParaRPr lang="fr-FR" baseline="0" dirty="0"/>
          </a:p>
          <a:p>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62F67A-2B17-483C-8634-BD3D5A544AD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80355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1- La</a:t>
            </a:r>
            <a:r>
              <a:rPr lang="fr-FR" baseline="0" dirty="0"/>
              <a:t> matrice H considère que les règles</a:t>
            </a:r>
          </a:p>
          <a:p>
            <a:r>
              <a:rPr lang="fr-FR" baseline="0" dirty="0"/>
              <a:t>                                                    de B jusqu’à E </a:t>
            </a:r>
          </a:p>
          <a:p>
            <a:r>
              <a:rPr lang="fr-FR" baseline="0" dirty="0"/>
              <a:t>2-afin qu’elle soit stochastique </a:t>
            </a:r>
          </a:p>
          <a:p>
            <a:r>
              <a:rPr lang="fr-FR" baseline="0" dirty="0"/>
              <a:t>3-un résultat nous permet de calculer H si on a des certaine connaissance sur M et les probabilité P considérer.</a:t>
            </a:r>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62F67A-2B17-483C-8634-BD3D5A544AD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205986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1-L’objectif étant d’estimer H alors nous procédant comme suit.</a:t>
            </a:r>
          </a:p>
          <a:p>
            <a:r>
              <a:rPr lang="fr-FR" dirty="0"/>
              <a:t>2-A</a:t>
            </a:r>
            <a:r>
              <a:rPr lang="fr-FR" baseline="0" dirty="0"/>
              <a:t> partir d’un langage formel nous essayons de la </a:t>
            </a:r>
          </a:p>
          <a:p>
            <a:r>
              <a:rPr lang="fr-FR" baseline="0" dirty="0"/>
              <a:t>                                                            maitre sous forme de séquence et série temporaire. </a:t>
            </a:r>
          </a:p>
          <a:p>
            <a:r>
              <a:rPr lang="fr-FR" baseline="0" dirty="0"/>
              <a:t>3-Un problème augmente les difficultés et qu’il y a des états qu’on peut pas les placer à leur plage temporaire exacte, </a:t>
            </a:r>
          </a:p>
          <a:p>
            <a:r>
              <a:rPr lang="fr-FR" baseline="0" dirty="0"/>
              <a:t>4-ceci revient que le phénomène de retard n’est pas visualisé et la mort des organes n’est pas aussi évidente. </a:t>
            </a:r>
          </a:p>
          <a:p>
            <a:r>
              <a:rPr lang="fr-FR" baseline="0" dirty="0"/>
              <a:t>5-Nous remédions à ce problème par un placement d’un état I appelé état d’invisible </a:t>
            </a:r>
          </a:p>
          <a:p>
            <a:r>
              <a:rPr lang="fr-FR" baseline="0" dirty="0"/>
              <a:t>6-et nous estimons des cardinales de succession d’état </a:t>
            </a:r>
          </a:p>
          <a:p>
            <a:r>
              <a:rPr lang="fr-FR" baseline="0" dirty="0"/>
              <a:t>7-on variant le  nombre de retard c existant dans une séquences ou en imposant un pourcentage par rapport au invisible </a:t>
            </a:r>
          </a:p>
          <a:p>
            <a:r>
              <a:rPr lang="fr-FR" baseline="0" dirty="0"/>
              <a:t>8-et on calcul le nombre de combinaison possible. </a:t>
            </a:r>
          </a:p>
          <a:p>
            <a:r>
              <a:rPr lang="fr-FR" baseline="0" dirty="0"/>
              <a:t>9-La considération de la suite de </a:t>
            </a:r>
            <a:r>
              <a:rPr lang="fr-FR" baseline="0" dirty="0" err="1"/>
              <a:t>Fibonacci</a:t>
            </a:r>
            <a:r>
              <a:rPr lang="fr-FR" baseline="0" dirty="0"/>
              <a:t> pourras améliorer l’estimation mais nécessite des calculs complexes pour l’ajustement.</a:t>
            </a:r>
          </a:p>
          <a:p>
            <a:r>
              <a:rPr lang="fr-FR" baseline="0" dirty="0"/>
              <a:t>10-nous estimons les probabilité de transition pour chaque séquence </a:t>
            </a:r>
          </a:p>
          <a:p>
            <a:r>
              <a:rPr lang="fr-FR" baseline="0" dirty="0"/>
              <a:t>11-et par une moyenne nous estimons M. puis nous déduisant H.</a:t>
            </a:r>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62F67A-2B17-483C-8634-BD3D5A544AD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347474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1-L’analyse Hiérarchique permet</a:t>
            </a:r>
            <a:r>
              <a:rPr lang="fr-FR" baseline="0" dirty="0"/>
              <a:t> à partir d’axiome de calculer automatiquement les matrices de transition </a:t>
            </a:r>
          </a:p>
          <a:p>
            <a:r>
              <a:rPr lang="fr-FR" baseline="0" dirty="0"/>
              <a:t>                                        à partir de pourcentage des retards par rapport au état invisible</a:t>
            </a:r>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62F67A-2B17-483C-8634-BD3D5A544AD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939419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1-Sachant le rapport</a:t>
            </a:r>
            <a:r>
              <a:rPr lang="fr-FR" baseline="0" dirty="0"/>
              <a:t> entre les fréquences des entrenœud ayant deux liaisons et les fréquence des entrenœud n’ayant qu’une liaison</a:t>
            </a:r>
          </a:p>
          <a:p>
            <a:r>
              <a:rPr lang="fr-FR" baseline="0" dirty="0"/>
              <a:t>2- en variant le pourcentage de c nous estimons la matrice H pour un choix de pourcentage 10 </a:t>
            </a:r>
          </a:p>
          <a:p>
            <a:r>
              <a:rPr lang="fr-FR" baseline="0" dirty="0"/>
              <a:t>                                                                                                                                  Retard par rapport aux inconnues</a:t>
            </a:r>
          </a:p>
          <a:p>
            <a:r>
              <a:rPr lang="fr-FR" baseline="0" dirty="0"/>
              <a:t>3-et l’on trouve la matrice H</a:t>
            </a:r>
          </a:p>
          <a:p>
            <a:r>
              <a:rPr lang="fr-FR" baseline="0" dirty="0"/>
              <a:t>4-sachant le nombre de séquence </a:t>
            </a:r>
          </a:p>
          <a:p>
            <a:r>
              <a:rPr lang="fr-FR" baseline="0" dirty="0"/>
              <a:t>5-en déduit le nombre de </a:t>
            </a:r>
            <a:r>
              <a:rPr lang="fr-FR" baseline="0" dirty="0" err="1"/>
              <a:t>fibo</a:t>
            </a:r>
            <a:r>
              <a:rPr lang="fr-FR" baseline="0" dirty="0"/>
              <a:t> supérieur le plus prés qui est </a:t>
            </a:r>
          </a:p>
          <a:p>
            <a:r>
              <a:rPr lang="fr-FR" baseline="0" dirty="0"/>
              <a:t>                                          supposé égale à la somme des organes mort et des organes capable de se reproduire </a:t>
            </a:r>
          </a:p>
          <a:p>
            <a:r>
              <a:rPr lang="fr-FR" baseline="0" dirty="0"/>
              <a:t>6-On estime par cette équation le nombre des organes capables de se reproduire </a:t>
            </a:r>
          </a:p>
          <a:p>
            <a:r>
              <a:rPr lang="fr-FR" baseline="0" dirty="0"/>
              <a:t>7-et l’on les place dans les séquences qui ont des états non observables moins importants </a:t>
            </a:r>
          </a:p>
          <a:p>
            <a:r>
              <a:rPr lang="fr-FR" baseline="0" dirty="0"/>
              <a:t>8-et on calcul la probabilité initiale de système</a:t>
            </a:r>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62F67A-2B17-483C-8634-BD3D5A544AD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2162457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1-De même pour la branche2 on trouve les résultats suivantes</a:t>
            </a:r>
          </a:p>
          <a:p>
            <a:r>
              <a:rPr lang="fr-FR" dirty="0"/>
              <a:t>2-Nous avons ainsi</a:t>
            </a:r>
          </a:p>
          <a:p>
            <a:r>
              <a:rPr lang="fr-FR" dirty="0"/>
              <a:t>                                caractériser la structure de nos 2 exemples de plante</a:t>
            </a:r>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62F67A-2B17-483C-8634-BD3D5A544AD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24075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1-Il nous reste que de caractériser la géométrie de ces derniers.</a:t>
            </a:r>
          </a:p>
          <a:p>
            <a:r>
              <a:rPr lang="fr-FR" dirty="0"/>
              <a:t> 2-On ce propose que les</a:t>
            </a:r>
            <a:r>
              <a:rPr lang="fr-FR" baseline="0" dirty="0"/>
              <a:t> paramètre longueur entrenœud, épaisseur bas et épaisseurs haut sont</a:t>
            </a:r>
          </a:p>
          <a:p>
            <a:r>
              <a:rPr lang="fr-FR" baseline="0" dirty="0"/>
              <a:t>                                </a:t>
            </a:r>
          </a:p>
          <a:p>
            <a:r>
              <a:rPr lang="fr-FR" baseline="0" dirty="0"/>
              <a:t>                                                                des sigmoïdes avec des fluctuation d’erreur de loi normale</a:t>
            </a:r>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62F67A-2B17-483C-8634-BD3D5A544AD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80361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1-Afin</a:t>
            </a:r>
            <a:r>
              <a:rPr lang="fr-FR" baseline="0" dirty="0"/>
              <a:t> d’estimer les paramètre de la fonction sigmoïde </a:t>
            </a:r>
          </a:p>
          <a:p>
            <a:r>
              <a:rPr lang="fr-FR" baseline="0" dirty="0"/>
              <a:t>2-on utilise la fonction </a:t>
            </a:r>
            <a:r>
              <a:rPr lang="fr-FR" baseline="0" dirty="0" err="1"/>
              <a:t>logit</a:t>
            </a:r>
            <a:r>
              <a:rPr lang="fr-FR" baseline="0" dirty="0"/>
              <a:t> </a:t>
            </a:r>
          </a:p>
          <a:p>
            <a:r>
              <a:rPr lang="fr-FR" baseline="0" dirty="0"/>
              <a:t>3-on divise les nuages d’échantillon par le paramètre K </a:t>
            </a:r>
          </a:p>
          <a:p>
            <a:r>
              <a:rPr lang="fr-FR" baseline="0" dirty="0"/>
              <a:t>                                                                    une variable</a:t>
            </a:r>
          </a:p>
          <a:p>
            <a:r>
              <a:rPr lang="fr-FR" baseline="0" dirty="0"/>
              <a:t>                                                                  et on applique un </a:t>
            </a:r>
            <a:r>
              <a:rPr lang="fr-FR" baseline="0" dirty="0" err="1"/>
              <a:t>logit</a:t>
            </a:r>
            <a:endParaRPr lang="fr-FR" baseline="0" dirty="0"/>
          </a:p>
          <a:p>
            <a:r>
              <a:rPr lang="fr-FR" baseline="0" dirty="0"/>
              <a:t>4-On fixe k après une variation </a:t>
            </a:r>
          </a:p>
          <a:p>
            <a:r>
              <a:rPr lang="fr-FR" baseline="0" dirty="0"/>
              <a:t>                                     à une valeur qui maximise la corrélation avec la droite linéarisé du </a:t>
            </a:r>
            <a:r>
              <a:rPr lang="fr-FR" baseline="0" dirty="0" err="1"/>
              <a:t>logit</a:t>
            </a:r>
            <a:r>
              <a:rPr lang="fr-FR" baseline="0" dirty="0"/>
              <a:t> calculé </a:t>
            </a:r>
          </a:p>
          <a:p>
            <a:r>
              <a:rPr lang="fr-FR" baseline="0" dirty="0"/>
              <a:t>5-puis on déduit r et a par les coefficient de la droite</a:t>
            </a:r>
          </a:p>
          <a:p>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62F67A-2B17-483C-8634-BD3D5A544AD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8223580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1-La moyennes de longueur d’</a:t>
            </a:r>
            <a:r>
              <a:rPr lang="fr-FR" dirty="0" err="1"/>
              <a:t>entrenoeud</a:t>
            </a:r>
            <a:r>
              <a:rPr lang="fr-FR" baseline="0" dirty="0"/>
              <a:t> après calcule est égale ….</a:t>
            </a:r>
          </a:p>
          <a:p>
            <a:r>
              <a:rPr lang="fr-FR" baseline="0" dirty="0"/>
              <a:t>2-T étant l'âge chronologique </a:t>
            </a:r>
          </a:p>
          <a:p>
            <a:r>
              <a:rPr lang="fr-FR" baseline="0" dirty="0"/>
              <a:t>3-et </a:t>
            </a:r>
            <a:r>
              <a:rPr lang="fr-FR" baseline="0" dirty="0" err="1"/>
              <a:t>erreurlong</a:t>
            </a:r>
            <a:r>
              <a:rPr lang="fr-FR" baseline="0" dirty="0"/>
              <a:t> est vérifié comme étant une loi normale de moyenne …. Et d’écart type …. cm</a:t>
            </a:r>
          </a:p>
          <a:p>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62F67A-2B17-483C-8634-BD3D5A544AD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070754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1-La moyennes de Rayon</a:t>
            </a:r>
            <a:r>
              <a:rPr lang="fr-FR" baseline="0" dirty="0"/>
              <a:t> bas</a:t>
            </a:r>
            <a:r>
              <a:rPr lang="fr-FR" dirty="0"/>
              <a:t> d’</a:t>
            </a:r>
            <a:r>
              <a:rPr lang="fr-FR" dirty="0" err="1"/>
              <a:t>entrenoeud</a:t>
            </a:r>
            <a:r>
              <a:rPr lang="fr-FR" baseline="0" dirty="0"/>
              <a:t>  est égale ….</a:t>
            </a:r>
          </a:p>
          <a:p>
            <a:r>
              <a:rPr lang="fr-FR" baseline="0" dirty="0"/>
              <a:t>2-On vérifie bien que l’erreur suit une loi normale de moyenne …. Et d’écart type …. cm</a:t>
            </a:r>
          </a:p>
          <a:p>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62F67A-2B17-483C-8634-BD3D5A544AD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1903761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1-La moyennes de Rayon</a:t>
            </a:r>
            <a:r>
              <a:rPr lang="fr-FR" baseline="0" dirty="0"/>
              <a:t> haut</a:t>
            </a:r>
            <a:r>
              <a:rPr lang="fr-FR" dirty="0"/>
              <a:t> d’</a:t>
            </a:r>
            <a:r>
              <a:rPr lang="fr-FR" dirty="0" err="1"/>
              <a:t>entrenoeud</a:t>
            </a:r>
            <a:r>
              <a:rPr lang="fr-FR" baseline="0" dirty="0"/>
              <a:t>  est égale ….</a:t>
            </a:r>
          </a:p>
          <a:p>
            <a:r>
              <a:rPr lang="fr-FR" baseline="0" dirty="0"/>
              <a:t>2-Avec </a:t>
            </a:r>
            <a:r>
              <a:rPr lang="fr-FR" baseline="0" dirty="0" err="1"/>
              <a:t>erreurRS</a:t>
            </a:r>
            <a:r>
              <a:rPr lang="fr-FR" baseline="0" dirty="0"/>
              <a:t> est une loi normale de moyenne …. Et d’écart type …. </a:t>
            </a:r>
          </a:p>
          <a:p>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62F67A-2B17-483C-8634-BD3D5A544AD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985953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1-On vérifié bien après une classification des angles par classe de</a:t>
            </a:r>
            <a:r>
              <a:rPr lang="fr-FR" baseline="0" dirty="0"/>
              <a:t> longueur 5° que </a:t>
            </a:r>
          </a:p>
          <a:p>
            <a:r>
              <a:rPr lang="fr-FR" baseline="0" dirty="0"/>
              <a:t>                                           l’angle de branchement suit une loi normale de moyenne 38° </a:t>
            </a:r>
            <a:r>
              <a:rPr lang="fr-FR" baseline="0" dirty="0" err="1"/>
              <a:t>etd’ecart</a:t>
            </a:r>
            <a:r>
              <a:rPr lang="fr-FR" baseline="0" dirty="0"/>
              <a:t> type 22°</a:t>
            </a:r>
          </a:p>
          <a:p>
            <a:r>
              <a:rPr lang="fr-FR" baseline="0" dirty="0"/>
              <a:t>2-Et on a simulé la loi normale dans 2 graphe </a:t>
            </a:r>
          </a:p>
          <a:p>
            <a:r>
              <a:rPr lang="fr-FR" baseline="0" dirty="0"/>
              <a:t>                                                         comparé au nuage d’échantillons</a:t>
            </a:r>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62F67A-2B17-483C-8634-BD3D5A544AD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2599956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1-Nous faisons varier par un solveur (alpha 1) supposer par le modèle de l’angle phyllotaxie cumulé</a:t>
            </a:r>
          </a:p>
          <a:p>
            <a:r>
              <a:rPr lang="fr-FR" dirty="0"/>
              <a:t>2- et nous le fixons à une valeur maximisant le coefficient de corrélation</a:t>
            </a:r>
          </a:p>
          <a:p>
            <a:r>
              <a:rPr lang="fr-FR" baseline="0" dirty="0"/>
              <a:t>                                                  </a:t>
            </a:r>
            <a:r>
              <a:rPr lang="fr-FR" dirty="0"/>
              <a:t> entre vecteur moyen d’échantillon</a:t>
            </a:r>
            <a:r>
              <a:rPr lang="fr-FR" baseline="0" dirty="0"/>
              <a:t> et vecteur calculé à partir du modèle</a:t>
            </a:r>
          </a:p>
          <a:p>
            <a:r>
              <a:rPr lang="fr-FR" baseline="0" dirty="0"/>
              <a:t>3- Alpha 1 est estimé à 138 </a:t>
            </a:r>
          </a:p>
          <a:p>
            <a:r>
              <a:rPr lang="fr-FR" baseline="0" dirty="0"/>
              <a:t>                                           tout prés de l’angle d’or 137,51</a:t>
            </a:r>
          </a:p>
          <a:p>
            <a:r>
              <a:rPr lang="fr-FR" baseline="0" dirty="0"/>
              <a:t>4-Et l’angle de </a:t>
            </a:r>
            <a:r>
              <a:rPr lang="fr-FR" baseline="0" dirty="0" err="1"/>
              <a:t>phyllotaxiefixe</a:t>
            </a:r>
            <a:r>
              <a:rPr lang="fr-FR" baseline="0" dirty="0"/>
              <a:t> ce déduit égale à 138 + erreur </a:t>
            </a:r>
            <a:r>
              <a:rPr lang="fr-FR" baseline="0" dirty="0" err="1"/>
              <a:t>angphyllo</a:t>
            </a:r>
            <a:endParaRPr lang="fr-FR" baseline="0" dirty="0"/>
          </a:p>
          <a:p>
            <a:r>
              <a:rPr lang="fr-FR" baseline="0" dirty="0"/>
              <a:t>5-Avec erreur </a:t>
            </a:r>
            <a:r>
              <a:rPr lang="fr-FR" baseline="0" dirty="0" err="1"/>
              <a:t>angphyllo</a:t>
            </a:r>
            <a:r>
              <a:rPr lang="fr-FR" baseline="0" dirty="0"/>
              <a:t> suit une loi normale de moyenne 0 et d’écart type 4</a:t>
            </a:r>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62F67A-2B17-483C-8634-BD3D5A544AD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6566480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1-Les</a:t>
            </a:r>
            <a:r>
              <a:rPr lang="fr-FR" baseline="0" dirty="0"/>
              <a:t> paramètre caractérisant la géométrie ont été introduit par l’intermédiaire de boite de dialogue croissance géométrique</a:t>
            </a:r>
          </a:p>
          <a:p>
            <a:r>
              <a:rPr lang="fr-FR" baseline="0" dirty="0"/>
              <a:t>2-Nous fixons 30 itérations de plus pour faire vieillir l’axiome introduit de 30 cycle temporaire</a:t>
            </a:r>
          </a:p>
          <a:p>
            <a:r>
              <a:rPr lang="fr-FR" baseline="0" dirty="0"/>
              <a:t>3- le résultat d’évolution géométrique pour les deux cas son visualisé</a:t>
            </a:r>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62F67A-2B17-483C-8634-BD3D5A544AD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8732438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1-Il reste d’implémenter</a:t>
            </a:r>
            <a:r>
              <a:rPr lang="fr-FR" baseline="0" dirty="0"/>
              <a:t> les caractérisation structural et géométrique ensemble </a:t>
            </a:r>
          </a:p>
          <a:p>
            <a:r>
              <a:rPr lang="fr-FR" baseline="0" dirty="0"/>
              <a:t>2-on choisie la matrice de transition calculé pour la branche1 car elle est plus robuste d’après le rapport de fréquences </a:t>
            </a:r>
          </a:p>
          <a:p>
            <a:r>
              <a:rPr lang="fr-FR" baseline="0" dirty="0"/>
              <a:t>3- et on introduit l’angle de branchement et l’angle de phyllotaxie fixe de la manière suivante dans les règles</a:t>
            </a:r>
          </a:p>
          <a:p>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62F67A-2B17-483C-8634-BD3D5A544AD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3755970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1-Nous obtenons le résultat</a:t>
            </a:r>
            <a:r>
              <a:rPr lang="fr-FR" baseline="0" dirty="0"/>
              <a:t> de provisionnement de l’état futur de 30 itérations de plus pour la branche 1 et pour la branche 2 </a:t>
            </a:r>
          </a:p>
          <a:p>
            <a:r>
              <a:rPr lang="fr-FR" baseline="0" dirty="0"/>
              <a:t>2-d’autre part nous simulons des branches à l'âge 30, 69 ,99 afin de les comparer au branche existant dans notre cas.</a:t>
            </a:r>
          </a:p>
          <a:p>
            <a:endParaRPr lang="fr-FR" baseline="0" dirty="0"/>
          </a:p>
          <a:p>
            <a:r>
              <a:rPr lang="fr-FR" baseline="0" dirty="0"/>
              <a:t>3-Le modèle apporte des résultat acceptable et pourras s’améliorer </a:t>
            </a:r>
          </a:p>
          <a:p>
            <a:r>
              <a:rPr lang="fr-FR" baseline="0" dirty="0"/>
              <a:t>4-par un ajustement de </a:t>
            </a:r>
            <a:r>
              <a:rPr lang="fr-FR" baseline="0" dirty="0" err="1"/>
              <a:t>Fibonacci</a:t>
            </a:r>
            <a:r>
              <a:rPr lang="fr-FR" baseline="0" dirty="0"/>
              <a:t> pour les matrices.</a:t>
            </a:r>
          </a:p>
          <a:p>
            <a:r>
              <a:rPr lang="fr-FR" baseline="0" dirty="0"/>
              <a:t>5- et par un développement de la manière que l’algorithme choisie l’état futur </a:t>
            </a:r>
          </a:p>
          <a:p>
            <a:r>
              <a:rPr lang="fr-FR" baseline="0" dirty="0"/>
              <a:t>6-ceci pour que la construction 3D ne diverge pas de la réalité en terme de complexité et nombre de ramification</a:t>
            </a:r>
            <a:endParaRPr lang="fr-FR"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62F67A-2B17-483C-8634-BD3D5A544AD8}"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68931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807527C-60BA-4B7E-BB18-FCB77DCA833E}"/>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6713DFD3-9DCE-4623-869B-BDFB94C89C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461FF431-C313-4BD9-931F-4DAB2FEFD0A8}"/>
              </a:ext>
            </a:extLst>
          </p:cNvPr>
          <p:cNvSpPr>
            <a:spLocks noGrp="1"/>
          </p:cNvSpPr>
          <p:nvPr>
            <p:ph type="dt" sz="half" idx="10"/>
          </p:nvPr>
        </p:nvSpPr>
        <p:spPr/>
        <p:txBody>
          <a:bodyPr/>
          <a:lstStyle/>
          <a:p>
            <a:fld id="{F656ED5B-DF3C-4BF5-BFE4-5C495EC4541B}" type="datetimeFigureOut">
              <a:rPr lang="fr-FR" smtClean="0"/>
              <a:t>07/09/2018</a:t>
            </a:fld>
            <a:endParaRPr lang="fr-FR"/>
          </a:p>
        </p:txBody>
      </p:sp>
      <p:sp>
        <p:nvSpPr>
          <p:cNvPr id="5" name="Espace réservé du pied de page 4">
            <a:extLst>
              <a:ext uri="{FF2B5EF4-FFF2-40B4-BE49-F238E27FC236}">
                <a16:creationId xmlns:a16="http://schemas.microsoft.com/office/drawing/2014/main" id="{6E7EBDAF-5231-4B7D-A073-2E9E554BED5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00054C3-C3A8-4F19-8DF2-CAA1125282FB}"/>
              </a:ext>
            </a:extLst>
          </p:cNvPr>
          <p:cNvSpPr>
            <a:spLocks noGrp="1"/>
          </p:cNvSpPr>
          <p:nvPr>
            <p:ph type="sldNum" sz="quarter" idx="12"/>
          </p:nvPr>
        </p:nvSpPr>
        <p:spPr/>
        <p:txBody>
          <a:bodyPr/>
          <a:lstStyle/>
          <a:p>
            <a:fld id="{19B8A853-D078-47EE-B3D8-4B6F72F3C8BF}" type="slidenum">
              <a:rPr lang="fr-FR" smtClean="0"/>
              <a:t>‹N°›</a:t>
            </a:fld>
            <a:endParaRPr lang="fr-FR"/>
          </a:p>
        </p:txBody>
      </p:sp>
    </p:spTree>
    <p:extLst>
      <p:ext uri="{BB962C8B-B14F-4D97-AF65-F5344CB8AC3E}">
        <p14:creationId xmlns:p14="http://schemas.microsoft.com/office/powerpoint/2010/main" val="14189672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0812BEF-EE5B-451D-B6A7-0B142FC1668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7A5EDFC1-5D23-49FA-8827-CC9E99DD69EA}"/>
              </a:ext>
            </a:extLst>
          </p:cNvPr>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301A87A-E7FB-4B41-AB52-95A7AD70E317}"/>
              </a:ext>
            </a:extLst>
          </p:cNvPr>
          <p:cNvSpPr>
            <a:spLocks noGrp="1"/>
          </p:cNvSpPr>
          <p:nvPr>
            <p:ph type="dt" sz="half" idx="10"/>
          </p:nvPr>
        </p:nvSpPr>
        <p:spPr/>
        <p:txBody>
          <a:bodyPr/>
          <a:lstStyle/>
          <a:p>
            <a:fld id="{F656ED5B-DF3C-4BF5-BFE4-5C495EC4541B}" type="datetimeFigureOut">
              <a:rPr lang="fr-FR" smtClean="0"/>
              <a:t>07/09/2018</a:t>
            </a:fld>
            <a:endParaRPr lang="fr-FR"/>
          </a:p>
        </p:txBody>
      </p:sp>
      <p:sp>
        <p:nvSpPr>
          <p:cNvPr id="5" name="Espace réservé du pied de page 4">
            <a:extLst>
              <a:ext uri="{FF2B5EF4-FFF2-40B4-BE49-F238E27FC236}">
                <a16:creationId xmlns:a16="http://schemas.microsoft.com/office/drawing/2014/main" id="{F9F7BC38-22A3-4010-A5CE-430C08D7B4E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1AC110A-F0B6-4666-9FE7-A64EAC1F6256}"/>
              </a:ext>
            </a:extLst>
          </p:cNvPr>
          <p:cNvSpPr>
            <a:spLocks noGrp="1"/>
          </p:cNvSpPr>
          <p:nvPr>
            <p:ph type="sldNum" sz="quarter" idx="12"/>
          </p:nvPr>
        </p:nvSpPr>
        <p:spPr/>
        <p:txBody>
          <a:bodyPr/>
          <a:lstStyle/>
          <a:p>
            <a:fld id="{19B8A853-D078-47EE-B3D8-4B6F72F3C8BF}" type="slidenum">
              <a:rPr lang="fr-FR" smtClean="0"/>
              <a:t>‹N°›</a:t>
            </a:fld>
            <a:endParaRPr lang="fr-FR"/>
          </a:p>
        </p:txBody>
      </p:sp>
    </p:spTree>
    <p:extLst>
      <p:ext uri="{BB962C8B-B14F-4D97-AF65-F5344CB8AC3E}">
        <p14:creationId xmlns:p14="http://schemas.microsoft.com/office/powerpoint/2010/main" val="29023216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237F38-9B04-4597-A4C3-C5C262B51F6A}"/>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4C9429C6-D19A-4D5A-9DAD-D8792B0F03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a:extLst>
              <a:ext uri="{FF2B5EF4-FFF2-40B4-BE49-F238E27FC236}">
                <a16:creationId xmlns:a16="http://schemas.microsoft.com/office/drawing/2014/main" id="{C49B4E96-07FF-48D9-B9FC-996BAE6704AD}"/>
              </a:ext>
            </a:extLst>
          </p:cNvPr>
          <p:cNvSpPr>
            <a:spLocks noGrp="1"/>
          </p:cNvSpPr>
          <p:nvPr>
            <p:ph type="dt" sz="half" idx="10"/>
          </p:nvPr>
        </p:nvSpPr>
        <p:spPr/>
        <p:txBody>
          <a:bodyPr/>
          <a:lstStyle/>
          <a:p>
            <a:fld id="{F656ED5B-DF3C-4BF5-BFE4-5C495EC4541B}" type="datetimeFigureOut">
              <a:rPr lang="fr-FR" smtClean="0"/>
              <a:t>07/09/2018</a:t>
            </a:fld>
            <a:endParaRPr lang="fr-FR"/>
          </a:p>
        </p:txBody>
      </p:sp>
      <p:sp>
        <p:nvSpPr>
          <p:cNvPr id="5" name="Espace réservé du pied de page 4">
            <a:extLst>
              <a:ext uri="{FF2B5EF4-FFF2-40B4-BE49-F238E27FC236}">
                <a16:creationId xmlns:a16="http://schemas.microsoft.com/office/drawing/2014/main" id="{B5A8399F-B3E0-4F68-8C51-9C2720115E0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DEF123B-2474-45AE-A05F-7D63519E1081}"/>
              </a:ext>
            </a:extLst>
          </p:cNvPr>
          <p:cNvSpPr>
            <a:spLocks noGrp="1"/>
          </p:cNvSpPr>
          <p:nvPr>
            <p:ph type="sldNum" sz="quarter" idx="12"/>
          </p:nvPr>
        </p:nvSpPr>
        <p:spPr/>
        <p:txBody>
          <a:bodyPr/>
          <a:lstStyle/>
          <a:p>
            <a:fld id="{19B8A853-D078-47EE-B3D8-4B6F72F3C8BF}" type="slidenum">
              <a:rPr lang="fr-FR" smtClean="0"/>
              <a:t>‹N°›</a:t>
            </a:fld>
            <a:endParaRPr lang="fr-FR"/>
          </a:p>
        </p:txBody>
      </p:sp>
    </p:spTree>
    <p:extLst>
      <p:ext uri="{BB962C8B-B14F-4D97-AF65-F5344CB8AC3E}">
        <p14:creationId xmlns:p14="http://schemas.microsoft.com/office/powerpoint/2010/main" val="23592072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CB0FAA-86D3-43C4-BAD6-1D95043784F5}"/>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7F2CF72B-718B-4E48-AA06-DF2187D82592}"/>
              </a:ext>
            </a:extLst>
          </p:cNvPr>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2AA88753-4026-442D-A076-18EC597FE5B5}"/>
              </a:ext>
            </a:extLst>
          </p:cNvPr>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F920C02E-2576-4ACB-8BC8-D4E0178353D2}"/>
              </a:ext>
            </a:extLst>
          </p:cNvPr>
          <p:cNvSpPr>
            <a:spLocks noGrp="1"/>
          </p:cNvSpPr>
          <p:nvPr>
            <p:ph type="dt" sz="half" idx="10"/>
          </p:nvPr>
        </p:nvSpPr>
        <p:spPr/>
        <p:txBody>
          <a:bodyPr/>
          <a:lstStyle/>
          <a:p>
            <a:fld id="{F656ED5B-DF3C-4BF5-BFE4-5C495EC4541B}" type="datetimeFigureOut">
              <a:rPr lang="fr-FR" smtClean="0"/>
              <a:t>07/09/2018</a:t>
            </a:fld>
            <a:endParaRPr lang="fr-FR"/>
          </a:p>
        </p:txBody>
      </p:sp>
      <p:sp>
        <p:nvSpPr>
          <p:cNvPr id="6" name="Espace réservé du pied de page 5">
            <a:extLst>
              <a:ext uri="{FF2B5EF4-FFF2-40B4-BE49-F238E27FC236}">
                <a16:creationId xmlns:a16="http://schemas.microsoft.com/office/drawing/2014/main" id="{803A9FEC-F8A9-4B43-9AE9-F180C844350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8F1DCC13-8450-4D70-9B44-095530A24F2A}"/>
              </a:ext>
            </a:extLst>
          </p:cNvPr>
          <p:cNvSpPr>
            <a:spLocks noGrp="1"/>
          </p:cNvSpPr>
          <p:nvPr>
            <p:ph type="sldNum" sz="quarter" idx="12"/>
          </p:nvPr>
        </p:nvSpPr>
        <p:spPr/>
        <p:txBody>
          <a:bodyPr/>
          <a:lstStyle/>
          <a:p>
            <a:fld id="{19B8A853-D078-47EE-B3D8-4B6F72F3C8BF}" type="slidenum">
              <a:rPr lang="fr-FR" smtClean="0"/>
              <a:t>‹N°›</a:t>
            </a:fld>
            <a:endParaRPr lang="fr-FR"/>
          </a:p>
        </p:txBody>
      </p:sp>
    </p:spTree>
    <p:extLst>
      <p:ext uri="{BB962C8B-B14F-4D97-AF65-F5344CB8AC3E}">
        <p14:creationId xmlns:p14="http://schemas.microsoft.com/office/powerpoint/2010/main" val="1097604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58F6967-9535-4193-BBB8-80256AA95E24}"/>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79A5D684-2B09-4E9D-8F7C-C379F8E4D3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a:extLst>
              <a:ext uri="{FF2B5EF4-FFF2-40B4-BE49-F238E27FC236}">
                <a16:creationId xmlns:a16="http://schemas.microsoft.com/office/drawing/2014/main" id="{912CCFDB-ED7F-4DF6-B5FE-A7C62CCEF675}"/>
              </a:ext>
            </a:extLst>
          </p:cNvPr>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E7BD51AB-0EA1-45B3-9D41-4CF0547376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a:extLst>
              <a:ext uri="{FF2B5EF4-FFF2-40B4-BE49-F238E27FC236}">
                <a16:creationId xmlns:a16="http://schemas.microsoft.com/office/drawing/2014/main" id="{F679F68A-064A-4BDB-9A4D-B7BCC091A8E9}"/>
              </a:ext>
            </a:extLst>
          </p:cNvPr>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331F8A6B-8523-4430-BFAA-24E3F4CB1D58}"/>
              </a:ext>
            </a:extLst>
          </p:cNvPr>
          <p:cNvSpPr>
            <a:spLocks noGrp="1"/>
          </p:cNvSpPr>
          <p:nvPr>
            <p:ph type="dt" sz="half" idx="10"/>
          </p:nvPr>
        </p:nvSpPr>
        <p:spPr/>
        <p:txBody>
          <a:bodyPr/>
          <a:lstStyle/>
          <a:p>
            <a:fld id="{F656ED5B-DF3C-4BF5-BFE4-5C495EC4541B}" type="datetimeFigureOut">
              <a:rPr lang="fr-FR" smtClean="0"/>
              <a:t>07/09/2018</a:t>
            </a:fld>
            <a:endParaRPr lang="fr-FR"/>
          </a:p>
        </p:txBody>
      </p:sp>
      <p:sp>
        <p:nvSpPr>
          <p:cNvPr id="8" name="Espace réservé du pied de page 7">
            <a:extLst>
              <a:ext uri="{FF2B5EF4-FFF2-40B4-BE49-F238E27FC236}">
                <a16:creationId xmlns:a16="http://schemas.microsoft.com/office/drawing/2014/main" id="{75683D08-00AC-490E-8B9B-FD4FEC953047}"/>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01B6887A-AA1B-439E-8667-8E47EFE7D113}"/>
              </a:ext>
            </a:extLst>
          </p:cNvPr>
          <p:cNvSpPr>
            <a:spLocks noGrp="1"/>
          </p:cNvSpPr>
          <p:nvPr>
            <p:ph type="sldNum" sz="quarter" idx="12"/>
          </p:nvPr>
        </p:nvSpPr>
        <p:spPr/>
        <p:txBody>
          <a:bodyPr/>
          <a:lstStyle/>
          <a:p>
            <a:fld id="{19B8A853-D078-47EE-B3D8-4B6F72F3C8BF}" type="slidenum">
              <a:rPr lang="fr-FR" smtClean="0"/>
              <a:t>‹N°›</a:t>
            </a:fld>
            <a:endParaRPr lang="fr-FR"/>
          </a:p>
        </p:txBody>
      </p:sp>
    </p:spTree>
    <p:extLst>
      <p:ext uri="{BB962C8B-B14F-4D97-AF65-F5344CB8AC3E}">
        <p14:creationId xmlns:p14="http://schemas.microsoft.com/office/powerpoint/2010/main" val="39620477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6924B0-3024-401E-B3DB-83799C50E8F2}"/>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80AF3FF4-44C5-4068-89E7-9AFF19A2971E}"/>
              </a:ext>
            </a:extLst>
          </p:cNvPr>
          <p:cNvSpPr>
            <a:spLocks noGrp="1"/>
          </p:cNvSpPr>
          <p:nvPr>
            <p:ph type="dt" sz="half" idx="10"/>
          </p:nvPr>
        </p:nvSpPr>
        <p:spPr/>
        <p:txBody>
          <a:bodyPr/>
          <a:lstStyle/>
          <a:p>
            <a:fld id="{F656ED5B-DF3C-4BF5-BFE4-5C495EC4541B}" type="datetimeFigureOut">
              <a:rPr lang="fr-FR" smtClean="0"/>
              <a:t>07/09/2018</a:t>
            </a:fld>
            <a:endParaRPr lang="fr-FR"/>
          </a:p>
        </p:txBody>
      </p:sp>
      <p:sp>
        <p:nvSpPr>
          <p:cNvPr id="4" name="Espace réservé du pied de page 3">
            <a:extLst>
              <a:ext uri="{FF2B5EF4-FFF2-40B4-BE49-F238E27FC236}">
                <a16:creationId xmlns:a16="http://schemas.microsoft.com/office/drawing/2014/main" id="{54EF3B18-5D58-4948-96ED-552474F404FA}"/>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A8F35102-9938-4DAE-A5E6-EEB4F12D80CC}"/>
              </a:ext>
            </a:extLst>
          </p:cNvPr>
          <p:cNvSpPr>
            <a:spLocks noGrp="1"/>
          </p:cNvSpPr>
          <p:nvPr>
            <p:ph type="sldNum" sz="quarter" idx="12"/>
          </p:nvPr>
        </p:nvSpPr>
        <p:spPr/>
        <p:txBody>
          <a:bodyPr/>
          <a:lstStyle/>
          <a:p>
            <a:fld id="{19B8A853-D078-47EE-B3D8-4B6F72F3C8BF}" type="slidenum">
              <a:rPr lang="fr-FR" smtClean="0"/>
              <a:t>‹N°›</a:t>
            </a:fld>
            <a:endParaRPr lang="fr-FR"/>
          </a:p>
        </p:txBody>
      </p:sp>
    </p:spTree>
    <p:extLst>
      <p:ext uri="{BB962C8B-B14F-4D97-AF65-F5344CB8AC3E}">
        <p14:creationId xmlns:p14="http://schemas.microsoft.com/office/powerpoint/2010/main" val="40838774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AC82C6DE-B9BC-4AF1-9B2E-CE4950B1F14D}"/>
              </a:ext>
            </a:extLst>
          </p:cNvPr>
          <p:cNvSpPr>
            <a:spLocks noGrp="1"/>
          </p:cNvSpPr>
          <p:nvPr>
            <p:ph type="dt" sz="half" idx="10"/>
          </p:nvPr>
        </p:nvSpPr>
        <p:spPr/>
        <p:txBody>
          <a:bodyPr/>
          <a:lstStyle/>
          <a:p>
            <a:fld id="{F656ED5B-DF3C-4BF5-BFE4-5C495EC4541B}" type="datetimeFigureOut">
              <a:rPr lang="fr-FR" smtClean="0"/>
              <a:t>07/09/2018</a:t>
            </a:fld>
            <a:endParaRPr lang="fr-FR"/>
          </a:p>
        </p:txBody>
      </p:sp>
      <p:sp>
        <p:nvSpPr>
          <p:cNvPr id="3" name="Espace réservé du pied de page 2">
            <a:extLst>
              <a:ext uri="{FF2B5EF4-FFF2-40B4-BE49-F238E27FC236}">
                <a16:creationId xmlns:a16="http://schemas.microsoft.com/office/drawing/2014/main" id="{D29A37B0-F7D5-40A1-AED9-ABE44BF6EC67}"/>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16DFD29A-5C41-4EF1-9BC0-5C27A62D95EB}"/>
              </a:ext>
            </a:extLst>
          </p:cNvPr>
          <p:cNvSpPr>
            <a:spLocks noGrp="1"/>
          </p:cNvSpPr>
          <p:nvPr>
            <p:ph type="sldNum" sz="quarter" idx="12"/>
          </p:nvPr>
        </p:nvSpPr>
        <p:spPr/>
        <p:txBody>
          <a:bodyPr/>
          <a:lstStyle/>
          <a:p>
            <a:fld id="{19B8A853-D078-47EE-B3D8-4B6F72F3C8BF}" type="slidenum">
              <a:rPr lang="fr-FR" smtClean="0"/>
              <a:t>‹N°›</a:t>
            </a:fld>
            <a:endParaRPr lang="fr-FR"/>
          </a:p>
        </p:txBody>
      </p:sp>
    </p:spTree>
    <p:extLst>
      <p:ext uri="{BB962C8B-B14F-4D97-AF65-F5344CB8AC3E}">
        <p14:creationId xmlns:p14="http://schemas.microsoft.com/office/powerpoint/2010/main" val="2510659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F5733BE-A036-4A15-B219-33E677D7777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A6B2BAE-AB83-4F66-AAE3-0340122FD5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ED393D2F-2AE5-427E-AAE0-A794428969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a:extLst>
              <a:ext uri="{FF2B5EF4-FFF2-40B4-BE49-F238E27FC236}">
                <a16:creationId xmlns:a16="http://schemas.microsoft.com/office/drawing/2014/main" id="{BDC4DBA9-A856-4E90-B5AE-B985A6932C03}"/>
              </a:ext>
            </a:extLst>
          </p:cNvPr>
          <p:cNvSpPr>
            <a:spLocks noGrp="1"/>
          </p:cNvSpPr>
          <p:nvPr>
            <p:ph type="dt" sz="half" idx="10"/>
          </p:nvPr>
        </p:nvSpPr>
        <p:spPr/>
        <p:txBody>
          <a:bodyPr/>
          <a:lstStyle/>
          <a:p>
            <a:fld id="{F656ED5B-DF3C-4BF5-BFE4-5C495EC4541B}" type="datetimeFigureOut">
              <a:rPr lang="fr-FR" smtClean="0"/>
              <a:t>07/09/2018</a:t>
            </a:fld>
            <a:endParaRPr lang="fr-FR"/>
          </a:p>
        </p:txBody>
      </p:sp>
      <p:sp>
        <p:nvSpPr>
          <p:cNvPr id="6" name="Espace réservé du pied de page 5">
            <a:extLst>
              <a:ext uri="{FF2B5EF4-FFF2-40B4-BE49-F238E27FC236}">
                <a16:creationId xmlns:a16="http://schemas.microsoft.com/office/drawing/2014/main" id="{0B8C0D06-4A31-49FC-8B96-0F7BAD3B7E9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5B3E11D-4216-4B0B-923B-E8AC9A4C1D0E}"/>
              </a:ext>
            </a:extLst>
          </p:cNvPr>
          <p:cNvSpPr>
            <a:spLocks noGrp="1"/>
          </p:cNvSpPr>
          <p:nvPr>
            <p:ph type="sldNum" sz="quarter" idx="12"/>
          </p:nvPr>
        </p:nvSpPr>
        <p:spPr/>
        <p:txBody>
          <a:bodyPr/>
          <a:lstStyle/>
          <a:p>
            <a:fld id="{19B8A853-D078-47EE-B3D8-4B6F72F3C8BF}" type="slidenum">
              <a:rPr lang="fr-FR" smtClean="0"/>
              <a:t>‹N°›</a:t>
            </a:fld>
            <a:endParaRPr lang="fr-FR"/>
          </a:p>
        </p:txBody>
      </p:sp>
    </p:spTree>
    <p:extLst>
      <p:ext uri="{BB962C8B-B14F-4D97-AF65-F5344CB8AC3E}">
        <p14:creationId xmlns:p14="http://schemas.microsoft.com/office/powerpoint/2010/main" val="724102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3D715C-C4F1-4C4B-9D7B-0E753BEA26C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77738669-5F93-4A1F-8C2D-DAA5337F8E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F1549F52-86F4-456E-87D4-1A65C60B97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a:extLst>
              <a:ext uri="{FF2B5EF4-FFF2-40B4-BE49-F238E27FC236}">
                <a16:creationId xmlns:a16="http://schemas.microsoft.com/office/drawing/2014/main" id="{80DF6663-BE33-491B-8CAC-465C95F8DACE}"/>
              </a:ext>
            </a:extLst>
          </p:cNvPr>
          <p:cNvSpPr>
            <a:spLocks noGrp="1"/>
          </p:cNvSpPr>
          <p:nvPr>
            <p:ph type="dt" sz="half" idx="10"/>
          </p:nvPr>
        </p:nvSpPr>
        <p:spPr/>
        <p:txBody>
          <a:bodyPr/>
          <a:lstStyle/>
          <a:p>
            <a:fld id="{F656ED5B-DF3C-4BF5-BFE4-5C495EC4541B}" type="datetimeFigureOut">
              <a:rPr lang="fr-FR" smtClean="0"/>
              <a:t>07/09/2018</a:t>
            </a:fld>
            <a:endParaRPr lang="fr-FR"/>
          </a:p>
        </p:txBody>
      </p:sp>
      <p:sp>
        <p:nvSpPr>
          <p:cNvPr id="6" name="Espace réservé du pied de page 5">
            <a:extLst>
              <a:ext uri="{FF2B5EF4-FFF2-40B4-BE49-F238E27FC236}">
                <a16:creationId xmlns:a16="http://schemas.microsoft.com/office/drawing/2014/main" id="{19BD4F31-1985-48BA-BC9C-1C094220826A}"/>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4D9676EC-7B7C-42A4-88B1-04A2CDCABBC3}"/>
              </a:ext>
            </a:extLst>
          </p:cNvPr>
          <p:cNvSpPr>
            <a:spLocks noGrp="1"/>
          </p:cNvSpPr>
          <p:nvPr>
            <p:ph type="sldNum" sz="quarter" idx="12"/>
          </p:nvPr>
        </p:nvSpPr>
        <p:spPr/>
        <p:txBody>
          <a:bodyPr/>
          <a:lstStyle/>
          <a:p>
            <a:fld id="{19B8A853-D078-47EE-B3D8-4B6F72F3C8BF}" type="slidenum">
              <a:rPr lang="fr-FR" smtClean="0"/>
              <a:t>‹N°›</a:t>
            </a:fld>
            <a:endParaRPr lang="fr-FR"/>
          </a:p>
        </p:txBody>
      </p:sp>
    </p:spTree>
    <p:extLst>
      <p:ext uri="{BB962C8B-B14F-4D97-AF65-F5344CB8AC3E}">
        <p14:creationId xmlns:p14="http://schemas.microsoft.com/office/powerpoint/2010/main" val="3568607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9B14893-C258-4C78-8F69-3CB2D07F11FF}"/>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609876EB-8454-4129-94B4-A41C1030ED4F}"/>
              </a:ext>
            </a:extLst>
          </p:cNvPr>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34C6E94-DF7B-4B63-8A4D-8B7F03B80C3F}"/>
              </a:ext>
            </a:extLst>
          </p:cNvPr>
          <p:cNvSpPr>
            <a:spLocks noGrp="1"/>
          </p:cNvSpPr>
          <p:nvPr>
            <p:ph type="dt" sz="half" idx="10"/>
          </p:nvPr>
        </p:nvSpPr>
        <p:spPr/>
        <p:txBody>
          <a:bodyPr/>
          <a:lstStyle/>
          <a:p>
            <a:fld id="{F656ED5B-DF3C-4BF5-BFE4-5C495EC4541B}" type="datetimeFigureOut">
              <a:rPr lang="fr-FR" smtClean="0"/>
              <a:t>07/09/2018</a:t>
            </a:fld>
            <a:endParaRPr lang="fr-FR"/>
          </a:p>
        </p:txBody>
      </p:sp>
      <p:sp>
        <p:nvSpPr>
          <p:cNvPr id="5" name="Espace réservé du pied de page 4">
            <a:extLst>
              <a:ext uri="{FF2B5EF4-FFF2-40B4-BE49-F238E27FC236}">
                <a16:creationId xmlns:a16="http://schemas.microsoft.com/office/drawing/2014/main" id="{5BEAB0D0-7B69-433C-885A-20E2A6B2EB9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A4E2871-46FE-4BC1-8F9E-4DB3463FE1E6}"/>
              </a:ext>
            </a:extLst>
          </p:cNvPr>
          <p:cNvSpPr>
            <a:spLocks noGrp="1"/>
          </p:cNvSpPr>
          <p:nvPr>
            <p:ph type="sldNum" sz="quarter" idx="12"/>
          </p:nvPr>
        </p:nvSpPr>
        <p:spPr/>
        <p:txBody>
          <a:bodyPr/>
          <a:lstStyle/>
          <a:p>
            <a:fld id="{19B8A853-D078-47EE-B3D8-4B6F72F3C8BF}" type="slidenum">
              <a:rPr lang="fr-FR" smtClean="0"/>
              <a:t>‹N°›</a:t>
            </a:fld>
            <a:endParaRPr lang="fr-FR"/>
          </a:p>
        </p:txBody>
      </p:sp>
    </p:spTree>
    <p:extLst>
      <p:ext uri="{BB962C8B-B14F-4D97-AF65-F5344CB8AC3E}">
        <p14:creationId xmlns:p14="http://schemas.microsoft.com/office/powerpoint/2010/main" val="29441545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BCBA6424-2D28-4B06-BF23-A80EF0A95614}"/>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E80565E2-68D0-4C95-AFC7-2D78D4D201D2}"/>
              </a:ext>
            </a:extLst>
          </p:cNvPr>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DC5EF26-0A68-4E5A-AE72-4295C07EF64C}"/>
              </a:ext>
            </a:extLst>
          </p:cNvPr>
          <p:cNvSpPr>
            <a:spLocks noGrp="1"/>
          </p:cNvSpPr>
          <p:nvPr>
            <p:ph type="dt" sz="half" idx="10"/>
          </p:nvPr>
        </p:nvSpPr>
        <p:spPr/>
        <p:txBody>
          <a:bodyPr/>
          <a:lstStyle/>
          <a:p>
            <a:fld id="{F656ED5B-DF3C-4BF5-BFE4-5C495EC4541B}" type="datetimeFigureOut">
              <a:rPr lang="fr-FR" smtClean="0"/>
              <a:t>07/09/2018</a:t>
            </a:fld>
            <a:endParaRPr lang="fr-FR"/>
          </a:p>
        </p:txBody>
      </p:sp>
      <p:sp>
        <p:nvSpPr>
          <p:cNvPr id="5" name="Espace réservé du pied de page 4">
            <a:extLst>
              <a:ext uri="{FF2B5EF4-FFF2-40B4-BE49-F238E27FC236}">
                <a16:creationId xmlns:a16="http://schemas.microsoft.com/office/drawing/2014/main" id="{095D7235-28A0-48C1-8554-FEE10A3F015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C84DB6E-22C0-45AC-B2D0-0EBF4527CD39}"/>
              </a:ext>
            </a:extLst>
          </p:cNvPr>
          <p:cNvSpPr>
            <a:spLocks noGrp="1"/>
          </p:cNvSpPr>
          <p:nvPr>
            <p:ph type="sldNum" sz="quarter" idx="12"/>
          </p:nvPr>
        </p:nvSpPr>
        <p:spPr/>
        <p:txBody>
          <a:bodyPr/>
          <a:lstStyle/>
          <a:p>
            <a:fld id="{19B8A853-D078-47EE-B3D8-4B6F72F3C8BF}" type="slidenum">
              <a:rPr lang="fr-FR" smtClean="0"/>
              <a:t>‹N°›</a:t>
            </a:fld>
            <a:endParaRPr lang="fr-FR"/>
          </a:p>
        </p:txBody>
      </p:sp>
    </p:spTree>
    <p:extLst>
      <p:ext uri="{BB962C8B-B14F-4D97-AF65-F5344CB8AC3E}">
        <p14:creationId xmlns:p14="http://schemas.microsoft.com/office/powerpoint/2010/main" val="41843498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p:cNvSpPr>
            <a:spLocks noGrp="1"/>
          </p:cNvSpPr>
          <p:nvPr>
            <p:ph type="dt" sz="half" idx="10"/>
          </p:nvPr>
        </p:nvSpPr>
        <p:spPr/>
        <p:txBody>
          <a:bodyPr/>
          <a:lstStyle/>
          <a:p>
            <a:fld id="{0C1B1F5F-3E79-40AF-8DE0-365A46CDBDFF}" type="datetime1">
              <a:rPr lang="fr-FR" smtClean="0"/>
              <a:t>07/09/2018</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F210F9B4-E45F-45DE-A182-D2D6DBA25399}" type="slidenum">
              <a:rPr lang="fr-FR" smtClean="0"/>
              <a:t>‹N°›</a:t>
            </a:fld>
            <a:endParaRPr lang="fr-FR"/>
          </a:p>
        </p:txBody>
      </p:sp>
    </p:spTree>
    <p:extLst>
      <p:ext uri="{BB962C8B-B14F-4D97-AF65-F5344CB8AC3E}">
        <p14:creationId xmlns:p14="http://schemas.microsoft.com/office/powerpoint/2010/main" val="5499210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3FF343E8-F9E5-4EF7-B8B1-D4AABEC76822}" type="datetime1">
              <a:rPr lang="fr-FR" smtClean="0"/>
              <a:t>07/09/2018</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F210F9B4-E45F-45DE-A182-D2D6DBA25399}" type="slidenum">
              <a:rPr lang="fr-FR" smtClean="0"/>
              <a:t>‹N°›</a:t>
            </a:fld>
            <a:endParaRPr lang="fr-FR"/>
          </a:p>
        </p:txBody>
      </p:sp>
    </p:spTree>
    <p:extLst>
      <p:ext uri="{BB962C8B-B14F-4D97-AF65-F5344CB8AC3E}">
        <p14:creationId xmlns:p14="http://schemas.microsoft.com/office/powerpoint/2010/main" val="16740749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5159CD3B-FC35-48A7-AE71-C5BA4E480DE9}" type="datetime1">
              <a:rPr lang="fr-FR" smtClean="0"/>
              <a:t>07/09/2018</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F210F9B4-E45F-45DE-A182-D2D6DBA25399}" type="slidenum">
              <a:rPr lang="fr-FR" smtClean="0"/>
              <a:t>‹N°›</a:t>
            </a:fld>
            <a:endParaRPr lang="fr-FR"/>
          </a:p>
        </p:txBody>
      </p:sp>
    </p:spTree>
    <p:extLst>
      <p:ext uri="{BB962C8B-B14F-4D97-AF65-F5344CB8AC3E}">
        <p14:creationId xmlns:p14="http://schemas.microsoft.com/office/powerpoint/2010/main" val="4170860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ABADC2DF-A258-4B84-919B-E8EAF3BFE93E}" type="datetime1">
              <a:rPr lang="fr-FR" smtClean="0"/>
              <a:t>07/09/2018</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F210F9B4-E45F-45DE-A182-D2D6DBA25399}" type="slidenum">
              <a:rPr lang="fr-FR" smtClean="0"/>
              <a:t>‹N°›</a:t>
            </a:fld>
            <a:endParaRPr lang="fr-FR"/>
          </a:p>
        </p:txBody>
      </p:sp>
    </p:spTree>
    <p:extLst>
      <p:ext uri="{BB962C8B-B14F-4D97-AF65-F5344CB8AC3E}">
        <p14:creationId xmlns:p14="http://schemas.microsoft.com/office/powerpoint/2010/main" val="29815081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E6528B9D-E2B9-448D-82BE-1DDDD2A40904}" type="datetime1">
              <a:rPr lang="fr-FR" smtClean="0"/>
              <a:t>07/09/2018</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F210F9B4-E45F-45DE-A182-D2D6DBA25399}" type="slidenum">
              <a:rPr lang="fr-FR" smtClean="0"/>
              <a:t>‹N°›</a:t>
            </a:fld>
            <a:endParaRPr lang="fr-FR"/>
          </a:p>
        </p:txBody>
      </p:sp>
    </p:spTree>
    <p:extLst>
      <p:ext uri="{BB962C8B-B14F-4D97-AF65-F5344CB8AC3E}">
        <p14:creationId xmlns:p14="http://schemas.microsoft.com/office/powerpoint/2010/main" val="15972747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531CA37A-2CD0-40CF-9CEE-6D5F79EFC035}" type="datetime1">
              <a:rPr lang="fr-FR" smtClean="0"/>
              <a:t>07/09/2018</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F210F9B4-E45F-45DE-A182-D2D6DBA25399}" type="slidenum">
              <a:rPr lang="fr-FR" smtClean="0"/>
              <a:t>‹N°›</a:t>
            </a:fld>
            <a:endParaRPr lang="fr-FR"/>
          </a:p>
        </p:txBody>
      </p:sp>
    </p:spTree>
    <p:extLst>
      <p:ext uri="{BB962C8B-B14F-4D97-AF65-F5344CB8AC3E}">
        <p14:creationId xmlns:p14="http://schemas.microsoft.com/office/powerpoint/2010/main" val="37849486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66805028-3D33-4CDE-BA03-33689B83EDEB}" type="datetime1">
              <a:rPr lang="fr-FR" smtClean="0"/>
              <a:t>07/09/2018</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F210F9B4-E45F-45DE-A182-D2D6DBA25399}" type="slidenum">
              <a:rPr lang="fr-FR" smtClean="0"/>
              <a:t>‹N°›</a:t>
            </a:fld>
            <a:endParaRPr lang="fr-FR"/>
          </a:p>
        </p:txBody>
      </p:sp>
    </p:spTree>
    <p:extLst>
      <p:ext uri="{BB962C8B-B14F-4D97-AF65-F5344CB8AC3E}">
        <p14:creationId xmlns:p14="http://schemas.microsoft.com/office/powerpoint/2010/main" val="40925650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EFD469D2-79AB-4B2A-AE72-71C02D13A17B}" type="datetime1">
              <a:rPr lang="fr-FR" smtClean="0"/>
              <a:t>07/09/2018</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F210F9B4-E45F-45DE-A182-D2D6DBA25399}" type="slidenum">
              <a:rPr lang="fr-FR" smtClean="0"/>
              <a:t>‹N°›</a:t>
            </a:fld>
            <a:endParaRPr lang="fr-FR"/>
          </a:p>
        </p:txBody>
      </p:sp>
    </p:spTree>
    <p:extLst>
      <p:ext uri="{BB962C8B-B14F-4D97-AF65-F5344CB8AC3E}">
        <p14:creationId xmlns:p14="http://schemas.microsoft.com/office/powerpoint/2010/main" val="32871761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236A0C96-291E-4A7D-929A-3A2A048CEE34}" type="datetime1">
              <a:rPr lang="fr-FR" smtClean="0"/>
              <a:t>07/09/2018</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F210F9B4-E45F-45DE-A182-D2D6DBA25399}" type="slidenum">
              <a:rPr lang="fr-FR" smtClean="0"/>
              <a:t>‹N°›</a:t>
            </a:fld>
            <a:endParaRPr lang="fr-FR"/>
          </a:p>
        </p:txBody>
      </p:sp>
    </p:spTree>
    <p:extLst>
      <p:ext uri="{BB962C8B-B14F-4D97-AF65-F5344CB8AC3E}">
        <p14:creationId xmlns:p14="http://schemas.microsoft.com/office/powerpoint/2010/main" val="21008526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9DBFAAC-073F-49A9-B22A-EDD2AA47EFA0}" type="datetime1">
              <a:rPr lang="fr-FR" smtClean="0"/>
              <a:t>07/09/2018</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F210F9B4-E45F-45DE-A182-D2D6DBA25399}" type="slidenum">
              <a:rPr lang="fr-FR" smtClean="0"/>
              <a:t>‹N°›</a:t>
            </a:fld>
            <a:endParaRPr lang="fr-FR"/>
          </a:p>
        </p:txBody>
      </p:sp>
    </p:spTree>
    <p:extLst>
      <p:ext uri="{BB962C8B-B14F-4D97-AF65-F5344CB8AC3E}">
        <p14:creationId xmlns:p14="http://schemas.microsoft.com/office/powerpoint/2010/main" val="4087587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28C9254C-1CA7-4C2C-8977-E47D1D314FCB}" type="datetime1">
              <a:rPr lang="fr-FR" smtClean="0"/>
              <a:t>07/09/2018</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F210F9B4-E45F-45DE-A182-D2D6DBA25399}" type="slidenum">
              <a:rPr lang="fr-FR" smtClean="0"/>
              <a:t>‹N°›</a:t>
            </a:fld>
            <a:endParaRPr lang="fr-FR"/>
          </a:p>
        </p:txBody>
      </p:sp>
    </p:spTree>
    <p:extLst>
      <p:ext uri="{BB962C8B-B14F-4D97-AF65-F5344CB8AC3E}">
        <p14:creationId xmlns:p14="http://schemas.microsoft.com/office/powerpoint/2010/main" val="1134592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1A4C554C-B4E4-4CD8-8B86-B42FC38DF0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2650B30F-324A-4C2E-A62A-4B7DBBE1D7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76A1B40-A82F-4A0B-9EA8-02BACC245C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56ED5B-DF3C-4BF5-BFE4-5C495EC4541B}" type="datetimeFigureOut">
              <a:rPr lang="fr-FR" smtClean="0"/>
              <a:t>07/09/2018</a:t>
            </a:fld>
            <a:endParaRPr lang="fr-FR"/>
          </a:p>
        </p:txBody>
      </p:sp>
      <p:sp>
        <p:nvSpPr>
          <p:cNvPr id="5" name="Espace réservé du pied de page 4">
            <a:extLst>
              <a:ext uri="{FF2B5EF4-FFF2-40B4-BE49-F238E27FC236}">
                <a16:creationId xmlns:a16="http://schemas.microsoft.com/office/drawing/2014/main" id="{5CF32CED-1471-40A8-AD67-F0FFD7581B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FDA43BE4-500B-4B72-8255-AC28BE0213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B8A853-D078-47EE-B3D8-4B6F72F3C8BF}" type="slidenum">
              <a:rPr lang="fr-FR" smtClean="0"/>
              <a:t>‹N°›</a:t>
            </a:fld>
            <a:endParaRPr lang="fr-FR"/>
          </a:p>
        </p:txBody>
      </p:sp>
    </p:spTree>
    <p:extLst>
      <p:ext uri="{BB962C8B-B14F-4D97-AF65-F5344CB8AC3E}">
        <p14:creationId xmlns:p14="http://schemas.microsoft.com/office/powerpoint/2010/main" val="1960498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BC1884-D12B-4783-B286-BB029BFE0D39}" type="datetime1">
              <a:rPr lang="fr-FR" smtClean="0"/>
              <a:t>07/09/2018</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10F9B4-E45F-45DE-A182-D2D6DBA25399}" type="slidenum">
              <a:rPr lang="fr-FR" smtClean="0"/>
              <a:t>‹N°›</a:t>
            </a:fld>
            <a:endParaRPr lang="fr-FR"/>
          </a:p>
        </p:txBody>
      </p:sp>
    </p:spTree>
    <p:extLst>
      <p:ext uri="{BB962C8B-B14F-4D97-AF65-F5344CB8AC3E}">
        <p14:creationId xmlns:p14="http://schemas.microsoft.com/office/powerpoint/2010/main" val="3524684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image" Target="../media/image93.png"/><Relationship Id="rId4" Type="http://schemas.openxmlformats.org/officeDocument/2006/relationships/image" Target="../media/image88.png"/></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notesSlide" Target="../notesSlides/notesSlide3.xml"/><Relationship Id="rId7" Type="http://schemas.openxmlformats.org/officeDocument/2006/relationships/oleObject" Target="../embeddings/oleObject1.bin"/><Relationship Id="rId2" Type="http://schemas.openxmlformats.org/officeDocument/2006/relationships/slideLayout" Target="../slideLayouts/slideLayout13.xml"/><Relationship Id="rId1" Type="http://schemas.openxmlformats.org/officeDocument/2006/relationships/vmlDrawing" Target="../drawings/vmlDrawing1.vml"/><Relationship Id="rId6" Type="http://schemas.openxmlformats.org/officeDocument/2006/relationships/image" Target="../media/image110.png"/><Relationship Id="rId5" Type="http://schemas.openxmlformats.org/officeDocument/2006/relationships/image" Target="../media/image100.png"/><Relationship Id="rId4" Type="http://schemas.openxmlformats.org/officeDocument/2006/relationships/image" Target="../media/image90.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vmlDrawing" Target="../drawings/vmlDrawing2.vml"/><Relationship Id="rId5" Type="http://schemas.openxmlformats.org/officeDocument/2006/relationships/image" Target="../media/image11.png"/><Relationship Id="rId4" Type="http://schemas.openxmlformats.org/officeDocument/2006/relationships/oleObject" Target="../embeddings/oleObject2.bin"/></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vmlDrawing" Target="../drawings/vmlDrawing3.vml"/><Relationship Id="rId5" Type="http://schemas.openxmlformats.org/officeDocument/2006/relationships/image" Target="../media/image14.png"/><Relationship Id="rId4" Type="http://schemas.openxmlformats.org/officeDocument/2006/relationships/oleObject" Target="../embeddings/oleObject3.bin"/></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3.xml"/><Relationship Id="rId5" Type="http://schemas.openxmlformats.org/officeDocument/2006/relationships/image" Target="../media/image17.jpeg"/><Relationship Id="rId4" Type="http://schemas.openxmlformats.org/officeDocument/2006/relationships/image" Target="../media/image16.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7" Type="http://schemas.openxmlformats.org/officeDocument/2006/relationships/image" Target="../media/image19.png"/><Relationship Id="rId2" Type="http://schemas.openxmlformats.org/officeDocument/2006/relationships/slideLayout" Target="../slideLayouts/slideLayout13.xml"/><Relationship Id="rId1" Type="http://schemas.openxmlformats.org/officeDocument/2006/relationships/vmlDrawing" Target="../drawings/vmlDrawing4.vml"/><Relationship Id="rId6" Type="http://schemas.openxmlformats.org/officeDocument/2006/relationships/oleObject" Target="../embeddings/oleObject5.bin"/><Relationship Id="rId5" Type="http://schemas.openxmlformats.org/officeDocument/2006/relationships/image" Target="../media/image18.png"/><Relationship Id="rId4" Type="http://schemas.openxmlformats.org/officeDocument/2006/relationships/oleObject" Target="../embeddings/oleObject4.bin"/></Relationships>
</file>

<file path=ppt/slides/_rels/slide1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jpeg"/></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notesSlide" Target="../notesSlides/notesSlide15.xml"/><Relationship Id="rId7" Type="http://schemas.openxmlformats.org/officeDocument/2006/relationships/image" Target="../media/image27.png"/><Relationship Id="rId2" Type="http://schemas.openxmlformats.org/officeDocument/2006/relationships/slideLayout" Target="../slideLayouts/slideLayout13.xml"/><Relationship Id="rId1" Type="http://schemas.openxmlformats.org/officeDocument/2006/relationships/vmlDrawing" Target="../drawings/vmlDrawing5.vml"/><Relationship Id="rId6" Type="http://schemas.openxmlformats.org/officeDocument/2006/relationships/oleObject" Target="../embeddings/oleObject7.bin"/><Relationship Id="rId5" Type="http://schemas.openxmlformats.org/officeDocument/2006/relationships/image" Target="../media/image26.png"/><Relationship Id="rId4" Type="http://schemas.openxmlformats.org/officeDocument/2006/relationships/oleObject" Target="../embeddings/oleObject6.bin"/><Relationship Id="rId9" Type="http://schemas.openxmlformats.org/officeDocument/2006/relationships/image" Target="../media/image28.png"/></Relationships>
</file>

<file path=ppt/slides/_rels/slide20.xml.rels><?xml version="1.0" encoding="UTF-8" standalone="yes"?>
<Relationships xmlns="http://schemas.openxmlformats.org/package/2006/relationships"><Relationship Id="rId8" Type="http://schemas.openxmlformats.org/officeDocument/2006/relationships/image" Target="../media/image34.jpeg"/><Relationship Id="rId3" Type="http://schemas.openxmlformats.org/officeDocument/2006/relationships/image" Target="../media/image29.jpeg"/><Relationship Id="rId7" Type="http://schemas.openxmlformats.org/officeDocument/2006/relationships/image" Target="../media/image33.jpeg"/><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image" Target="../media/image32.jpeg"/><Relationship Id="rId5" Type="http://schemas.openxmlformats.org/officeDocument/2006/relationships/image" Target="../media/image31.jpeg"/><Relationship Id="rId4" Type="http://schemas.openxmlformats.org/officeDocument/2006/relationships/image" Target="../media/image30.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3.xml"/><Relationship Id="rId1" Type="http://schemas.openxmlformats.org/officeDocument/2006/relationships/vmlDrawing" Target="../drawings/vmlDrawing6.vml"/><Relationship Id="rId5" Type="http://schemas.openxmlformats.org/officeDocument/2006/relationships/image" Target="../media/image35.png"/><Relationship Id="rId4" Type="http://schemas.openxmlformats.org/officeDocument/2006/relationships/oleObject" Target="../embeddings/oleObject9.bin"/></Relationships>
</file>

<file path=ppt/slides/_rels/slide2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37.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3.xml"/><Relationship Id="rId1" Type="http://schemas.openxmlformats.org/officeDocument/2006/relationships/vmlDrawing" Target="../drawings/vmlDrawing7.vml"/><Relationship Id="rId5" Type="http://schemas.openxmlformats.org/officeDocument/2006/relationships/image" Target="../media/image38.png"/><Relationship Id="rId4" Type="http://schemas.openxmlformats.org/officeDocument/2006/relationships/oleObject" Target="../embeddings/oleObject10.bin"/></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2.xml"/><Relationship Id="rId1" Type="http://schemas.openxmlformats.org/officeDocument/2006/relationships/slideLayout" Target="../slideLayouts/slideLayout13.xml"/><Relationship Id="rId5" Type="http://schemas.openxmlformats.org/officeDocument/2006/relationships/image" Target="../media/image55.png"/><Relationship Id="rId4" Type="http://schemas.openxmlformats.org/officeDocument/2006/relationships/image" Target="../media/image54.png"/></Relationships>
</file>

<file path=ppt/slides/_rels/slide2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57.png"/></Relationships>
</file>

<file path=ppt/slides/_rels/slide28.xml.rels><?xml version="1.0" encoding="UTF-8" standalone="yes"?>
<Relationships xmlns="http://schemas.openxmlformats.org/package/2006/relationships"><Relationship Id="rId8" Type="http://schemas.openxmlformats.org/officeDocument/2006/relationships/image" Target="../media/image43.jpeg"/><Relationship Id="rId3" Type="http://schemas.openxmlformats.org/officeDocument/2006/relationships/image" Target="../media/image59.png"/><Relationship Id="rId7" Type="http://schemas.openxmlformats.org/officeDocument/2006/relationships/image" Target="../media/image42.jpeg"/><Relationship Id="rId2" Type="http://schemas.openxmlformats.org/officeDocument/2006/relationships/notesSlide" Target="../notesSlides/notesSlide24.xml"/><Relationship Id="rId1" Type="http://schemas.openxmlformats.org/officeDocument/2006/relationships/slideLayout" Target="../slideLayouts/slideLayout13.xml"/><Relationship Id="rId6" Type="http://schemas.openxmlformats.org/officeDocument/2006/relationships/image" Target="../media/image41.jpeg"/><Relationship Id="rId5" Type="http://schemas.openxmlformats.org/officeDocument/2006/relationships/image" Target="../media/image40.jpeg"/><Relationship Id="rId4" Type="http://schemas.openxmlformats.org/officeDocument/2006/relationships/image" Target="../media/image60.png"/></Relationships>
</file>

<file path=ppt/slides/_rels/slide2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5.xml"/><Relationship Id="rId1" Type="http://schemas.openxmlformats.org/officeDocument/2006/relationships/slideLayout" Target="../slideLayouts/slideLayout13.xml"/><Relationship Id="rId4" Type="http://schemas.openxmlformats.org/officeDocument/2006/relationships/image" Target="../media/image66.png"/></Relationships>
</file>

<file path=ppt/slides/_rels/slide3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6.xml"/><Relationship Id="rId1" Type="http://schemas.openxmlformats.org/officeDocument/2006/relationships/slideLayout" Target="../slideLayouts/slideLayout13.xml"/><Relationship Id="rId5" Type="http://schemas.openxmlformats.org/officeDocument/2006/relationships/image" Target="../media/image69.png"/><Relationship Id="rId4" Type="http://schemas.openxmlformats.org/officeDocument/2006/relationships/image" Target="../media/image68.png"/></Relationships>
</file>

<file path=ppt/slides/_rels/slide3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8.xml"/><Relationship Id="rId1" Type="http://schemas.openxmlformats.org/officeDocument/2006/relationships/slideLayout" Target="../slideLayouts/slideLayout13.xml"/><Relationship Id="rId4" Type="http://schemas.openxmlformats.org/officeDocument/2006/relationships/image" Target="../media/image72.png"/></Relationships>
</file>

<file path=ppt/slides/_rels/slide3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9.xml"/><Relationship Id="rId1" Type="http://schemas.openxmlformats.org/officeDocument/2006/relationships/slideLayout" Target="../slideLayouts/slideLayout13.xml"/><Relationship Id="rId4" Type="http://schemas.openxmlformats.org/officeDocument/2006/relationships/image" Target="../media/image74.png"/></Relationships>
</file>

<file path=ppt/slides/_rels/slide3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3.xml"/><Relationship Id="rId1" Type="http://schemas.openxmlformats.org/officeDocument/2006/relationships/vmlDrawing" Target="../drawings/vmlDrawing8.vml"/><Relationship Id="rId5" Type="http://schemas.openxmlformats.org/officeDocument/2006/relationships/image" Target="../media/image44.png"/><Relationship Id="rId4" Type="http://schemas.openxmlformats.org/officeDocument/2006/relationships/oleObject" Target="../embeddings/oleObject11.bin"/></Relationships>
</file>

<file path=ppt/slides/_rels/slide3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2.xml"/><Relationship Id="rId1" Type="http://schemas.openxmlformats.org/officeDocument/2006/relationships/slideLayout" Target="../slideLayouts/slideLayout13.xml"/><Relationship Id="rId4" Type="http://schemas.openxmlformats.org/officeDocument/2006/relationships/image" Target="../media/image62.png"/></Relationships>
</file>

<file path=ppt/slides/_rels/slide3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3.xml"/><Relationship Id="rId1" Type="http://schemas.openxmlformats.org/officeDocument/2006/relationships/slideLayout" Target="../slideLayouts/slideLayout13.xml"/><Relationship Id="rId4" Type="http://schemas.openxmlformats.org/officeDocument/2006/relationships/image" Target="../media/image80.png"/></Relationships>
</file>

<file path=ppt/slides/_rels/slide3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6.xml"/><Relationship Id="rId1" Type="http://schemas.openxmlformats.org/officeDocument/2006/relationships/slideLayout" Target="../slideLayouts/slideLayout13.xml"/><Relationship Id="rId5" Type="http://schemas.openxmlformats.org/officeDocument/2006/relationships/image" Target="../media/image83.png"/><Relationship Id="rId4" Type="http://schemas.openxmlformats.org/officeDocument/2006/relationships/chart" Target="../charts/chart2.xml"/></Relationships>
</file>

<file path=ppt/slides/_rels/slide4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37.xml"/><Relationship Id="rId1" Type="http://schemas.openxmlformats.org/officeDocument/2006/relationships/slideLayout" Target="../slideLayouts/slideLayout13.xml"/><Relationship Id="rId5" Type="http://schemas.openxmlformats.org/officeDocument/2006/relationships/image" Target="../media/image84.png"/><Relationship Id="rId4" Type="http://schemas.openxmlformats.org/officeDocument/2006/relationships/chart" Target="../charts/chart4.xml"/></Relationships>
</file>

<file path=ppt/slides/_rels/slide4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8.xml"/><Relationship Id="rId1" Type="http://schemas.openxmlformats.org/officeDocument/2006/relationships/slideLayout" Target="../slideLayouts/slideLayout13.xml"/><Relationship Id="rId5" Type="http://schemas.openxmlformats.org/officeDocument/2006/relationships/image" Target="../media/image85.png"/><Relationship Id="rId4" Type="http://schemas.openxmlformats.org/officeDocument/2006/relationships/chart" Target="../charts/chart6.xml"/></Relationships>
</file>

<file path=ppt/slides/_rels/slide43.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39.xml"/><Relationship Id="rId1" Type="http://schemas.openxmlformats.org/officeDocument/2006/relationships/slideLayout" Target="../slideLayouts/slideLayout13.xml"/><Relationship Id="rId6" Type="http://schemas.openxmlformats.org/officeDocument/2006/relationships/image" Target="../media/image86.png"/><Relationship Id="rId5" Type="http://schemas.openxmlformats.org/officeDocument/2006/relationships/chart" Target="../charts/chart9.xml"/><Relationship Id="rId4" Type="http://schemas.openxmlformats.org/officeDocument/2006/relationships/chart" Target="../charts/chart8.xml"/></Relationships>
</file>

<file path=ppt/slides/_rels/slide44.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40.xml"/><Relationship Id="rId1" Type="http://schemas.openxmlformats.org/officeDocument/2006/relationships/slideLayout" Target="../slideLayouts/slideLayout13.xml"/><Relationship Id="rId6" Type="http://schemas.openxmlformats.org/officeDocument/2006/relationships/image" Target="../media/image87.png"/><Relationship Id="rId5" Type="http://schemas.openxmlformats.org/officeDocument/2006/relationships/chart" Target="../charts/chart12.xml"/><Relationship Id="rId4" Type="http://schemas.openxmlformats.org/officeDocument/2006/relationships/chart" Target="../charts/chart11.xml"/></Relationships>
</file>

<file path=ppt/slides/_rels/slide45.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notesSlide" Target="../notesSlides/notesSlide41.xml"/><Relationship Id="rId7" Type="http://schemas.openxmlformats.org/officeDocument/2006/relationships/oleObject" Target="../embeddings/oleObject13.bin"/><Relationship Id="rId2" Type="http://schemas.openxmlformats.org/officeDocument/2006/relationships/slideLayout" Target="../slideLayouts/slideLayout13.xml"/><Relationship Id="rId1" Type="http://schemas.openxmlformats.org/officeDocument/2006/relationships/vmlDrawing" Target="../drawings/vmlDrawing9.vml"/><Relationship Id="rId6" Type="http://schemas.openxmlformats.org/officeDocument/2006/relationships/image" Target="../media/image47.jpeg"/><Relationship Id="rId5" Type="http://schemas.openxmlformats.org/officeDocument/2006/relationships/image" Target="../media/image45.png"/><Relationship Id="rId4" Type="http://schemas.openxmlformats.org/officeDocument/2006/relationships/oleObject" Target="../embeddings/oleObject12.bin"/></Relationships>
</file>

<file path=ppt/slides/_rels/slide46.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42.xml"/><Relationship Id="rId1" Type="http://schemas.openxmlformats.org/officeDocument/2006/relationships/slideLayout" Target="../slideLayouts/slideLayout13.xml"/><Relationship Id="rId4" Type="http://schemas.openxmlformats.org/officeDocument/2006/relationships/image" Target="../media/image92.png"/></Relationships>
</file>

<file path=ppt/slides/_rels/slide47.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3.xml"/><Relationship Id="rId1" Type="http://schemas.openxmlformats.org/officeDocument/2006/relationships/slideLayout" Target="../slideLayouts/slideLayout13.xml"/><Relationship Id="rId5" Type="http://schemas.openxmlformats.org/officeDocument/2006/relationships/image" Target="../media/image50.jpeg"/><Relationship Id="rId4" Type="http://schemas.openxmlformats.org/officeDocument/2006/relationships/image" Target="../media/image49.jpe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image" Target="../media/image51.jp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9.jp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60.jpg"/><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image" Target="../media/image61.jp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image" Target="../media/image62.jp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64.jpg"/><Relationship Id="rId2" Type="http://schemas.openxmlformats.org/officeDocument/2006/relationships/image" Target="../media/image63.jp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66.JPG"/><Relationship Id="rId2" Type="http://schemas.openxmlformats.org/officeDocument/2006/relationships/image" Target="../media/image65.JPG"/><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68.jpg"/><Relationship Id="rId2" Type="http://schemas.openxmlformats.org/officeDocument/2006/relationships/image" Target="../media/image67.jpg"/><Relationship Id="rId1" Type="http://schemas.openxmlformats.org/officeDocument/2006/relationships/slideLayout" Target="../slideLayouts/slideLayout13.xml"/><Relationship Id="rId4" Type="http://schemas.openxmlformats.org/officeDocument/2006/relationships/image" Target="../media/image69.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CF0505-6BBF-47A2-BF3E-CF83751E5156}"/>
              </a:ext>
            </a:extLst>
          </p:cNvPr>
          <p:cNvSpPr>
            <a:spLocks noGrp="1"/>
          </p:cNvSpPr>
          <p:nvPr>
            <p:ph type="ctrTitle"/>
          </p:nvPr>
        </p:nvSpPr>
        <p:spPr>
          <a:xfrm>
            <a:off x="211015" y="1770648"/>
            <a:ext cx="11394831" cy="2468415"/>
          </a:xfrm>
        </p:spPr>
        <p:txBody>
          <a:bodyPr>
            <a:normAutofit/>
          </a:bodyPr>
          <a:lstStyle/>
          <a:p>
            <a:r>
              <a:rPr lang="fr-FR" sz="5400" dirty="0">
                <a:solidFill>
                  <a:schemeClr val="accent4">
                    <a:lumMod val="75000"/>
                  </a:schemeClr>
                </a:solidFill>
              </a:rPr>
              <a:t>THE SECOND INTERNATIONAL FORUM ON TEXTILES FOR GRADUATE STUDENTS</a:t>
            </a:r>
          </a:p>
        </p:txBody>
      </p:sp>
      <p:sp>
        <p:nvSpPr>
          <p:cNvPr id="3" name="Sous-titre 2">
            <a:extLst>
              <a:ext uri="{FF2B5EF4-FFF2-40B4-BE49-F238E27FC236}">
                <a16:creationId xmlns:a16="http://schemas.microsoft.com/office/drawing/2014/main" id="{7D60335E-B1E0-4345-8167-9470646390F3}"/>
              </a:ext>
            </a:extLst>
          </p:cNvPr>
          <p:cNvSpPr>
            <a:spLocks noGrp="1"/>
          </p:cNvSpPr>
          <p:nvPr>
            <p:ph type="subTitle" idx="1"/>
          </p:nvPr>
        </p:nvSpPr>
        <p:spPr>
          <a:xfrm>
            <a:off x="3634154" y="3853144"/>
            <a:ext cx="9144000" cy="1655762"/>
          </a:xfrm>
        </p:spPr>
        <p:txBody>
          <a:bodyPr/>
          <a:lstStyle/>
          <a:p>
            <a:endParaRPr lang="fr-FR" dirty="0"/>
          </a:p>
          <a:p>
            <a:endParaRPr lang="fr-FR" dirty="0"/>
          </a:p>
          <a:p>
            <a:r>
              <a:rPr lang="fr-FR" dirty="0"/>
              <a:t>Presentation by Ghorbel Oussama</a:t>
            </a:r>
          </a:p>
        </p:txBody>
      </p:sp>
      <p:pic>
        <p:nvPicPr>
          <p:cNvPr id="5" name="Image 4">
            <a:extLst>
              <a:ext uri="{FF2B5EF4-FFF2-40B4-BE49-F238E27FC236}">
                <a16:creationId xmlns:a16="http://schemas.microsoft.com/office/drawing/2014/main" id="{50B44D8D-34F2-4F29-ABDF-8B86F4FB4C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17366" y="595762"/>
            <a:ext cx="1828800" cy="1828800"/>
          </a:xfrm>
          <a:prstGeom prst="rect">
            <a:avLst/>
          </a:prstGeom>
        </p:spPr>
      </p:pic>
    </p:spTree>
    <p:extLst>
      <p:ext uri="{BB962C8B-B14F-4D97-AF65-F5344CB8AC3E}">
        <p14:creationId xmlns:p14="http://schemas.microsoft.com/office/powerpoint/2010/main" val="2945176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45C81D-881D-40AC-83EE-C96FFE776B56}"/>
              </a:ext>
            </a:extLst>
          </p:cNvPr>
          <p:cNvSpPr>
            <a:spLocks noGrp="1"/>
          </p:cNvSpPr>
          <p:nvPr>
            <p:ph type="title"/>
          </p:nvPr>
        </p:nvSpPr>
        <p:spPr/>
        <p:txBody>
          <a:bodyPr/>
          <a:lstStyle/>
          <a:p>
            <a:r>
              <a:rPr lang="fr-FR" dirty="0"/>
              <a:t> Who I’m ?</a:t>
            </a:r>
          </a:p>
        </p:txBody>
      </p:sp>
      <p:pic>
        <p:nvPicPr>
          <p:cNvPr id="6" name="Espace réservé du contenu 5">
            <a:extLst>
              <a:ext uri="{FF2B5EF4-FFF2-40B4-BE49-F238E27FC236}">
                <a16:creationId xmlns:a16="http://schemas.microsoft.com/office/drawing/2014/main" id="{8E8CBD7F-E8F3-4DD4-9CFF-419D21ACBAD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377" y="626494"/>
            <a:ext cx="802823" cy="802823"/>
          </a:xfrm>
        </p:spPr>
      </p:pic>
      <p:pic>
        <p:nvPicPr>
          <p:cNvPr id="4" name="Image 3">
            <a:extLst>
              <a:ext uri="{FF2B5EF4-FFF2-40B4-BE49-F238E27FC236}">
                <a16:creationId xmlns:a16="http://schemas.microsoft.com/office/drawing/2014/main" id="{A039D5AB-3DC1-4D6D-ADE7-CD3710E15A0C}"/>
              </a:ext>
            </a:extLst>
          </p:cNvPr>
          <p:cNvPicPr>
            <a:picLocks noChangeAspect="1"/>
          </p:cNvPicPr>
          <p:nvPr/>
        </p:nvPicPr>
        <p:blipFill>
          <a:blip r:embed="rId3"/>
          <a:stretch>
            <a:fillRect/>
          </a:stretch>
        </p:blipFill>
        <p:spPr>
          <a:xfrm>
            <a:off x="1386840" y="1814934"/>
            <a:ext cx="8590671" cy="4829894"/>
          </a:xfrm>
          <a:prstGeom prst="rect">
            <a:avLst/>
          </a:prstGeom>
        </p:spPr>
      </p:pic>
    </p:spTree>
    <p:extLst>
      <p:ext uri="{BB962C8B-B14F-4D97-AF65-F5344CB8AC3E}">
        <p14:creationId xmlns:p14="http://schemas.microsoft.com/office/powerpoint/2010/main" val="42650538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BE56820-9991-4E20-80E7-8333D89DF72A}"/>
              </a:ext>
            </a:extLst>
          </p:cNvPr>
          <p:cNvSpPr>
            <a:spLocks noGrp="1"/>
          </p:cNvSpPr>
          <p:nvPr>
            <p:ph type="title"/>
          </p:nvPr>
        </p:nvSpPr>
        <p:spPr/>
        <p:txBody>
          <a:bodyPr/>
          <a:lstStyle/>
          <a:p>
            <a:r>
              <a:rPr lang="fr-FR" dirty="0"/>
              <a:t> Who I’m ?</a:t>
            </a:r>
          </a:p>
        </p:txBody>
      </p:sp>
      <p:sp>
        <p:nvSpPr>
          <p:cNvPr id="3" name="Espace réservé du contenu 2">
            <a:extLst>
              <a:ext uri="{FF2B5EF4-FFF2-40B4-BE49-F238E27FC236}">
                <a16:creationId xmlns:a16="http://schemas.microsoft.com/office/drawing/2014/main" id="{DB13571D-8587-47F8-93CD-DFE709BC85F0}"/>
              </a:ext>
            </a:extLst>
          </p:cNvPr>
          <p:cNvSpPr>
            <a:spLocks noGrp="1"/>
          </p:cNvSpPr>
          <p:nvPr>
            <p:ph idx="1"/>
          </p:nvPr>
        </p:nvSpPr>
        <p:spPr/>
        <p:txBody>
          <a:bodyPr/>
          <a:lstStyle/>
          <a:p>
            <a:endParaRPr lang="fr-FR"/>
          </a:p>
        </p:txBody>
      </p:sp>
      <p:pic>
        <p:nvPicPr>
          <p:cNvPr id="7" name="Image 6">
            <a:extLst>
              <a:ext uri="{FF2B5EF4-FFF2-40B4-BE49-F238E27FC236}">
                <a16:creationId xmlns:a16="http://schemas.microsoft.com/office/drawing/2014/main" id="{6B7475B0-BBE8-42CD-A65B-837B400F3894}"/>
              </a:ext>
            </a:extLst>
          </p:cNvPr>
          <p:cNvPicPr>
            <a:picLocks noChangeAspect="1"/>
          </p:cNvPicPr>
          <p:nvPr/>
        </p:nvPicPr>
        <p:blipFill>
          <a:blip r:embed="rId2"/>
          <a:stretch>
            <a:fillRect/>
          </a:stretch>
        </p:blipFill>
        <p:spPr>
          <a:xfrm>
            <a:off x="1477108" y="1690688"/>
            <a:ext cx="8703212" cy="4893168"/>
          </a:xfrm>
          <a:prstGeom prst="rect">
            <a:avLst/>
          </a:prstGeom>
        </p:spPr>
      </p:pic>
    </p:spTree>
    <p:extLst>
      <p:ext uri="{BB962C8B-B14F-4D97-AF65-F5344CB8AC3E}">
        <p14:creationId xmlns:p14="http://schemas.microsoft.com/office/powerpoint/2010/main" val="29933057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8C260D-CA05-4A33-869A-05A219F85C34}"/>
              </a:ext>
            </a:extLst>
          </p:cNvPr>
          <p:cNvSpPr>
            <a:spLocks noGrp="1"/>
          </p:cNvSpPr>
          <p:nvPr>
            <p:ph type="title"/>
          </p:nvPr>
        </p:nvSpPr>
        <p:spPr/>
        <p:txBody>
          <a:bodyPr/>
          <a:lstStyle/>
          <a:p>
            <a:endParaRPr lang="fr-FR" dirty="0"/>
          </a:p>
        </p:txBody>
      </p:sp>
      <p:sp>
        <p:nvSpPr>
          <p:cNvPr id="3" name="Espace réservé du contenu 2">
            <a:extLst>
              <a:ext uri="{FF2B5EF4-FFF2-40B4-BE49-F238E27FC236}">
                <a16:creationId xmlns:a16="http://schemas.microsoft.com/office/drawing/2014/main" id="{A1E006E6-5501-469A-8AFE-D5705834B7A6}"/>
              </a:ext>
            </a:extLst>
          </p:cNvPr>
          <p:cNvSpPr>
            <a:spLocks noGrp="1"/>
          </p:cNvSpPr>
          <p:nvPr>
            <p:ph idx="1"/>
          </p:nvPr>
        </p:nvSpPr>
        <p:spPr/>
        <p:txBody>
          <a:bodyPr/>
          <a:lstStyle/>
          <a:p>
            <a:pPr marL="0" indent="0" algn="ctr">
              <a:buNone/>
            </a:pPr>
            <a:endParaRPr lang="fr-FR" dirty="0">
              <a:latin typeface="Algerian" panose="04020705040A02060702" pitchFamily="82" charset="0"/>
            </a:endParaRPr>
          </a:p>
          <a:p>
            <a:pPr marL="0" indent="0" algn="ctr">
              <a:buNone/>
            </a:pPr>
            <a:endParaRPr lang="fr-FR" dirty="0">
              <a:latin typeface="Algerian" panose="04020705040A02060702" pitchFamily="82" charset="0"/>
            </a:endParaRPr>
          </a:p>
          <a:p>
            <a:pPr marL="0" indent="0" algn="ctr">
              <a:buNone/>
            </a:pPr>
            <a:r>
              <a:rPr lang="fr-FR" dirty="0">
                <a:latin typeface="Algerian" panose="04020705040A02060702" pitchFamily="82" charset="0"/>
              </a:rPr>
              <a:t>3D RECONSTRUCTION &amp; MODELING-SIMULATION OF THE DEVELOPMENT AND GROWTH OF A PLANT BRANCH</a:t>
            </a:r>
          </a:p>
        </p:txBody>
      </p:sp>
      <p:pic>
        <p:nvPicPr>
          <p:cNvPr id="11" name="Image 3">
            <a:extLst>
              <a:ext uri="{FF2B5EF4-FFF2-40B4-BE49-F238E27FC236}">
                <a16:creationId xmlns:a16="http://schemas.microsoft.com/office/drawing/2014/main" id="{98C0883E-626A-4569-BC03-822CC096B0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68352" y="624283"/>
            <a:ext cx="933450" cy="838200"/>
          </a:xfrm>
          <a:prstGeom prst="rect">
            <a:avLst/>
          </a:prstGeom>
          <a:noFill/>
          <a:extLst>
            <a:ext uri="{909E8E84-426E-40DD-AFC4-6F175D3DCCD1}">
              <a14:hiddenFill xmlns:a14="http://schemas.microsoft.com/office/drawing/2010/main">
                <a:solidFill>
                  <a:srgbClr val="FFFFFF"/>
                </a:solidFill>
              </a14:hiddenFill>
            </a:ext>
          </a:extLst>
        </p:spPr>
      </p:pic>
      <p:pic>
        <p:nvPicPr>
          <p:cNvPr id="12" name="Image 6">
            <a:extLst>
              <a:ext uri="{FF2B5EF4-FFF2-40B4-BE49-F238E27FC236}">
                <a16:creationId xmlns:a16="http://schemas.microsoft.com/office/drawing/2014/main" id="{5CB42A08-D278-4D31-97D0-4508892450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1439" y="417872"/>
            <a:ext cx="790575" cy="990600"/>
          </a:xfrm>
          <a:prstGeom prst="rect">
            <a:avLst/>
          </a:prstGeom>
          <a:noFill/>
          <a:extLst>
            <a:ext uri="{909E8E84-426E-40DD-AFC4-6F175D3DCCD1}">
              <a14:hiddenFill xmlns:a14="http://schemas.microsoft.com/office/drawing/2010/main">
                <a:solidFill>
                  <a:srgbClr val="FFFFFF"/>
                </a:solidFill>
              </a14:hiddenFill>
            </a:ext>
          </a:extLst>
        </p:spPr>
      </p:pic>
      <p:sp>
        <p:nvSpPr>
          <p:cNvPr id="13" name="Zone de texte 2">
            <a:extLst>
              <a:ext uri="{FF2B5EF4-FFF2-40B4-BE49-F238E27FC236}">
                <a16:creationId xmlns:a16="http://schemas.microsoft.com/office/drawing/2014/main" id="{4D6979D2-0521-4FFE-83DA-EC0E4D197F41}"/>
              </a:ext>
            </a:extLst>
          </p:cNvPr>
          <p:cNvSpPr txBox="1"/>
          <p:nvPr/>
        </p:nvSpPr>
        <p:spPr>
          <a:xfrm>
            <a:off x="8087010" y="365125"/>
            <a:ext cx="2096135" cy="1749425"/>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endParaRPr lang="fr-FR" sz="1100" dirty="0">
              <a:effectLst/>
              <a:ea typeface="Calibri" panose="020F0502020204030204" pitchFamily="34" charset="0"/>
              <a:cs typeface="Times New Roman" panose="02020603050405020304" pitchFamily="18" charset="0"/>
            </a:endParaRPr>
          </a:p>
          <a:p>
            <a:pPr algn="ctr">
              <a:lnSpc>
                <a:spcPct val="107000"/>
              </a:lnSpc>
              <a:spcAft>
                <a:spcPts val="800"/>
              </a:spcAft>
            </a:pPr>
            <a:endParaRPr lang="fr-FR" sz="1200" b="1" dirty="0">
              <a:effectLst/>
              <a:ea typeface="Calibri" panose="020F0502020204030204" pitchFamily="34" charset="0"/>
              <a:cs typeface="Times New Roman" panose="02020603050405020304" pitchFamily="18" charset="0"/>
            </a:endParaRPr>
          </a:p>
          <a:p>
            <a:pPr algn="ctr">
              <a:lnSpc>
                <a:spcPct val="107000"/>
              </a:lnSpc>
              <a:spcAft>
                <a:spcPts val="800"/>
              </a:spcAft>
            </a:pPr>
            <a:endParaRPr lang="fr-FR" sz="1200" b="1" dirty="0">
              <a:ea typeface="Calibri" panose="020F0502020204030204" pitchFamily="34" charset="0"/>
              <a:cs typeface="Times New Roman" panose="02020603050405020304" pitchFamily="18" charset="0"/>
            </a:endParaRPr>
          </a:p>
          <a:p>
            <a:pPr algn="ctr">
              <a:lnSpc>
                <a:spcPct val="107000"/>
              </a:lnSpc>
              <a:spcAft>
                <a:spcPts val="800"/>
              </a:spcAft>
            </a:pPr>
            <a:endParaRPr lang="fr-FR" sz="1200" b="1" dirty="0">
              <a:effectLst/>
              <a:ea typeface="Calibri" panose="020F0502020204030204" pitchFamily="34" charset="0"/>
              <a:cs typeface="Times New Roman" panose="02020603050405020304" pitchFamily="18" charset="0"/>
            </a:endParaRPr>
          </a:p>
          <a:p>
            <a:pPr algn="ctr">
              <a:lnSpc>
                <a:spcPct val="107000"/>
              </a:lnSpc>
              <a:spcAft>
                <a:spcPts val="800"/>
              </a:spcAft>
            </a:pPr>
            <a:r>
              <a:rPr lang="fr-FR" sz="1200" b="1" dirty="0">
                <a:effectLst/>
                <a:ea typeface="Calibri" panose="020F0502020204030204" pitchFamily="34" charset="0"/>
                <a:cs typeface="Times New Roman" panose="02020603050405020304" pitchFamily="18" charset="0"/>
              </a:rPr>
              <a:t>ECOLE POLYTECHNIQUE DE TUNISIE</a:t>
            </a:r>
            <a:endParaRPr lang="fr-FR" sz="1100" dirty="0">
              <a:effectLst/>
              <a:ea typeface="Calibri" panose="020F0502020204030204" pitchFamily="34" charset="0"/>
              <a:cs typeface="Times New Roman" panose="02020603050405020304" pitchFamily="18" charset="0"/>
            </a:endParaRPr>
          </a:p>
        </p:txBody>
      </p:sp>
      <p:sp>
        <p:nvSpPr>
          <p:cNvPr id="14" name="Zone de texte 4">
            <a:extLst>
              <a:ext uri="{FF2B5EF4-FFF2-40B4-BE49-F238E27FC236}">
                <a16:creationId xmlns:a16="http://schemas.microsoft.com/office/drawing/2014/main" id="{0FF90673-C7F4-429F-9C69-A8CEB206D266}"/>
              </a:ext>
            </a:extLst>
          </p:cNvPr>
          <p:cNvSpPr txBox="1"/>
          <p:nvPr/>
        </p:nvSpPr>
        <p:spPr>
          <a:xfrm>
            <a:off x="2412015" y="365125"/>
            <a:ext cx="1749425" cy="182880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endParaRPr lang="fr-FR" sz="1100" dirty="0">
              <a:effectLst/>
              <a:ea typeface="Calibri" panose="020F0502020204030204" pitchFamily="34" charset="0"/>
              <a:cs typeface="Times New Roman" panose="02020603050405020304" pitchFamily="18" charset="0"/>
            </a:endParaRPr>
          </a:p>
          <a:p>
            <a:pPr algn="ctr">
              <a:lnSpc>
                <a:spcPct val="107000"/>
              </a:lnSpc>
              <a:spcAft>
                <a:spcPts val="800"/>
              </a:spcAft>
            </a:pPr>
            <a:endParaRPr lang="fr-FR" sz="1200" b="1" dirty="0">
              <a:effectLst/>
              <a:ea typeface="Calibri" panose="020F0502020204030204" pitchFamily="34" charset="0"/>
              <a:cs typeface="Times New Roman" panose="02020603050405020304" pitchFamily="18" charset="0"/>
            </a:endParaRPr>
          </a:p>
          <a:p>
            <a:pPr algn="ctr">
              <a:lnSpc>
                <a:spcPct val="107000"/>
              </a:lnSpc>
              <a:spcAft>
                <a:spcPts val="800"/>
              </a:spcAft>
            </a:pPr>
            <a:endParaRPr lang="fr-FR" sz="1200" b="1" dirty="0">
              <a:ea typeface="Calibri" panose="020F0502020204030204" pitchFamily="34" charset="0"/>
              <a:cs typeface="Times New Roman" panose="02020603050405020304" pitchFamily="18" charset="0"/>
            </a:endParaRPr>
          </a:p>
          <a:p>
            <a:pPr algn="ctr">
              <a:lnSpc>
                <a:spcPct val="107000"/>
              </a:lnSpc>
              <a:spcAft>
                <a:spcPts val="800"/>
              </a:spcAft>
            </a:pPr>
            <a:endParaRPr lang="fr-FR" sz="1200" b="1" dirty="0">
              <a:effectLst/>
              <a:ea typeface="Calibri" panose="020F0502020204030204" pitchFamily="34" charset="0"/>
              <a:cs typeface="Times New Roman" panose="02020603050405020304" pitchFamily="18" charset="0"/>
            </a:endParaRPr>
          </a:p>
          <a:p>
            <a:pPr algn="ctr">
              <a:lnSpc>
                <a:spcPct val="107000"/>
              </a:lnSpc>
              <a:spcAft>
                <a:spcPts val="800"/>
              </a:spcAft>
            </a:pPr>
            <a:r>
              <a:rPr lang="fr-FR" sz="1200" b="1" dirty="0">
                <a:effectLst/>
                <a:ea typeface="Calibri" panose="020F0502020204030204" pitchFamily="34" charset="0"/>
                <a:cs typeface="Times New Roman" panose="02020603050405020304" pitchFamily="18" charset="0"/>
              </a:rPr>
              <a:t>UNIVERSITE DE CARTHAGE</a:t>
            </a:r>
            <a:endParaRPr lang="fr-FR" sz="1100" dirty="0">
              <a:effectLst/>
              <a:ea typeface="Calibri" panose="020F0502020204030204" pitchFamily="34" charset="0"/>
              <a:cs typeface="Times New Roman" panose="02020603050405020304" pitchFamily="18" charset="0"/>
            </a:endParaRPr>
          </a:p>
        </p:txBody>
      </p:sp>
      <p:sp>
        <p:nvSpPr>
          <p:cNvPr id="15" name="Rectangle 8">
            <a:extLst>
              <a:ext uri="{FF2B5EF4-FFF2-40B4-BE49-F238E27FC236}">
                <a16:creationId xmlns:a16="http://schemas.microsoft.com/office/drawing/2014/main" id="{94C8B523-A4F4-4EAB-9CF9-4E34549C6828}"/>
              </a:ext>
            </a:extLst>
          </p:cNvPr>
          <p:cNvSpPr>
            <a:spLocks noChangeArrowheads="1"/>
          </p:cNvSpPr>
          <p:nvPr/>
        </p:nvSpPr>
        <p:spPr bwMode="auto">
          <a:xfrm>
            <a:off x="2276447" y="825041"/>
            <a:ext cx="0" cy="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fr-FR"/>
          </a:p>
        </p:txBody>
      </p:sp>
      <p:sp>
        <p:nvSpPr>
          <p:cNvPr id="16" name="Rectangle 10">
            <a:extLst>
              <a:ext uri="{FF2B5EF4-FFF2-40B4-BE49-F238E27FC236}">
                <a16:creationId xmlns:a16="http://schemas.microsoft.com/office/drawing/2014/main" id="{E39D34D5-A2ED-42A2-B88D-39531CBE5A92}"/>
              </a:ext>
            </a:extLst>
          </p:cNvPr>
          <p:cNvSpPr>
            <a:spLocks noChangeArrowheads="1"/>
          </p:cNvSpPr>
          <p:nvPr/>
        </p:nvSpPr>
        <p:spPr bwMode="auto">
          <a:xfrm>
            <a:off x="2276447" y="1663241"/>
            <a:ext cx="0" cy="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fr-FR"/>
          </a:p>
        </p:txBody>
      </p:sp>
      <p:sp>
        <p:nvSpPr>
          <p:cNvPr id="17" name="Rectangle 16">
            <a:extLst>
              <a:ext uri="{FF2B5EF4-FFF2-40B4-BE49-F238E27FC236}">
                <a16:creationId xmlns:a16="http://schemas.microsoft.com/office/drawing/2014/main" id="{BE61F826-4AF7-4648-985D-F689461EB923}"/>
              </a:ext>
            </a:extLst>
          </p:cNvPr>
          <p:cNvSpPr/>
          <p:nvPr/>
        </p:nvSpPr>
        <p:spPr>
          <a:xfrm>
            <a:off x="8048778" y="3816628"/>
            <a:ext cx="2134367" cy="369332"/>
          </a:xfrm>
          <a:prstGeom prst="rect">
            <a:avLst/>
          </a:prstGeom>
        </p:spPr>
        <p:txBody>
          <a:bodyPr wrap="none">
            <a:spAutoFit/>
          </a:bodyPr>
          <a:lstStyle/>
          <a:p>
            <a:r>
              <a:rPr lang="fr-FR" dirty="0"/>
              <a:t>by Ghorbel Oussama</a:t>
            </a:r>
          </a:p>
        </p:txBody>
      </p:sp>
    </p:spTree>
    <p:extLst>
      <p:ext uri="{BB962C8B-B14F-4D97-AF65-F5344CB8AC3E}">
        <p14:creationId xmlns:p14="http://schemas.microsoft.com/office/powerpoint/2010/main" val="31389560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ctr"/>
            <a:r>
              <a:rPr lang="fr-FR" dirty="0"/>
              <a:t>RECONSTRUCTION STATIQUE D’UNE BRANCHE </a:t>
            </a:r>
            <a:br>
              <a:rPr lang="fr-FR" dirty="0"/>
            </a:br>
            <a:r>
              <a:rPr lang="fr-FR" dirty="0"/>
              <a:t>ETAPE 1: Modélisation &amp; Formalisme</a:t>
            </a:r>
          </a:p>
        </p:txBody>
      </p:sp>
      <p:sp>
        <p:nvSpPr>
          <p:cNvPr id="11" name="Espace réservé du contenu 10"/>
          <p:cNvSpPr>
            <a:spLocks noGrp="1"/>
          </p:cNvSpPr>
          <p:nvPr>
            <p:ph idx="1"/>
          </p:nvPr>
        </p:nvSpPr>
        <p:spPr>
          <a:xfrm>
            <a:off x="585997" y="1904057"/>
            <a:ext cx="10398457" cy="7755891"/>
          </a:xfrm>
        </p:spPr>
        <p:txBody>
          <a:bodyPr/>
          <a:lstStyle/>
          <a:p>
            <a:r>
              <a:rPr lang="fr-FR" dirty="0">
                <a:latin typeface="Calibri" panose="020F0502020204030204" pitchFamily="34" charset="0"/>
                <a:ea typeface="Calibri" panose="020F0502020204030204" pitchFamily="34" charset="0"/>
                <a:cs typeface="Times New Roman" panose="02020603050405020304" pitchFamily="18" charset="0"/>
              </a:rPr>
              <a:t>Caractéristiques géométriques d’un Tronc de cône</a:t>
            </a:r>
            <a:endParaRPr lang="fr-FR" dirty="0"/>
          </a:p>
        </p:txBody>
      </p:sp>
      <p:sp>
        <p:nvSpPr>
          <p:cNvPr id="3" name="Espace réservé du numéro de diapositive 2"/>
          <p:cNvSpPr>
            <a:spLocks noGrp="1"/>
          </p:cNvSpPr>
          <p:nvPr>
            <p:ph type="sldNum" sz="quarter" idx="12"/>
          </p:nvPr>
        </p:nvSpPr>
        <p:spPr/>
        <p:txBody>
          <a:bodyPr/>
          <a:lstStyle/>
          <a:p>
            <a:fld id="{F210F9B4-E45F-45DE-A182-D2D6DBA25399}" type="slidenum">
              <a:rPr lang="fr-FR" smtClean="0"/>
              <a:t>5</a:t>
            </a:fld>
            <a:endParaRPr lang="fr-FR"/>
          </a:p>
        </p:txBody>
      </p:sp>
      <p:pic>
        <p:nvPicPr>
          <p:cNvPr id="5" name="Image 4"/>
          <p:cNvPicPr>
            <a:picLocks noChangeAspect="1"/>
          </p:cNvPicPr>
          <p:nvPr/>
        </p:nvPicPr>
        <p:blipFill>
          <a:blip r:embed="rId3"/>
          <a:stretch>
            <a:fillRect/>
          </a:stretch>
        </p:blipFill>
        <p:spPr>
          <a:xfrm>
            <a:off x="909201" y="4062029"/>
            <a:ext cx="1128289" cy="1671844"/>
          </a:xfrm>
          <a:prstGeom prst="rect">
            <a:avLst/>
          </a:prstGeom>
        </p:spPr>
      </p:pic>
      <p:pic>
        <p:nvPicPr>
          <p:cNvPr id="6" name="Image 5"/>
          <p:cNvPicPr>
            <a:picLocks noChangeAspect="1"/>
          </p:cNvPicPr>
          <p:nvPr/>
        </p:nvPicPr>
        <p:blipFill>
          <a:blip r:embed="rId4"/>
          <a:stretch>
            <a:fillRect/>
          </a:stretch>
        </p:blipFill>
        <p:spPr>
          <a:xfrm>
            <a:off x="10118678" y="4062029"/>
            <a:ext cx="1731552" cy="1671844"/>
          </a:xfrm>
          <a:prstGeom prst="rect">
            <a:avLst/>
          </a:prstGeom>
        </p:spPr>
      </p:pic>
      <p:pic>
        <p:nvPicPr>
          <p:cNvPr id="7" name="Image 6"/>
          <p:cNvPicPr>
            <a:picLocks noChangeAspect="1"/>
          </p:cNvPicPr>
          <p:nvPr/>
        </p:nvPicPr>
        <p:blipFill>
          <a:blip r:embed="rId5"/>
          <a:stretch>
            <a:fillRect/>
          </a:stretch>
        </p:blipFill>
        <p:spPr>
          <a:xfrm>
            <a:off x="3341740" y="3652457"/>
            <a:ext cx="6162675" cy="3343275"/>
          </a:xfrm>
          <a:prstGeom prst="rect">
            <a:avLst/>
          </a:prstGeom>
        </p:spPr>
      </p:pic>
      <mc:AlternateContent xmlns:mc="http://schemas.openxmlformats.org/markup-compatibility/2006" xmlns:a14="http://schemas.microsoft.com/office/drawing/2010/main">
        <mc:Choice Requires="a14">
          <p:sp>
            <p:nvSpPr>
              <p:cNvPr id="10" name="Rectangle 9"/>
              <p:cNvSpPr/>
              <p:nvPr/>
            </p:nvSpPr>
            <p:spPr>
              <a:xfrm>
                <a:off x="3787770" y="2313629"/>
                <a:ext cx="6827089" cy="1338828"/>
              </a:xfrm>
              <a:prstGeom prst="rect">
                <a:avLst/>
              </a:prstGeom>
            </p:spPr>
            <p:txBody>
              <a:bodyPr wrap="square">
                <a:spAutoFit/>
              </a:bodyPr>
              <a:lstStyle/>
              <a:p>
                <a:pPr marL="342900" lvl="0" indent="-342900" algn="just">
                  <a:lnSpc>
                    <a:spcPct val="150000"/>
                  </a:lnSpc>
                  <a:spcAft>
                    <a:spcPts val="0"/>
                  </a:spcAft>
                  <a:buFont typeface="Symbol" panose="05050102010706020507" pitchFamily="18" charset="2"/>
                  <a:buChar char=""/>
                </a:pPr>
                <a:r>
                  <a:rPr lang="fr-FR" dirty="0">
                    <a:latin typeface="Calibri" panose="020F0502020204030204" pitchFamily="34" charset="0"/>
                    <a:ea typeface="Calibri" panose="020F0502020204030204" pitchFamily="34" charset="0"/>
                    <a:cs typeface="Times New Roman" panose="02020603050405020304" pitchFamily="18" charset="0"/>
                  </a:rPr>
                  <a:t>Hauteur </a:t>
                </a:r>
                <a14:m>
                  <m:oMath xmlns:m="http://schemas.openxmlformats.org/officeDocument/2006/math">
                    <m:r>
                      <a:rPr lang="fr-FR" i="1">
                        <a:effectLst/>
                        <a:latin typeface="Cambria Math" panose="02040503050406030204" pitchFamily="18" charset="0"/>
                        <a:ea typeface="Calibri" panose="020F0502020204030204" pitchFamily="34" charset="0"/>
                        <a:cs typeface="Times New Roman" panose="02020603050405020304" pitchFamily="18" charset="0"/>
                      </a:rPr>
                      <m:t> </m:t>
                    </m:r>
                    <m:r>
                      <a:rPr lang="fr-FR" i="1">
                        <a:effectLst/>
                        <a:latin typeface="Cambria Math" panose="02040503050406030204" pitchFamily="18" charset="0"/>
                        <a:ea typeface="Calibri" panose="020F0502020204030204" pitchFamily="34" charset="0"/>
                        <a:cs typeface="Times New Roman" panose="02020603050405020304" pitchFamily="18" charset="0"/>
                      </a:rPr>
                      <m:t>𝐿</m:t>
                    </m:r>
                    <m:r>
                      <a:rPr lang="fr-FR" i="1">
                        <a:effectLst/>
                        <a:latin typeface="Cambria Math" panose="02040503050406030204" pitchFamily="18" charset="0"/>
                        <a:ea typeface="Calibri" panose="020F0502020204030204" pitchFamily="34" charset="0"/>
                        <a:cs typeface="Times New Roman" panose="02020603050405020304" pitchFamily="18" charset="0"/>
                      </a:rPr>
                      <m:t> </m:t>
                    </m:r>
                  </m:oMath>
                </a14:m>
                <a:endParaRPr lang="fr-FR"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pPr>
                <a:r>
                  <a:rPr lang="fr-FR" dirty="0">
                    <a:effectLst/>
                    <a:latin typeface="Calibri" panose="020F0502020204030204" pitchFamily="34" charset="0"/>
                    <a:ea typeface="Calibri" panose="020F0502020204030204" pitchFamily="34" charset="0"/>
                    <a:cs typeface="Times New Roman" panose="02020603050405020304" pitchFamily="18" charset="0"/>
                  </a:rPr>
                  <a:t>Diamètre à la base</a:t>
                </a:r>
                <a14:m>
                  <m:oMath xmlns:m="http://schemas.openxmlformats.org/officeDocument/2006/math">
                    <m:r>
                      <a:rPr lang="fr-FR" i="1">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fr-FR" i="1">
                            <a:effectLst/>
                            <a:latin typeface="Cambria Math" panose="02040503050406030204" pitchFamily="18" charset="0"/>
                            <a:ea typeface="Calibri" panose="020F0502020204030204" pitchFamily="34" charset="0"/>
                            <a:cs typeface="Times New Roman" panose="02020603050405020304" pitchFamily="18" charset="0"/>
                          </a:rPr>
                        </m:ctrlPr>
                      </m:sSubPr>
                      <m:e>
                        <m:r>
                          <a:rPr lang="fr-FR" i="1">
                            <a:effectLst/>
                            <a:latin typeface="Cambria Math" panose="02040503050406030204" pitchFamily="18" charset="0"/>
                            <a:ea typeface="Calibri" panose="020F0502020204030204" pitchFamily="34" charset="0"/>
                            <a:cs typeface="Times New Roman" panose="02020603050405020304" pitchFamily="18" charset="0"/>
                          </a:rPr>
                          <m:t>𝑒</m:t>
                        </m:r>
                      </m:e>
                      <m:sub>
                        <m:r>
                          <a:rPr lang="fr-FR" i="1">
                            <a:effectLst/>
                            <a:latin typeface="Cambria Math" panose="02040503050406030204" pitchFamily="18" charset="0"/>
                            <a:ea typeface="Calibri" panose="020F0502020204030204" pitchFamily="34" charset="0"/>
                            <a:cs typeface="Times New Roman" panose="02020603050405020304" pitchFamily="18" charset="0"/>
                          </a:rPr>
                          <m:t>𝑏𝑎𝑠𝑒</m:t>
                        </m:r>
                      </m:sub>
                    </m:sSub>
                  </m:oMath>
                </a14:m>
                <a:endParaRPr lang="fr-FR"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pPr>
                <a:r>
                  <a:rPr lang="fr-FR" dirty="0">
                    <a:effectLst/>
                    <a:latin typeface="Calibri" panose="020F0502020204030204" pitchFamily="34" charset="0"/>
                    <a:ea typeface="Calibri" panose="020F0502020204030204" pitchFamily="34" charset="0"/>
                    <a:cs typeface="Times New Roman" panose="02020603050405020304" pitchFamily="18" charset="0"/>
                  </a:rPr>
                  <a:t>Diamètre au sommet</a:t>
                </a:r>
                <a14:m>
                  <m:oMath xmlns:m="http://schemas.openxmlformats.org/officeDocument/2006/math">
                    <m:r>
                      <a:rPr lang="fr-FR" i="1">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fr-FR" i="1">
                            <a:effectLst/>
                            <a:latin typeface="Cambria Math" panose="02040503050406030204" pitchFamily="18" charset="0"/>
                            <a:ea typeface="Calibri" panose="020F0502020204030204" pitchFamily="34" charset="0"/>
                            <a:cs typeface="Times New Roman" panose="02020603050405020304" pitchFamily="18" charset="0"/>
                          </a:rPr>
                        </m:ctrlPr>
                      </m:sSubPr>
                      <m:e>
                        <m:r>
                          <a:rPr lang="fr-FR" i="1">
                            <a:effectLst/>
                            <a:latin typeface="Cambria Math" panose="02040503050406030204" pitchFamily="18" charset="0"/>
                            <a:ea typeface="Calibri" panose="020F0502020204030204" pitchFamily="34" charset="0"/>
                            <a:cs typeface="Times New Roman" panose="02020603050405020304" pitchFamily="18" charset="0"/>
                          </a:rPr>
                          <m:t>𝑒</m:t>
                        </m:r>
                      </m:e>
                      <m:sub>
                        <m:r>
                          <a:rPr lang="fr-FR" i="1">
                            <a:effectLst/>
                            <a:latin typeface="Cambria Math" panose="02040503050406030204" pitchFamily="18" charset="0"/>
                            <a:ea typeface="Calibri" panose="020F0502020204030204" pitchFamily="34" charset="0"/>
                            <a:cs typeface="Times New Roman" panose="02020603050405020304" pitchFamily="18" charset="0"/>
                          </a:rPr>
                          <m:t>𝑠𝑜𝑚𝑚𝑒𝑡</m:t>
                        </m:r>
                      </m:sub>
                    </m:sSub>
                  </m:oMath>
                </a14:m>
                <a:endParaRPr lang="fr-FR"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0" name="Rectangle 9"/>
              <p:cNvSpPr>
                <a:spLocks noRot="1" noChangeAspect="1" noMove="1" noResize="1" noEditPoints="1" noAdjustHandles="1" noChangeArrowheads="1" noChangeShapeType="1" noTextEdit="1"/>
              </p:cNvSpPr>
              <p:nvPr/>
            </p:nvSpPr>
            <p:spPr>
              <a:xfrm>
                <a:off x="3787770" y="2313629"/>
                <a:ext cx="6827089" cy="1338828"/>
              </a:xfrm>
              <a:prstGeom prst="rect">
                <a:avLst/>
              </a:prstGeom>
              <a:blipFill rotWithShape="0">
                <a:blip r:embed="rId6"/>
                <a:stretch>
                  <a:fillRect l="-714" b="-3653"/>
                </a:stretch>
              </a:blipFill>
            </p:spPr>
            <p:txBody>
              <a:bodyPr/>
              <a:lstStyle/>
              <a:p>
                <a:r>
                  <a:rPr lang="fr-FR">
                    <a:noFill/>
                  </a:rPr>
                  <a:t> </a:t>
                </a:r>
              </a:p>
            </p:txBody>
          </p:sp>
        </mc:Fallback>
      </mc:AlternateContent>
    </p:spTree>
    <p:extLst>
      <p:ext uri="{BB962C8B-B14F-4D97-AF65-F5344CB8AC3E}">
        <p14:creationId xmlns:p14="http://schemas.microsoft.com/office/powerpoint/2010/main" val="37543260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ctr"/>
            <a:r>
              <a:rPr lang="fr-FR" dirty="0"/>
              <a:t>RECONSTRUCTION STATIQUE D’UNE BRANCHE </a:t>
            </a:r>
            <a:br>
              <a:rPr lang="fr-FR" dirty="0"/>
            </a:br>
            <a:r>
              <a:rPr lang="fr-FR" dirty="0"/>
              <a:t>ETAPE 1: Modélisation &amp; Formalisme</a:t>
            </a:r>
          </a:p>
        </p:txBody>
      </p:sp>
      <p:sp>
        <p:nvSpPr>
          <p:cNvPr id="3" name="Espace réservé du contenu 2"/>
          <p:cNvSpPr>
            <a:spLocks noGrp="1"/>
          </p:cNvSpPr>
          <p:nvPr>
            <p:ph idx="1"/>
          </p:nvPr>
        </p:nvSpPr>
        <p:spPr>
          <a:xfrm>
            <a:off x="838200" y="1968500"/>
            <a:ext cx="10515600" cy="4351338"/>
          </a:xfrm>
        </p:spPr>
        <p:txBody>
          <a:bodyPr/>
          <a:lstStyle/>
          <a:p>
            <a:r>
              <a:rPr lang="fr-FR" dirty="0"/>
              <a:t>MODELISATION PAR DES CÔNES</a:t>
            </a:r>
          </a:p>
        </p:txBody>
      </p:sp>
      <p:sp>
        <p:nvSpPr>
          <p:cNvPr id="5" name="Espace réservé du numéro de diapositive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10F9B4-E45F-45DE-A182-D2D6DBA25399}"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Rectangle 2"/>
          <p:cNvSpPr>
            <a:spLocks noChangeArrowheads="1"/>
          </p:cNvSpPr>
          <p:nvPr/>
        </p:nvSpPr>
        <p:spPr bwMode="auto">
          <a:xfrm>
            <a:off x="0" y="1428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 name="Image 6"/>
          <p:cNvPicPr>
            <a:picLocks noChangeAspect="1"/>
          </p:cNvPicPr>
          <p:nvPr/>
        </p:nvPicPr>
        <p:blipFill>
          <a:blip r:embed="rId3"/>
          <a:stretch>
            <a:fillRect/>
          </a:stretch>
        </p:blipFill>
        <p:spPr>
          <a:xfrm>
            <a:off x="7411872" y="2417657"/>
            <a:ext cx="4816522" cy="2862968"/>
          </a:xfrm>
          <a:prstGeom prst="rect">
            <a:avLst/>
          </a:prstGeom>
        </p:spPr>
      </p:pic>
      <mc:AlternateContent xmlns:mc="http://schemas.openxmlformats.org/markup-compatibility/2006" xmlns:a14="http://schemas.microsoft.com/office/drawing/2010/main">
        <mc:Choice Requires="a14">
          <p:sp>
            <p:nvSpPr>
              <p:cNvPr id="8" name="Rectangle 7"/>
              <p:cNvSpPr/>
              <p:nvPr/>
            </p:nvSpPr>
            <p:spPr>
              <a:xfrm>
                <a:off x="1315872" y="2786989"/>
                <a:ext cx="6096000" cy="2202719"/>
              </a:xfrm>
              <a:prstGeom prst="rect">
                <a:avLst/>
              </a:prstGeom>
            </p:spPr>
            <p:txBody>
              <a:bodyPr>
                <a:spAutoFit/>
              </a:bodyPr>
              <a:lstStyle/>
              <a:p>
                <a:pPr marL="342900" marR="0" lvl="0" indent="-342900" algn="just" defTabSz="914400" rtl="0" eaLnBrk="1" fontAlgn="auto" latinLnBrk="0" hangingPunct="1">
                  <a:lnSpc>
                    <a:spcPct val="150000"/>
                  </a:lnSpc>
                  <a:spcBef>
                    <a:spcPts val="0"/>
                  </a:spcBef>
                  <a:spcAft>
                    <a:spcPts val="0"/>
                  </a:spcAft>
                  <a:buClrTx/>
                  <a:buSzTx/>
                  <a:buFont typeface="Symbol" panose="05050102010706020507" pitchFamily="18" charset="2"/>
                  <a:buChar char=""/>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La Longueur du rameau </a:t>
                </a:r>
                <a14:m>
                  <m:oMath xmlns:m="http://schemas.openxmlformats.org/officeDocument/2006/math">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𝐿</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𝑁</m:t>
                        </m:r>
                      </m:sub>
                    </m:sSub>
                  </m:oMath>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defTabSz="914400" rtl="0" eaLnBrk="1" fontAlgn="auto" latinLnBrk="0" hangingPunct="1">
                  <a:lnSpc>
                    <a:spcPct val="150000"/>
                  </a:lnSpc>
                  <a:spcBef>
                    <a:spcPts val="0"/>
                  </a:spcBef>
                  <a:spcAft>
                    <a:spcPts val="0"/>
                  </a:spcAft>
                  <a:buClrTx/>
                  <a:buSzTx/>
                  <a:buFont typeface="Symbol" panose="05050102010706020507" pitchFamily="18" charset="2"/>
                  <a:buChar char=""/>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Les Epaisseurs du rameau </a:t>
                </a:r>
                <a14:m>
                  <m:oMath xmlns:m="http://schemas.openxmlformats.org/officeDocument/2006/math">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𝑒</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𝑏𝑎𝑠𝑒</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𝑁</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𝑒𝑡</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𝑒</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𝑠𝑜𝑚𝑚𝑒𝑡</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𝑁</m:t>
                        </m:r>
                      </m:sub>
                    </m:sSub>
                  </m:oMath>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defTabSz="914400" rtl="0" eaLnBrk="1" fontAlgn="auto" latinLnBrk="0" hangingPunct="1">
                  <a:lnSpc>
                    <a:spcPct val="150000"/>
                  </a:lnSpc>
                  <a:spcBef>
                    <a:spcPts val="0"/>
                  </a:spcBef>
                  <a:spcAft>
                    <a:spcPts val="0"/>
                  </a:spcAft>
                  <a:buClrTx/>
                  <a:buSzTx/>
                  <a:buFont typeface="Symbol" panose="05050102010706020507" pitchFamily="18" charset="2"/>
                  <a:buChar char=""/>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Longueur entre son centre de base et celui du rameau parent : </a:t>
                </a:r>
                <a14:m>
                  <m:oMath xmlns:m="http://schemas.openxmlformats.org/officeDocument/2006/math">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𝐿</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𝑁</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−1 </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𝑁</m:t>
                        </m:r>
                      </m:sub>
                    </m:sSub>
                  </m:oMath>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defTabSz="914400" rtl="0" eaLnBrk="1" fontAlgn="auto" latinLnBrk="0" hangingPunct="1">
                  <a:lnSpc>
                    <a:spcPct val="150000"/>
                  </a:lnSpc>
                  <a:spcBef>
                    <a:spcPts val="0"/>
                  </a:spcBef>
                  <a:spcAft>
                    <a:spcPts val="0"/>
                  </a:spcAft>
                  <a:buClrTx/>
                  <a:buSzTx/>
                  <a:buFont typeface="Symbol" panose="05050102010706020507" pitchFamily="18" charset="2"/>
                  <a:buChar char=""/>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Les Angles de rotation </a:t>
                </a:r>
                <a14:m>
                  <m:oMath xmlns:m="http://schemas.openxmlformats.org/officeDocument/2006/math">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𝑧</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2</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=0, </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𝑦</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 </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𝑒𝑡</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 </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𝑧</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1</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𝑧</m:t>
                        </m:r>
                      </m:sub>
                    </m:sSub>
                  </m:oMath>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8" name="Rectangle 7"/>
              <p:cNvSpPr>
                <a:spLocks noRot="1" noChangeAspect="1" noMove="1" noResize="1" noEditPoints="1" noAdjustHandles="1" noChangeArrowheads="1" noChangeShapeType="1" noTextEdit="1"/>
              </p:cNvSpPr>
              <p:nvPr/>
            </p:nvSpPr>
            <p:spPr>
              <a:xfrm>
                <a:off x="1315872" y="2786989"/>
                <a:ext cx="6096000" cy="2202719"/>
              </a:xfrm>
              <a:prstGeom prst="rect">
                <a:avLst/>
              </a:prstGeom>
              <a:blipFill rotWithShape="0">
                <a:blip r:embed="rId4"/>
                <a:stretch>
                  <a:fillRect l="-900" r="-800" b="-829"/>
                </a:stretch>
              </a:blipFill>
            </p:spPr>
            <p:txBody>
              <a:bodyPr/>
              <a:lstStyle/>
              <a:p>
                <a:r>
                  <a:rPr lang="fr-FR">
                    <a:noFill/>
                  </a:rPr>
                  <a:t> </a:t>
                </a:r>
              </a:p>
            </p:txBody>
          </p:sp>
        </mc:Fallback>
      </mc:AlternateContent>
      <p:sp>
        <p:nvSpPr>
          <p:cNvPr id="9" name="Rectangle 8"/>
          <p:cNvSpPr/>
          <p:nvPr/>
        </p:nvSpPr>
        <p:spPr>
          <a:xfrm>
            <a:off x="1173049" y="2417657"/>
            <a:ext cx="404059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Caractérisation de chaque ramification : </a:t>
            </a:r>
            <a:endParaRPr kumimoji="0" lang="fr-FR"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10" name="Rectangle 9"/>
              <p:cNvSpPr/>
              <p:nvPr/>
            </p:nvSpPr>
            <p:spPr>
              <a:xfrm>
                <a:off x="6936678" y="1986421"/>
                <a:ext cx="400128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𝐶𝑂𝑁𝐸</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𝑁</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𝑂</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𝑁</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sSubPr>
                      <m:e>
                        <m:acc>
                          <m:accPr>
                            <m:chr m:val="⃗"/>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acc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𝑢</m:t>
                            </m:r>
                          </m:e>
                        </m:acc>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𝑁</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𝐿</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𝑁</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𝑒</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𝑏𝑎𝑠𝑒</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𝑁</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𝑒</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𝑠𝑜𝑚𝑚𝑒𝑡</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𝑁</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10" name="Rectangle 9"/>
              <p:cNvSpPr>
                <a:spLocks noRot="1" noChangeAspect="1" noMove="1" noResize="1" noEditPoints="1" noAdjustHandles="1" noChangeArrowheads="1" noChangeShapeType="1" noTextEdit="1"/>
              </p:cNvSpPr>
              <p:nvPr/>
            </p:nvSpPr>
            <p:spPr>
              <a:xfrm>
                <a:off x="6936678" y="1986421"/>
                <a:ext cx="4001288" cy="369332"/>
              </a:xfrm>
              <a:prstGeom prst="rect">
                <a:avLst/>
              </a:prstGeom>
              <a:blipFill rotWithShape="0">
                <a:blip r:embed="rId5"/>
                <a:stretch>
                  <a:fillRect b="-13333"/>
                </a:stretch>
              </a:blipFill>
            </p:spPr>
            <p:txBody>
              <a:bodyPr/>
              <a:lstStyle/>
              <a:p>
                <a:r>
                  <a:rPr lang="fr-FR">
                    <a:noFill/>
                  </a:rPr>
                  <a:t> </a:t>
                </a:r>
              </a:p>
            </p:txBody>
          </p:sp>
        </mc:Fallback>
      </mc:AlternateContent>
    </p:spTree>
    <p:extLst>
      <p:ext uri="{BB962C8B-B14F-4D97-AF65-F5344CB8AC3E}">
        <p14:creationId xmlns:p14="http://schemas.microsoft.com/office/powerpoint/2010/main" val="31701084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ctr"/>
            <a:r>
              <a:rPr lang="fr-FR" dirty="0"/>
              <a:t>RECONSTRUCTION STATIQUE D’UNE BRANCHE </a:t>
            </a:r>
            <a:br>
              <a:rPr lang="fr-FR" dirty="0"/>
            </a:br>
            <a:r>
              <a:rPr lang="fr-FR" dirty="0"/>
              <a:t>ETAPE 2: Collecte des données</a:t>
            </a:r>
          </a:p>
        </p:txBody>
      </p:sp>
      <p:sp>
        <p:nvSpPr>
          <p:cNvPr id="3" name="Espace réservé du contenu 2"/>
          <p:cNvSpPr>
            <a:spLocks noGrp="1"/>
          </p:cNvSpPr>
          <p:nvPr>
            <p:ph idx="1"/>
          </p:nvPr>
        </p:nvSpPr>
        <p:spPr/>
        <p:txBody>
          <a:bodyPr/>
          <a:lstStyle/>
          <a:p>
            <a:r>
              <a:rPr lang="fr-FR" dirty="0"/>
              <a:t>QUESTION : QUELLE CONCEPTION POUR L’APPAREIL DES ANGLES?</a:t>
            </a:r>
          </a:p>
          <a:p>
            <a:r>
              <a:rPr lang="fr-FR" dirty="0"/>
              <a:t>REPONSE : </a:t>
            </a:r>
          </a:p>
          <a:p>
            <a:pPr marL="0" indent="0">
              <a:buNone/>
            </a:pPr>
            <a:endParaRPr lang="fr-FR" dirty="0"/>
          </a:p>
          <a:p>
            <a:pPr marL="0" indent="0">
              <a:buNone/>
            </a:pPr>
            <a:endParaRPr lang="fr-FR" dirty="0"/>
          </a:p>
        </p:txBody>
      </p:sp>
      <p:sp>
        <p:nvSpPr>
          <p:cNvPr id="4" name="Espace réservé du numéro de diapositive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10F9B4-E45F-45DE-A182-D2D6DBA25399}"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pSp>
        <p:nvGrpSpPr>
          <p:cNvPr id="67" name="Groupe 66"/>
          <p:cNvGrpSpPr/>
          <p:nvPr/>
        </p:nvGrpSpPr>
        <p:grpSpPr>
          <a:xfrm>
            <a:off x="1571796" y="3053617"/>
            <a:ext cx="3935707" cy="3368573"/>
            <a:chOff x="0" y="0"/>
            <a:chExt cx="3468288" cy="2964169"/>
          </a:xfrm>
        </p:grpSpPr>
        <p:cxnSp>
          <p:nvCxnSpPr>
            <p:cNvPr id="68" name="Connecteur droit 67"/>
            <p:cNvCxnSpPr/>
            <p:nvPr/>
          </p:nvCxnSpPr>
          <p:spPr>
            <a:xfrm flipV="1">
              <a:off x="29261" y="14630"/>
              <a:ext cx="78828" cy="331076"/>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grpSp>
          <p:nvGrpSpPr>
            <p:cNvPr id="69" name="Groupe 68"/>
            <p:cNvGrpSpPr/>
            <p:nvPr/>
          </p:nvGrpSpPr>
          <p:grpSpPr>
            <a:xfrm>
              <a:off x="0" y="0"/>
              <a:ext cx="3468288" cy="2964169"/>
              <a:chOff x="0" y="0"/>
              <a:chExt cx="3468288" cy="2964169"/>
            </a:xfrm>
          </p:grpSpPr>
          <p:grpSp>
            <p:nvGrpSpPr>
              <p:cNvPr id="70" name="Groupe 69"/>
              <p:cNvGrpSpPr/>
              <p:nvPr/>
            </p:nvGrpSpPr>
            <p:grpSpPr>
              <a:xfrm>
                <a:off x="0" y="329184"/>
                <a:ext cx="2821304" cy="2474596"/>
                <a:chOff x="-835573" y="0"/>
                <a:chExt cx="2821547" cy="2475187"/>
              </a:xfrm>
            </p:grpSpPr>
            <p:grpSp>
              <p:nvGrpSpPr>
                <p:cNvPr id="77" name="Groupe 76"/>
                <p:cNvGrpSpPr/>
                <p:nvPr/>
              </p:nvGrpSpPr>
              <p:grpSpPr>
                <a:xfrm>
                  <a:off x="-835573" y="0"/>
                  <a:ext cx="2821547" cy="2475187"/>
                  <a:chOff x="-835573" y="0"/>
                  <a:chExt cx="2821547" cy="2475187"/>
                </a:xfrm>
              </p:grpSpPr>
              <p:cxnSp>
                <p:nvCxnSpPr>
                  <p:cNvPr id="85" name="Connecteur droit 84"/>
                  <p:cNvCxnSpPr/>
                  <p:nvPr/>
                </p:nvCxnSpPr>
                <p:spPr>
                  <a:xfrm>
                    <a:off x="441435" y="2128345"/>
                    <a:ext cx="1324303"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86" name="Connecteur droit 85"/>
                  <p:cNvCxnSpPr/>
                  <p:nvPr/>
                </p:nvCxnSpPr>
                <p:spPr>
                  <a:xfrm flipH="1">
                    <a:off x="409904" y="2128345"/>
                    <a:ext cx="268013" cy="34684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87" name="Connecteur droit 86"/>
                  <p:cNvCxnSpPr/>
                  <p:nvPr/>
                </p:nvCxnSpPr>
                <p:spPr>
                  <a:xfrm flipV="1">
                    <a:off x="1103586" y="772511"/>
                    <a:ext cx="0" cy="1355834"/>
                  </a:xfrm>
                  <a:prstGeom prst="line">
                    <a:avLst/>
                  </a:prstGeom>
                </p:spPr>
                <p:style>
                  <a:lnRef idx="1">
                    <a:schemeClr val="accent1"/>
                  </a:lnRef>
                  <a:fillRef idx="0">
                    <a:schemeClr val="accent1"/>
                  </a:fillRef>
                  <a:effectRef idx="0">
                    <a:schemeClr val="accent1"/>
                  </a:effectRef>
                  <a:fontRef idx="minor">
                    <a:schemeClr val="tx1"/>
                  </a:fontRef>
                </p:style>
              </p:cxnSp>
              <p:cxnSp>
                <p:nvCxnSpPr>
                  <p:cNvPr id="88" name="Connecteur droit 87"/>
                  <p:cNvCxnSpPr/>
                  <p:nvPr/>
                </p:nvCxnSpPr>
                <p:spPr>
                  <a:xfrm flipH="1">
                    <a:off x="677917" y="2128345"/>
                    <a:ext cx="268013" cy="34684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89" name="Connecteur droit 88"/>
                  <p:cNvCxnSpPr/>
                  <p:nvPr/>
                </p:nvCxnSpPr>
                <p:spPr>
                  <a:xfrm flipH="1">
                    <a:off x="945931" y="2128345"/>
                    <a:ext cx="268013" cy="34684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0" name="Connecteur droit 89"/>
                  <p:cNvCxnSpPr/>
                  <p:nvPr/>
                </p:nvCxnSpPr>
                <p:spPr>
                  <a:xfrm flipH="1">
                    <a:off x="1261241" y="2128345"/>
                    <a:ext cx="268013" cy="34684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1" name="Connecteur droit 90"/>
                  <p:cNvCxnSpPr/>
                  <p:nvPr/>
                </p:nvCxnSpPr>
                <p:spPr>
                  <a:xfrm>
                    <a:off x="315310" y="551794"/>
                    <a:ext cx="1670664" cy="440909"/>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92" name="Connecteur droit 91"/>
                  <p:cNvCxnSpPr/>
                  <p:nvPr/>
                </p:nvCxnSpPr>
                <p:spPr>
                  <a:xfrm flipH="1" flipV="1">
                    <a:off x="0" y="220718"/>
                    <a:ext cx="677567" cy="189186"/>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93" name="Connecteur droit 92"/>
                  <p:cNvCxnSpPr/>
                  <p:nvPr/>
                </p:nvCxnSpPr>
                <p:spPr>
                  <a:xfrm flipH="1" flipV="1">
                    <a:off x="-835573" y="0"/>
                    <a:ext cx="851336" cy="220184"/>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sp>
                <p:nvSpPr>
                  <p:cNvPr id="94" name="Rectangle 93"/>
                  <p:cNvSpPr/>
                  <p:nvPr/>
                </p:nvSpPr>
                <p:spPr>
                  <a:xfrm>
                    <a:off x="1008993" y="1970690"/>
                    <a:ext cx="62909" cy="299041"/>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5" name="Rectangle 94"/>
                  <p:cNvSpPr/>
                  <p:nvPr/>
                </p:nvSpPr>
                <p:spPr>
                  <a:xfrm>
                    <a:off x="1135117" y="1970690"/>
                    <a:ext cx="62909" cy="299041"/>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6" name="Rectangle 200"/>
                  <p:cNvSpPr/>
                  <p:nvPr/>
                </p:nvSpPr>
                <p:spPr>
                  <a:xfrm>
                    <a:off x="315310" y="157590"/>
                    <a:ext cx="315274" cy="157721"/>
                  </a:xfrm>
                  <a:custGeom>
                    <a:avLst/>
                    <a:gdLst>
                      <a:gd name="connsiteX0" fmla="*/ 0 w 62865"/>
                      <a:gd name="connsiteY0" fmla="*/ 0 h 298450"/>
                      <a:gd name="connsiteX1" fmla="*/ 62865 w 62865"/>
                      <a:gd name="connsiteY1" fmla="*/ 0 h 298450"/>
                      <a:gd name="connsiteX2" fmla="*/ 62865 w 62865"/>
                      <a:gd name="connsiteY2" fmla="*/ 298450 h 298450"/>
                      <a:gd name="connsiteX3" fmla="*/ 0 w 62865"/>
                      <a:gd name="connsiteY3" fmla="*/ 298450 h 298450"/>
                      <a:gd name="connsiteX4" fmla="*/ 0 w 62865"/>
                      <a:gd name="connsiteY4" fmla="*/ 0 h 298450"/>
                      <a:gd name="connsiteX0" fmla="*/ 0 w 315113"/>
                      <a:gd name="connsiteY0" fmla="*/ 126125 h 298450"/>
                      <a:gd name="connsiteX1" fmla="*/ 315113 w 315113"/>
                      <a:gd name="connsiteY1" fmla="*/ 0 h 298450"/>
                      <a:gd name="connsiteX2" fmla="*/ 315113 w 315113"/>
                      <a:gd name="connsiteY2" fmla="*/ 298450 h 298450"/>
                      <a:gd name="connsiteX3" fmla="*/ 252248 w 315113"/>
                      <a:gd name="connsiteY3" fmla="*/ 298450 h 298450"/>
                      <a:gd name="connsiteX4" fmla="*/ 0 w 315113"/>
                      <a:gd name="connsiteY4" fmla="*/ 126125 h 298450"/>
                      <a:gd name="connsiteX0" fmla="*/ 0 w 315113"/>
                      <a:gd name="connsiteY0" fmla="*/ 110359 h 282684"/>
                      <a:gd name="connsiteX1" fmla="*/ 110061 w 315113"/>
                      <a:gd name="connsiteY1" fmla="*/ 0 h 282684"/>
                      <a:gd name="connsiteX2" fmla="*/ 315113 w 315113"/>
                      <a:gd name="connsiteY2" fmla="*/ 282684 h 282684"/>
                      <a:gd name="connsiteX3" fmla="*/ 252248 w 315113"/>
                      <a:gd name="connsiteY3" fmla="*/ 282684 h 282684"/>
                      <a:gd name="connsiteX4" fmla="*/ 0 w 315113"/>
                      <a:gd name="connsiteY4" fmla="*/ 110359 h 282684"/>
                      <a:gd name="connsiteX0" fmla="*/ 0 w 315113"/>
                      <a:gd name="connsiteY0" fmla="*/ 110359 h 282684"/>
                      <a:gd name="connsiteX1" fmla="*/ 110061 w 315113"/>
                      <a:gd name="connsiteY1" fmla="*/ 0 h 282684"/>
                      <a:gd name="connsiteX2" fmla="*/ 315113 w 315113"/>
                      <a:gd name="connsiteY2" fmla="*/ 282684 h 282684"/>
                      <a:gd name="connsiteX3" fmla="*/ 189156 w 315113"/>
                      <a:gd name="connsiteY3" fmla="*/ 282684 h 282684"/>
                      <a:gd name="connsiteX4" fmla="*/ 0 w 315113"/>
                      <a:gd name="connsiteY4" fmla="*/ 110359 h 282684"/>
                      <a:gd name="connsiteX0" fmla="*/ 0 w 315113"/>
                      <a:gd name="connsiteY0" fmla="*/ 110359 h 282684"/>
                      <a:gd name="connsiteX1" fmla="*/ 110061 w 315113"/>
                      <a:gd name="connsiteY1" fmla="*/ 0 h 282684"/>
                      <a:gd name="connsiteX2" fmla="*/ 315113 w 315113"/>
                      <a:gd name="connsiteY2" fmla="*/ 172093 h 282684"/>
                      <a:gd name="connsiteX3" fmla="*/ 189156 w 315113"/>
                      <a:gd name="connsiteY3" fmla="*/ 282684 h 282684"/>
                      <a:gd name="connsiteX4" fmla="*/ 0 w 315113"/>
                      <a:gd name="connsiteY4" fmla="*/ 110359 h 282684"/>
                      <a:gd name="connsiteX0" fmla="*/ 0 w 1432757"/>
                      <a:gd name="connsiteY0" fmla="*/ 281615 h 282684"/>
                      <a:gd name="connsiteX1" fmla="*/ 1227705 w 1432757"/>
                      <a:gd name="connsiteY1" fmla="*/ 0 h 282684"/>
                      <a:gd name="connsiteX2" fmla="*/ 1432757 w 1432757"/>
                      <a:gd name="connsiteY2" fmla="*/ 172093 h 282684"/>
                      <a:gd name="connsiteX3" fmla="*/ 1306800 w 1432757"/>
                      <a:gd name="connsiteY3" fmla="*/ 282684 h 282684"/>
                      <a:gd name="connsiteX4" fmla="*/ 0 w 1432757"/>
                      <a:gd name="connsiteY4" fmla="*/ 281615 h 282684"/>
                      <a:gd name="connsiteX0" fmla="*/ 0 w 1432757"/>
                      <a:gd name="connsiteY0" fmla="*/ 281615 h 329788"/>
                      <a:gd name="connsiteX1" fmla="*/ 1227705 w 1432757"/>
                      <a:gd name="connsiteY1" fmla="*/ 0 h 329788"/>
                      <a:gd name="connsiteX2" fmla="*/ 1432757 w 1432757"/>
                      <a:gd name="connsiteY2" fmla="*/ 172093 h 329788"/>
                      <a:gd name="connsiteX3" fmla="*/ 504212 w 1432757"/>
                      <a:gd name="connsiteY3" fmla="*/ 329788 h 329788"/>
                      <a:gd name="connsiteX4" fmla="*/ 0 w 1432757"/>
                      <a:gd name="connsiteY4" fmla="*/ 281615 h 329788"/>
                      <a:gd name="connsiteX0" fmla="*/ 0 w 1432757"/>
                      <a:gd name="connsiteY0" fmla="*/ 109522 h 157695"/>
                      <a:gd name="connsiteX1" fmla="*/ 57328 w 1432757"/>
                      <a:gd name="connsiteY1" fmla="*/ 16133 h 157695"/>
                      <a:gd name="connsiteX2" fmla="*/ 1432757 w 1432757"/>
                      <a:gd name="connsiteY2" fmla="*/ 0 h 157695"/>
                      <a:gd name="connsiteX3" fmla="*/ 504212 w 1432757"/>
                      <a:gd name="connsiteY3" fmla="*/ 157695 h 157695"/>
                      <a:gd name="connsiteX4" fmla="*/ 0 w 1432757"/>
                      <a:gd name="connsiteY4" fmla="*/ 109522 h 157695"/>
                      <a:gd name="connsiteX0" fmla="*/ 0 w 630166"/>
                      <a:gd name="connsiteY0" fmla="*/ 93389 h 141562"/>
                      <a:gd name="connsiteX1" fmla="*/ 57328 w 630166"/>
                      <a:gd name="connsiteY1" fmla="*/ 0 h 141562"/>
                      <a:gd name="connsiteX2" fmla="*/ 630167 w 630166"/>
                      <a:gd name="connsiteY2" fmla="*/ 46761 h 141562"/>
                      <a:gd name="connsiteX3" fmla="*/ 504212 w 630166"/>
                      <a:gd name="connsiteY3" fmla="*/ 141562 h 141562"/>
                      <a:gd name="connsiteX4" fmla="*/ 0 w 630166"/>
                      <a:gd name="connsiteY4" fmla="*/ 93389 h 141562"/>
                      <a:gd name="connsiteX0" fmla="*/ 0 w 630168"/>
                      <a:gd name="connsiteY0" fmla="*/ 93389 h 110181"/>
                      <a:gd name="connsiteX1" fmla="*/ 57328 w 630168"/>
                      <a:gd name="connsiteY1" fmla="*/ 0 h 110181"/>
                      <a:gd name="connsiteX2" fmla="*/ 630167 w 630168"/>
                      <a:gd name="connsiteY2" fmla="*/ 46761 h 110181"/>
                      <a:gd name="connsiteX3" fmla="*/ 446903 w 630168"/>
                      <a:gd name="connsiteY3" fmla="*/ 110181 h 110181"/>
                      <a:gd name="connsiteX4" fmla="*/ 0 w 630168"/>
                      <a:gd name="connsiteY4" fmla="*/ 93389 h 110181"/>
                      <a:gd name="connsiteX0" fmla="*/ 0 w 630166"/>
                      <a:gd name="connsiteY0" fmla="*/ 93389 h 93389"/>
                      <a:gd name="connsiteX1" fmla="*/ 57328 w 630166"/>
                      <a:gd name="connsiteY1" fmla="*/ 0 h 93389"/>
                      <a:gd name="connsiteX2" fmla="*/ 630167 w 630166"/>
                      <a:gd name="connsiteY2" fmla="*/ 46761 h 93389"/>
                      <a:gd name="connsiteX3" fmla="*/ 303628 w 630166"/>
                      <a:gd name="connsiteY3" fmla="*/ 93324 h 93389"/>
                      <a:gd name="connsiteX4" fmla="*/ 0 w 630166"/>
                      <a:gd name="connsiteY4" fmla="*/ 93389 h 93389"/>
                      <a:gd name="connsiteX0" fmla="*/ 0 w 630168"/>
                      <a:gd name="connsiteY0" fmla="*/ 93389 h 124870"/>
                      <a:gd name="connsiteX1" fmla="*/ 57328 w 630168"/>
                      <a:gd name="connsiteY1" fmla="*/ 0 h 124870"/>
                      <a:gd name="connsiteX2" fmla="*/ 630167 w 630168"/>
                      <a:gd name="connsiteY2" fmla="*/ 46761 h 124870"/>
                      <a:gd name="connsiteX3" fmla="*/ 446901 w 630168"/>
                      <a:gd name="connsiteY3" fmla="*/ 124870 h 124870"/>
                      <a:gd name="connsiteX4" fmla="*/ 0 w 630168"/>
                      <a:gd name="connsiteY4" fmla="*/ 93389 h 124870"/>
                      <a:gd name="connsiteX0" fmla="*/ 0 w 458238"/>
                      <a:gd name="connsiteY0" fmla="*/ 93389 h 124870"/>
                      <a:gd name="connsiteX1" fmla="*/ 57328 w 458238"/>
                      <a:gd name="connsiteY1" fmla="*/ 0 h 124870"/>
                      <a:gd name="connsiteX2" fmla="*/ 458237 w 458238"/>
                      <a:gd name="connsiteY2" fmla="*/ 0 h 124870"/>
                      <a:gd name="connsiteX3" fmla="*/ 446901 w 458238"/>
                      <a:gd name="connsiteY3" fmla="*/ 124870 h 124870"/>
                      <a:gd name="connsiteX4" fmla="*/ 0 w 458238"/>
                      <a:gd name="connsiteY4" fmla="*/ 93389 h 124870"/>
                      <a:gd name="connsiteX0" fmla="*/ 0 w 458238"/>
                      <a:gd name="connsiteY0" fmla="*/ 93389 h 188234"/>
                      <a:gd name="connsiteX1" fmla="*/ 57328 w 458238"/>
                      <a:gd name="connsiteY1" fmla="*/ 0 h 188234"/>
                      <a:gd name="connsiteX2" fmla="*/ 458237 w 458238"/>
                      <a:gd name="connsiteY2" fmla="*/ 0 h 188234"/>
                      <a:gd name="connsiteX3" fmla="*/ 458238 w 458238"/>
                      <a:gd name="connsiteY3" fmla="*/ 188234 h 188234"/>
                      <a:gd name="connsiteX4" fmla="*/ 0 w 458238"/>
                      <a:gd name="connsiteY4" fmla="*/ 93389 h 188234"/>
                      <a:gd name="connsiteX0" fmla="*/ 0 w 572864"/>
                      <a:gd name="connsiteY0" fmla="*/ 93389 h 188234"/>
                      <a:gd name="connsiteX1" fmla="*/ 57328 w 572864"/>
                      <a:gd name="connsiteY1" fmla="*/ 0 h 188234"/>
                      <a:gd name="connsiteX2" fmla="*/ 572865 w 572864"/>
                      <a:gd name="connsiteY2" fmla="*/ 47047 h 188234"/>
                      <a:gd name="connsiteX3" fmla="*/ 458238 w 572864"/>
                      <a:gd name="connsiteY3" fmla="*/ 188234 h 188234"/>
                      <a:gd name="connsiteX4" fmla="*/ 0 w 572864"/>
                      <a:gd name="connsiteY4" fmla="*/ 93389 h 188234"/>
                      <a:gd name="connsiteX0" fmla="*/ 0 w 458238"/>
                      <a:gd name="connsiteY0" fmla="*/ 93389 h 188234"/>
                      <a:gd name="connsiteX1" fmla="*/ 57328 w 458238"/>
                      <a:gd name="connsiteY1" fmla="*/ 0 h 188234"/>
                      <a:gd name="connsiteX2" fmla="*/ 429490 w 458238"/>
                      <a:gd name="connsiteY2" fmla="*/ 93093 h 188234"/>
                      <a:gd name="connsiteX3" fmla="*/ 458238 w 458238"/>
                      <a:gd name="connsiteY3" fmla="*/ 188234 h 188234"/>
                      <a:gd name="connsiteX4" fmla="*/ 0 w 458238"/>
                      <a:gd name="connsiteY4" fmla="*/ 93389 h 188234"/>
                      <a:gd name="connsiteX0" fmla="*/ 0 w 572866"/>
                      <a:gd name="connsiteY0" fmla="*/ 93389 h 156869"/>
                      <a:gd name="connsiteX1" fmla="*/ 57328 w 572866"/>
                      <a:gd name="connsiteY1" fmla="*/ 0 h 156869"/>
                      <a:gd name="connsiteX2" fmla="*/ 429490 w 572866"/>
                      <a:gd name="connsiteY2" fmla="*/ 93093 h 156869"/>
                      <a:gd name="connsiteX3" fmla="*/ 572867 w 572866"/>
                      <a:gd name="connsiteY3" fmla="*/ 156869 h 156869"/>
                      <a:gd name="connsiteX4" fmla="*/ 0 w 572866"/>
                      <a:gd name="connsiteY4" fmla="*/ 93389 h 156869"/>
                      <a:gd name="connsiteX0" fmla="*/ 0 w 572868"/>
                      <a:gd name="connsiteY0" fmla="*/ 93389 h 156869"/>
                      <a:gd name="connsiteX1" fmla="*/ 57328 w 572868"/>
                      <a:gd name="connsiteY1" fmla="*/ 0 h 156869"/>
                      <a:gd name="connsiteX2" fmla="*/ 572866 w 572868"/>
                      <a:gd name="connsiteY2" fmla="*/ 47112 h 156869"/>
                      <a:gd name="connsiteX3" fmla="*/ 572867 w 572868"/>
                      <a:gd name="connsiteY3" fmla="*/ 156869 h 156869"/>
                      <a:gd name="connsiteX4" fmla="*/ 0 w 572868"/>
                      <a:gd name="connsiteY4" fmla="*/ 93389 h 156869"/>
                      <a:gd name="connsiteX0" fmla="*/ 0 w 572866"/>
                      <a:gd name="connsiteY0" fmla="*/ 93389 h 156869"/>
                      <a:gd name="connsiteX1" fmla="*/ 57328 w 572866"/>
                      <a:gd name="connsiteY1" fmla="*/ 0 h 156869"/>
                      <a:gd name="connsiteX2" fmla="*/ 572866 w 572866"/>
                      <a:gd name="connsiteY2" fmla="*/ 47112 h 156869"/>
                      <a:gd name="connsiteX3" fmla="*/ 515516 w 572866"/>
                      <a:gd name="connsiteY3" fmla="*/ 156869 h 156869"/>
                      <a:gd name="connsiteX4" fmla="*/ 0 w 572866"/>
                      <a:gd name="connsiteY4" fmla="*/ 93389 h 156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866" h="156869">
                        <a:moveTo>
                          <a:pt x="0" y="93389"/>
                        </a:moveTo>
                        <a:lnTo>
                          <a:pt x="57328" y="0"/>
                        </a:lnTo>
                        <a:lnTo>
                          <a:pt x="572866" y="47112"/>
                        </a:lnTo>
                        <a:cubicBezTo>
                          <a:pt x="572866" y="109857"/>
                          <a:pt x="515516" y="94124"/>
                          <a:pt x="515516" y="156869"/>
                        </a:cubicBezTo>
                        <a:lnTo>
                          <a:pt x="0" y="93389"/>
                        </a:ln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7" name="Rectangle 200"/>
                  <p:cNvSpPr/>
                  <p:nvPr/>
                </p:nvSpPr>
                <p:spPr>
                  <a:xfrm>
                    <a:off x="252248" y="378373"/>
                    <a:ext cx="315274" cy="157721"/>
                  </a:xfrm>
                  <a:custGeom>
                    <a:avLst/>
                    <a:gdLst>
                      <a:gd name="connsiteX0" fmla="*/ 0 w 62865"/>
                      <a:gd name="connsiteY0" fmla="*/ 0 h 298450"/>
                      <a:gd name="connsiteX1" fmla="*/ 62865 w 62865"/>
                      <a:gd name="connsiteY1" fmla="*/ 0 h 298450"/>
                      <a:gd name="connsiteX2" fmla="*/ 62865 w 62865"/>
                      <a:gd name="connsiteY2" fmla="*/ 298450 h 298450"/>
                      <a:gd name="connsiteX3" fmla="*/ 0 w 62865"/>
                      <a:gd name="connsiteY3" fmla="*/ 298450 h 298450"/>
                      <a:gd name="connsiteX4" fmla="*/ 0 w 62865"/>
                      <a:gd name="connsiteY4" fmla="*/ 0 h 298450"/>
                      <a:gd name="connsiteX0" fmla="*/ 0 w 315113"/>
                      <a:gd name="connsiteY0" fmla="*/ 126125 h 298450"/>
                      <a:gd name="connsiteX1" fmla="*/ 315113 w 315113"/>
                      <a:gd name="connsiteY1" fmla="*/ 0 h 298450"/>
                      <a:gd name="connsiteX2" fmla="*/ 315113 w 315113"/>
                      <a:gd name="connsiteY2" fmla="*/ 298450 h 298450"/>
                      <a:gd name="connsiteX3" fmla="*/ 252248 w 315113"/>
                      <a:gd name="connsiteY3" fmla="*/ 298450 h 298450"/>
                      <a:gd name="connsiteX4" fmla="*/ 0 w 315113"/>
                      <a:gd name="connsiteY4" fmla="*/ 126125 h 298450"/>
                      <a:gd name="connsiteX0" fmla="*/ 0 w 315113"/>
                      <a:gd name="connsiteY0" fmla="*/ 110359 h 282684"/>
                      <a:gd name="connsiteX1" fmla="*/ 110061 w 315113"/>
                      <a:gd name="connsiteY1" fmla="*/ 0 h 282684"/>
                      <a:gd name="connsiteX2" fmla="*/ 315113 w 315113"/>
                      <a:gd name="connsiteY2" fmla="*/ 282684 h 282684"/>
                      <a:gd name="connsiteX3" fmla="*/ 252248 w 315113"/>
                      <a:gd name="connsiteY3" fmla="*/ 282684 h 282684"/>
                      <a:gd name="connsiteX4" fmla="*/ 0 w 315113"/>
                      <a:gd name="connsiteY4" fmla="*/ 110359 h 282684"/>
                      <a:gd name="connsiteX0" fmla="*/ 0 w 315113"/>
                      <a:gd name="connsiteY0" fmla="*/ 110359 h 282684"/>
                      <a:gd name="connsiteX1" fmla="*/ 110061 w 315113"/>
                      <a:gd name="connsiteY1" fmla="*/ 0 h 282684"/>
                      <a:gd name="connsiteX2" fmla="*/ 315113 w 315113"/>
                      <a:gd name="connsiteY2" fmla="*/ 282684 h 282684"/>
                      <a:gd name="connsiteX3" fmla="*/ 189156 w 315113"/>
                      <a:gd name="connsiteY3" fmla="*/ 282684 h 282684"/>
                      <a:gd name="connsiteX4" fmla="*/ 0 w 315113"/>
                      <a:gd name="connsiteY4" fmla="*/ 110359 h 282684"/>
                      <a:gd name="connsiteX0" fmla="*/ 0 w 315113"/>
                      <a:gd name="connsiteY0" fmla="*/ 110359 h 282684"/>
                      <a:gd name="connsiteX1" fmla="*/ 110061 w 315113"/>
                      <a:gd name="connsiteY1" fmla="*/ 0 h 282684"/>
                      <a:gd name="connsiteX2" fmla="*/ 315113 w 315113"/>
                      <a:gd name="connsiteY2" fmla="*/ 172093 h 282684"/>
                      <a:gd name="connsiteX3" fmla="*/ 189156 w 315113"/>
                      <a:gd name="connsiteY3" fmla="*/ 282684 h 282684"/>
                      <a:gd name="connsiteX4" fmla="*/ 0 w 315113"/>
                      <a:gd name="connsiteY4" fmla="*/ 110359 h 282684"/>
                      <a:gd name="connsiteX0" fmla="*/ 0 w 1432757"/>
                      <a:gd name="connsiteY0" fmla="*/ 281615 h 282684"/>
                      <a:gd name="connsiteX1" fmla="*/ 1227705 w 1432757"/>
                      <a:gd name="connsiteY1" fmla="*/ 0 h 282684"/>
                      <a:gd name="connsiteX2" fmla="*/ 1432757 w 1432757"/>
                      <a:gd name="connsiteY2" fmla="*/ 172093 h 282684"/>
                      <a:gd name="connsiteX3" fmla="*/ 1306800 w 1432757"/>
                      <a:gd name="connsiteY3" fmla="*/ 282684 h 282684"/>
                      <a:gd name="connsiteX4" fmla="*/ 0 w 1432757"/>
                      <a:gd name="connsiteY4" fmla="*/ 281615 h 282684"/>
                      <a:gd name="connsiteX0" fmla="*/ 0 w 1432757"/>
                      <a:gd name="connsiteY0" fmla="*/ 281615 h 329788"/>
                      <a:gd name="connsiteX1" fmla="*/ 1227705 w 1432757"/>
                      <a:gd name="connsiteY1" fmla="*/ 0 h 329788"/>
                      <a:gd name="connsiteX2" fmla="*/ 1432757 w 1432757"/>
                      <a:gd name="connsiteY2" fmla="*/ 172093 h 329788"/>
                      <a:gd name="connsiteX3" fmla="*/ 504212 w 1432757"/>
                      <a:gd name="connsiteY3" fmla="*/ 329788 h 329788"/>
                      <a:gd name="connsiteX4" fmla="*/ 0 w 1432757"/>
                      <a:gd name="connsiteY4" fmla="*/ 281615 h 329788"/>
                      <a:gd name="connsiteX0" fmla="*/ 0 w 1432757"/>
                      <a:gd name="connsiteY0" fmla="*/ 109522 h 157695"/>
                      <a:gd name="connsiteX1" fmla="*/ 57328 w 1432757"/>
                      <a:gd name="connsiteY1" fmla="*/ 16133 h 157695"/>
                      <a:gd name="connsiteX2" fmla="*/ 1432757 w 1432757"/>
                      <a:gd name="connsiteY2" fmla="*/ 0 h 157695"/>
                      <a:gd name="connsiteX3" fmla="*/ 504212 w 1432757"/>
                      <a:gd name="connsiteY3" fmla="*/ 157695 h 157695"/>
                      <a:gd name="connsiteX4" fmla="*/ 0 w 1432757"/>
                      <a:gd name="connsiteY4" fmla="*/ 109522 h 157695"/>
                      <a:gd name="connsiteX0" fmla="*/ 0 w 630166"/>
                      <a:gd name="connsiteY0" fmla="*/ 93389 h 141562"/>
                      <a:gd name="connsiteX1" fmla="*/ 57328 w 630166"/>
                      <a:gd name="connsiteY1" fmla="*/ 0 h 141562"/>
                      <a:gd name="connsiteX2" fmla="*/ 630167 w 630166"/>
                      <a:gd name="connsiteY2" fmla="*/ 46761 h 141562"/>
                      <a:gd name="connsiteX3" fmla="*/ 504212 w 630166"/>
                      <a:gd name="connsiteY3" fmla="*/ 141562 h 141562"/>
                      <a:gd name="connsiteX4" fmla="*/ 0 w 630166"/>
                      <a:gd name="connsiteY4" fmla="*/ 93389 h 141562"/>
                      <a:gd name="connsiteX0" fmla="*/ 0 w 630168"/>
                      <a:gd name="connsiteY0" fmla="*/ 93389 h 110181"/>
                      <a:gd name="connsiteX1" fmla="*/ 57328 w 630168"/>
                      <a:gd name="connsiteY1" fmla="*/ 0 h 110181"/>
                      <a:gd name="connsiteX2" fmla="*/ 630167 w 630168"/>
                      <a:gd name="connsiteY2" fmla="*/ 46761 h 110181"/>
                      <a:gd name="connsiteX3" fmla="*/ 446903 w 630168"/>
                      <a:gd name="connsiteY3" fmla="*/ 110181 h 110181"/>
                      <a:gd name="connsiteX4" fmla="*/ 0 w 630168"/>
                      <a:gd name="connsiteY4" fmla="*/ 93389 h 110181"/>
                      <a:gd name="connsiteX0" fmla="*/ 0 w 630166"/>
                      <a:gd name="connsiteY0" fmla="*/ 93389 h 93389"/>
                      <a:gd name="connsiteX1" fmla="*/ 57328 w 630166"/>
                      <a:gd name="connsiteY1" fmla="*/ 0 h 93389"/>
                      <a:gd name="connsiteX2" fmla="*/ 630167 w 630166"/>
                      <a:gd name="connsiteY2" fmla="*/ 46761 h 93389"/>
                      <a:gd name="connsiteX3" fmla="*/ 303628 w 630166"/>
                      <a:gd name="connsiteY3" fmla="*/ 93324 h 93389"/>
                      <a:gd name="connsiteX4" fmla="*/ 0 w 630166"/>
                      <a:gd name="connsiteY4" fmla="*/ 93389 h 93389"/>
                      <a:gd name="connsiteX0" fmla="*/ 0 w 630168"/>
                      <a:gd name="connsiteY0" fmla="*/ 93389 h 124870"/>
                      <a:gd name="connsiteX1" fmla="*/ 57328 w 630168"/>
                      <a:gd name="connsiteY1" fmla="*/ 0 h 124870"/>
                      <a:gd name="connsiteX2" fmla="*/ 630167 w 630168"/>
                      <a:gd name="connsiteY2" fmla="*/ 46761 h 124870"/>
                      <a:gd name="connsiteX3" fmla="*/ 446901 w 630168"/>
                      <a:gd name="connsiteY3" fmla="*/ 124870 h 124870"/>
                      <a:gd name="connsiteX4" fmla="*/ 0 w 630168"/>
                      <a:gd name="connsiteY4" fmla="*/ 93389 h 124870"/>
                      <a:gd name="connsiteX0" fmla="*/ 0 w 458238"/>
                      <a:gd name="connsiteY0" fmla="*/ 93389 h 124870"/>
                      <a:gd name="connsiteX1" fmla="*/ 57328 w 458238"/>
                      <a:gd name="connsiteY1" fmla="*/ 0 h 124870"/>
                      <a:gd name="connsiteX2" fmla="*/ 458237 w 458238"/>
                      <a:gd name="connsiteY2" fmla="*/ 0 h 124870"/>
                      <a:gd name="connsiteX3" fmla="*/ 446901 w 458238"/>
                      <a:gd name="connsiteY3" fmla="*/ 124870 h 124870"/>
                      <a:gd name="connsiteX4" fmla="*/ 0 w 458238"/>
                      <a:gd name="connsiteY4" fmla="*/ 93389 h 124870"/>
                      <a:gd name="connsiteX0" fmla="*/ 0 w 458238"/>
                      <a:gd name="connsiteY0" fmla="*/ 93389 h 188234"/>
                      <a:gd name="connsiteX1" fmla="*/ 57328 w 458238"/>
                      <a:gd name="connsiteY1" fmla="*/ 0 h 188234"/>
                      <a:gd name="connsiteX2" fmla="*/ 458237 w 458238"/>
                      <a:gd name="connsiteY2" fmla="*/ 0 h 188234"/>
                      <a:gd name="connsiteX3" fmla="*/ 458238 w 458238"/>
                      <a:gd name="connsiteY3" fmla="*/ 188234 h 188234"/>
                      <a:gd name="connsiteX4" fmla="*/ 0 w 458238"/>
                      <a:gd name="connsiteY4" fmla="*/ 93389 h 188234"/>
                      <a:gd name="connsiteX0" fmla="*/ 0 w 572864"/>
                      <a:gd name="connsiteY0" fmla="*/ 93389 h 188234"/>
                      <a:gd name="connsiteX1" fmla="*/ 57328 w 572864"/>
                      <a:gd name="connsiteY1" fmla="*/ 0 h 188234"/>
                      <a:gd name="connsiteX2" fmla="*/ 572865 w 572864"/>
                      <a:gd name="connsiteY2" fmla="*/ 47047 h 188234"/>
                      <a:gd name="connsiteX3" fmla="*/ 458238 w 572864"/>
                      <a:gd name="connsiteY3" fmla="*/ 188234 h 188234"/>
                      <a:gd name="connsiteX4" fmla="*/ 0 w 572864"/>
                      <a:gd name="connsiteY4" fmla="*/ 93389 h 188234"/>
                      <a:gd name="connsiteX0" fmla="*/ 0 w 458238"/>
                      <a:gd name="connsiteY0" fmla="*/ 93389 h 188234"/>
                      <a:gd name="connsiteX1" fmla="*/ 57328 w 458238"/>
                      <a:gd name="connsiteY1" fmla="*/ 0 h 188234"/>
                      <a:gd name="connsiteX2" fmla="*/ 429490 w 458238"/>
                      <a:gd name="connsiteY2" fmla="*/ 93093 h 188234"/>
                      <a:gd name="connsiteX3" fmla="*/ 458238 w 458238"/>
                      <a:gd name="connsiteY3" fmla="*/ 188234 h 188234"/>
                      <a:gd name="connsiteX4" fmla="*/ 0 w 458238"/>
                      <a:gd name="connsiteY4" fmla="*/ 93389 h 188234"/>
                      <a:gd name="connsiteX0" fmla="*/ 0 w 572866"/>
                      <a:gd name="connsiteY0" fmla="*/ 93389 h 156869"/>
                      <a:gd name="connsiteX1" fmla="*/ 57328 w 572866"/>
                      <a:gd name="connsiteY1" fmla="*/ 0 h 156869"/>
                      <a:gd name="connsiteX2" fmla="*/ 429490 w 572866"/>
                      <a:gd name="connsiteY2" fmla="*/ 93093 h 156869"/>
                      <a:gd name="connsiteX3" fmla="*/ 572867 w 572866"/>
                      <a:gd name="connsiteY3" fmla="*/ 156869 h 156869"/>
                      <a:gd name="connsiteX4" fmla="*/ 0 w 572866"/>
                      <a:gd name="connsiteY4" fmla="*/ 93389 h 156869"/>
                      <a:gd name="connsiteX0" fmla="*/ 0 w 572868"/>
                      <a:gd name="connsiteY0" fmla="*/ 93389 h 156869"/>
                      <a:gd name="connsiteX1" fmla="*/ 57328 w 572868"/>
                      <a:gd name="connsiteY1" fmla="*/ 0 h 156869"/>
                      <a:gd name="connsiteX2" fmla="*/ 572866 w 572868"/>
                      <a:gd name="connsiteY2" fmla="*/ 47112 h 156869"/>
                      <a:gd name="connsiteX3" fmla="*/ 572867 w 572868"/>
                      <a:gd name="connsiteY3" fmla="*/ 156869 h 156869"/>
                      <a:gd name="connsiteX4" fmla="*/ 0 w 572868"/>
                      <a:gd name="connsiteY4" fmla="*/ 93389 h 156869"/>
                      <a:gd name="connsiteX0" fmla="*/ 0 w 572866"/>
                      <a:gd name="connsiteY0" fmla="*/ 93389 h 156869"/>
                      <a:gd name="connsiteX1" fmla="*/ 57328 w 572866"/>
                      <a:gd name="connsiteY1" fmla="*/ 0 h 156869"/>
                      <a:gd name="connsiteX2" fmla="*/ 572866 w 572866"/>
                      <a:gd name="connsiteY2" fmla="*/ 47112 h 156869"/>
                      <a:gd name="connsiteX3" fmla="*/ 515516 w 572866"/>
                      <a:gd name="connsiteY3" fmla="*/ 156869 h 156869"/>
                      <a:gd name="connsiteX4" fmla="*/ 0 w 572866"/>
                      <a:gd name="connsiteY4" fmla="*/ 93389 h 156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866" h="156869">
                        <a:moveTo>
                          <a:pt x="0" y="93389"/>
                        </a:moveTo>
                        <a:lnTo>
                          <a:pt x="57328" y="0"/>
                        </a:lnTo>
                        <a:lnTo>
                          <a:pt x="572866" y="47112"/>
                        </a:lnTo>
                        <a:cubicBezTo>
                          <a:pt x="572866" y="109857"/>
                          <a:pt x="515516" y="94124"/>
                          <a:pt x="515516" y="156869"/>
                        </a:cubicBezTo>
                        <a:lnTo>
                          <a:pt x="0" y="93389"/>
                        </a:ln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78" name="Groupe 77"/>
                <p:cNvGrpSpPr/>
                <p:nvPr/>
              </p:nvGrpSpPr>
              <p:grpSpPr>
                <a:xfrm>
                  <a:off x="220718" y="189186"/>
                  <a:ext cx="977263" cy="2112580"/>
                  <a:chOff x="1" y="0"/>
                  <a:chExt cx="977263" cy="2112580"/>
                </a:xfrm>
              </p:grpSpPr>
              <p:sp>
                <p:nvSpPr>
                  <p:cNvPr id="79" name="Ellipse 78"/>
                  <p:cNvSpPr/>
                  <p:nvPr/>
                </p:nvSpPr>
                <p:spPr>
                  <a:xfrm>
                    <a:off x="819807" y="472966"/>
                    <a:ext cx="141846" cy="1734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0" name="Connecteur droit 79"/>
                  <p:cNvCxnSpPr/>
                  <p:nvPr/>
                </p:nvCxnSpPr>
                <p:spPr>
                  <a:xfrm flipV="1">
                    <a:off x="141889" y="126124"/>
                    <a:ext cx="47297" cy="220236"/>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81" name="Connecteur droit 80"/>
                  <p:cNvCxnSpPr/>
                  <p:nvPr/>
                </p:nvCxnSpPr>
                <p:spPr>
                  <a:xfrm>
                    <a:off x="804041" y="1702676"/>
                    <a:ext cx="1727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Connecteur droit 81"/>
                  <p:cNvCxnSpPr/>
                  <p:nvPr/>
                </p:nvCxnSpPr>
                <p:spPr>
                  <a:xfrm>
                    <a:off x="804041" y="2112580"/>
                    <a:ext cx="1732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Connecteur droit 82"/>
                  <p:cNvCxnSpPr/>
                  <p:nvPr/>
                </p:nvCxnSpPr>
                <p:spPr>
                  <a:xfrm flipH="1">
                    <a:off x="1" y="0"/>
                    <a:ext cx="63157" cy="220717"/>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84" name="Connecteur droit 83"/>
                  <p:cNvCxnSpPr/>
                  <p:nvPr/>
                </p:nvCxnSpPr>
                <p:spPr>
                  <a:xfrm flipH="1">
                    <a:off x="456850" y="94593"/>
                    <a:ext cx="32016" cy="252315"/>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grpSp>
          </p:grpSp>
          <p:sp>
            <p:nvSpPr>
              <p:cNvPr id="71" name="Flèche courbée vers la droite 70"/>
              <p:cNvSpPr/>
              <p:nvPr/>
            </p:nvSpPr>
            <p:spPr>
              <a:xfrm>
                <a:off x="1433779" y="1777593"/>
                <a:ext cx="1024858" cy="457200"/>
              </a:xfrm>
              <a:prstGeom prst="curved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2" name="Flèche en arc 71"/>
              <p:cNvSpPr/>
              <p:nvPr/>
            </p:nvSpPr>
            <p:spPr>
              <a:xfrm>
                <a:off x="1338682" y="387705"/>
                <a:ext cx="1229711" cy="1308338"/>
              </a:xfrm>
              <a:prstGeom prst="circular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3" name="Flèche courbée vers le bas 72"/>
              <p:cNvSpPr/>
              <p:nvPr/>
            </p:nvSpPr>
            <p:spPr>
              <a:xfrm rot="1644865">
                <a:off x="329184" y="0"/>
                <a:ext cx="394096" cy="977462"/>
              </a:xfrm>
              <a:prstGeom prst="curved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74" name="Zone de texte 70"/>
                  <p:cNvSpPr txBox="1"/>
                  <p:nvPr/>
                </p:nvSpPr>
                <p:spPr>
                  <a:xfrm>
                    <a:off x="2948026" y="2333549"/>
                    <a:ext cx="520262" cy="63062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fr-FR" sz="2800" b="0" i="1" u="none" strike="noStrike" kern="1200" cap="none" spc="0" normalizeH="0" baseline="0" noProof="0">
                                  <a:ln>
                                    <a:noFill/>
                                  </a:ln>
                                  <a:solidFill>
                                    <a:srgbClr val="70AD47"/>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2800" b="0" i="1" u="none" strike="noStrike" kern="1200" cap="none" spc="0" normalizeH="0" baseline="0" noProof="0">
                                  <a:ln>
                                    <a:noFill/>
                                  </a:ln>
                                  <a:solidFill>
                                    <a:srgbClr val="70AD47"/>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𝑆</m:t>
                              </m:r>
                            </m:e>
                            <m:sub>
                              <m:r>
                                <a:rPr kumimoji="0" lang="fr-FR" sz="2800" b="0" i="1" u="none" strike="noStrike" kern="1200" cap="none" spc="0" normalizeH="0" baseline="0" noProof="0">
                                  <a:ln>
                                    <a:noFill/>
                                  </a:ln>
                                  <a:solidFill>
                                    <a:srgbClr val="70AD47"/>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m:t>
                              </m:r>
                            </m:sub>
                          </m:sSub>
                        </m:oMath>
                      </m:oMathPara>
                    </a14:m>
                    <a:endParaRPr kumimoji="0" lang="fr-FR" sz="12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endParaRPr>
                  </a:p>
                </p:txBody>
              </p:sp>
            </mc:Choice>
            <mc:Fallback xmlns="">
              <p:sp>
                <p:nvSpPr>
                  <p:cNvPr id="74" name="Zone de texte 70"/>
                  <p:cNvSpPr txBox="1">
                    <a:spLocks noRot="1" noChangeAspect="1" noMove="1" noResize="1" noEditPoints="1" noAdjustHandles="1" noChangeArrowheads="1" noChangeShapeType="1" noTextEdit="1"/>
                  </p:cNvSpPr>
                  <p:nvPr/>
                </p:nvSpPr>
                <p:spPr>
                  <a:xfrm>
                    <a:off x="2948026" y="2333549"/>
                    <a:ext cx="520262" cy="630620"/>
                  </a:xfrm>
                  <a:prstGeom prst="rect">
                    <a:avLst/>
                  </a:prstGeom>
                  <a:blipFill rotWithShape="0">
                    <a:blip r:embed="rId4"/>
                    <a:stretch>
                      <a:fillRect/>
                    </a:stretch>
                  </a:blipFill>
                  <a:ln w="6350">
                    <a:noFill/>
                  </a:ln>
                  <a:effectLst/>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5" name="Zone de texte 68"/>
                  <p:cNvSpPr txBox="1"/>
                  <p:nvPr/>
                </p:nvSpPr>
                <p:spPr>
                  <a:xfrm>
                    <a:off x="2713939" y="1602029"/>
                    <a:ext cx="520262" cy="63062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fr-FR" sz="2800" b="0" i="1" u="none" strike="noStrike" kern="1200" cap="none" spc="0" normalizeH="0" baseline="0" noProof="0">
                                  <a:ln>
                                    <a:noFill/>
                                  </a:ln>
                                  <a:solidFill>
                                    <a:srgbClr val="5B9BD5"/>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2800" b="0" i="1" u="none" strike="noStrike" kern="1200" cap="none" spc="0" normalizeH="0" baseline="0" noProof="0">
                                  <a:ln>
                                    <a:noFill/>
                                  </a:ln>
                                  <a:solidFill>
                                    <a:srgbClr val="5B9BD5"/>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𝑆</m:t>
                              </m:r>
                            </m:e>
                            <m:sub>
                              <m:r>
                                <a:rPr kumimoji="0" lang="fr-FR" sz="2800" b="0" i="1" u="none" strike="noStrike" kern="1200" cap="none" spc="0" normalizeH="0" baseline="0" noProof="0">
                                  <a:ln>
                                    <a:noFill/>
                                  </a:ln>
                                  <a:solidFill>
                                    <a:srgbClr val="5B9BD5"/>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oMath>
                      </m:oMathPara>
                    </a14:m>
                    <a:endParaRPr kumimoji="0" lang="fr-FR" sz="12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endParaRPr>
                  </a:p>
                </p:txBody>
              </p:sp>
            </mc:Choice>
            <mc:Fallback xmlns="">
              <p:sp>
                <p:nvSpPr>
                  <p:cNvPr id="75" name="Zone de texte 68"/>
                  <p:cNvSpPr txBox="1">
                    <a:spLocks noRot="1" noChangeAspect="1" noMove="1" noResize="1" noEditPoints="1" noAdjustHandles="1" noChangeArrowheads="1" noChangeShapeType="1" noTextEdit="1"/>
                  </p:cNvSpPr>
                  <p:nvPr/>
                </p:nvSpPr>
                <p:spPr>
                  <a:xfrm>
                    <a:off x="2713939" y="1602029"/>
                    <a:ext cx="520262" cy="630620"/>
                  </a:xfrm>
                  <a:prstGeom prst="rect">
                    <a:avLst/>
                  </a:prstGeom>
                  <a:blipFill rotWithShape="0">
                    <a:blip r:embed="rId5"/>
                    <a:stretch>
                      <a:fillRect/>
                    </a:stretch>
                  </a:blipFill>
                  <a:ln w="6350">
                    <a:noFill/>
                  </a:ln>
                  <a:effectLst/>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6" name="Zone de texte 63"/>
                  <p:cNvSpPr txBox="1"/>
                  <p:nvPr/>
                </p:nvSpPr>
                <p:spPr>
                  <a:xfrm>
                    <a:off x="2618842" y="373075"/>
                    <a:ext cx="520262" cy="63062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fr-FR" sz="2800" b="0" i="1" u="none" strike="noStrike" kern="1200" cap="none" spc="0" normalizeH="0" baseline="0" noProof="0">
                                  <a:ln>
                                    <a:noFill/>
                                  </a:ln>
                                  <a:solidFill>
                                    <a:srgbClr val="FFC000"/>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2800" b="0" i="1" u="none" strike="noStrike" kern="1200" cap="none" spc="0" normalizeH="0" baseline="0" noProof="0">
                                  <a:ln>
                                    <a:noFill/>
                                  </a:ln>
                                  <a:solidFill>
                                    <a:srgbClr val="FFC000"/>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𝑆</m:t>
                              </m:r>
                            </m:e>
                            <m:sub>
                              <m:r>
                                <a:rPr kumimoji="0" lang="fr-FR" sz="2800" b="0" i="1" u="none" strike="noStrike" kern="1200" cap="none" spc="0" normalizeH="0" baseline="0" noProof="0">
                                  <a:ln>
                                    <a:noFill/>
                                  </a:ln>
                                  <a:solidFill>
                                    <a:srgbClr val="FFC000"/>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m:t>
                              </m:r>
                            </m:sub>
                          </m:sSub>
                        </m:oMath>
                      </m:oMathPara>
                    </a14:m>
                    <a:endParaRPr kumimoji="0" lang="fr-FR" sz="12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endParaRPr>
                  </a:p>
                </p:txBody>
              </p:sp>
            </mc:Choice>
            <mc:Fallback xmlns="">
              <p:sp>
                <p:nvSpPr>
                  <p:cNvPr id="76" name="Zone de texte 63"/>
                  <p:cNvSpPr txBox="1">
                    <a:spLocks noRot="1" noChangeAspect="1" noMove="1" noResize="1" noEditPoints="1" noAdjustHandles="1" noChangeArrowheads="1" noChangeShapeType="1" noTextEdit="1"/>
                  </p:cNvSpPr>
                  <p:nvPr/>
                </p:nvSpPr>
                <p:spPr>
                  <a:xfrm>
                    <a:off x="2618842" y="373075"/>
                    <a:ext cx="520262" cy="630620"/>
                  </a:xfrm>
                  <a:prstGeom prst="rect">
                    <a:avLst/>
                  </a:prstGeom>
                  <a:blipFill rotWithShape="0">
                    <a:blip r:embed="rId6"/>
                    <a:stretch>
                      <a:fillRect/>
                    </a:stretch>
                  </a:blipFill>
                  <a:ln w="6350">
                    <a:noFill/>
                  </a:ln>
                  <a:effectLst/>
                </p:spPr>
                <p:txBody>
                  <a:bodyPr/>
                  <a:lstStyle/>
                  <a:p>
                    <a:r>
                      <a:rPr lang="fr-FR">
                        <a:noFill/>
                      </a:rPr>
                      <a:t> </a:t>
                    </a:r>
                  </a:p>
                </p:txBody>
              </p:sp>
            </mc:Fallback>
          </mc:AlternateContent>
        </p:grpSp>
      </p:grpSp>
      <p:sp>
        <p:nvSpPr>
          <p:cNvPr id="98" name="Rectangle 39"/>
          <p:cNvSpPr>
            <a:spLocks noChangeArrowheads="1"/>
          </p:cNvSpPr>
          <p:nvPr/>
        </p:nvSpPr>
        <p:spPr bwMode="auto">
          <a:xfrm flipV="1">
            <a:off x="6241100" y="4712383"/>
            <a:ext cx="26482699" cy="51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99" name="Objet 98"/>
          <p:cNvGraphicFramePr>
            <a:graphicFrameLocks noChangeAspect="1"/>
          </p:cNvGraphicFramePr>
          <p:nvPr>
            <p:extLst/>
          </p:nvPr>
        </p:nvGraphicFramePr>
        <p:xfrm>
          <a:off x="6241101" y="2298658"/>
          <a:ext cx="3972044" cy="4238326"/>
        </p:xfrm>
        <a:graphic>
          <a:graphicData uri="http://schemas.openxmlformats.org/presentationml/2006/ole">
            <mc:AlternateContent xmlns:mc="http://schemas.openxmlformats.org/markup-compatibility/2006">
              <mc:Choice xmlns:v="urn:schemas-microsoft-com:vml" Requires="v">
                <p:oleObj spid="_x0000_s1027" name="Image bitmap" r:id="rId7" imgW="3801006" imgH="4009524" progId="Paint.Picture">
                  <p:embed/>
                </p:oleObj>
              </mc:Choice>
              <mc:Fallback>
                <p:oleObj name="Image bitmap" r:id="rId7" imgW="3801006" imgH="4009524" progId="Paint.Picture">
                  <p:embed/>
                  <p:pic>
                    <p:nvPicPr>
                      <p:cNvPr id="99" name="Objet 9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41101" y="2298658"/>
                        <a:ext cx="3972044" cy="4238326"/>
                      </a:xfrm>
                      <a:prstGeom prst="rect">
                        <a:avLst/>
                      </a:prstGeom>
                      <a:noFill/>
                    </p:spPr>
                  </p:pic>
                </p:oleObj>
              </mc:Fallback>
            </mc:AlternateContent>
          </a:graphicData>
        </a:graphic>
      </p:graphicFrame>
    </p:spTree>
    <p:extLst>
      <p:ext uri="{BB962C8B-B14F-4D97-AF65-F5344CB8AC3E}">
        <p14:creationId xmlns:p14="http://schemas.microsoft.com/office/powerpoint/2010/main" val="1294584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ctr"/>
            <a:r>
              <a:rPr lang="fr-FR" dirty="0"/>
              <a:t>RECONSTRUCTION STATIQUE D’UNE BRANCHE </a:t>
            </a:r>
            <a:br>
              <a:rPr lang="fr-FR" dirty="0"/>
            </a:br>
            <a:r>
              <a:rPr lang="fr-FR" dirty="0"/>
              <a:t>ETAPE 2: Collecte des données</a:t>
            </a:r>
          </a:p>
        </p:txBody>
      </p:sp>
      <p:sp>
        <p:nvSpPr>
          <p:cNvPr id="3" name="Espace réservé du contenu 2"/>
          <p:cNvSpPr>
            <a:spLocks noGrp="1"/>
          </p:cNvSpPr>
          <p:nvPr>
            <p:ph idx="1"/>
          </p:nvPr>
        </p:nvSpPr>
        <p:spPr/>
        <p:txBody>
          <a:bodyPr/>
          <a:lstStyle/>
          <a:p>
            <a:r>
              <a:rPr lang="fr-FR" dirty="0"/>
              <a:t>QUESTION : QUELLE EST LA STRUCTURE DE BASE DE DONNEES ?</a:t>
            </a:r>
          </a:p>
          <a:p>
            <a:r>
              <a:rPr lang="fr-FR" dirty="0"/>
              <a:t>REPONSE :</a:t>
            </a:r>
          </a:p>
          <a:p>
            <a:pPr marL="0" indent="0">
              <a:buNone/>
            </a:pPr>
            <a:endParaRPr lang="fr-FR" dirty="0"/>
          </a:p>
        </p:txBody>
      </p:sp>
      <p:sp>
        <p:nvSpPr>
          <p:cNvPr id="6" name="Espace réservé du numéro de diapositive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10F9B4-E45F-45DE-A182-D2D6DBA25399}"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5" name="Objet 4"/>
          <p:cNvGraphicFramePr>
            <a:graphicFrameLocks noChangeAspect="1"/>
          </p:cNvGraphicFramePr>
          <p:nvPr>
            <p:extLst/>
          </p:nvPr>
        </p:nvGraphicFramePr>
        <p:xfrm>
          <a:off x="3152633" y="2265529"/>
          <a:ext cx="7983940" cy="4402492"/>
        </p:xfrm>
        <a:graphic>
          <a:graphicData uri="http://schemas.openxmlformats.org/presentationml/2006/ole">
            <mc:AlternateContent xmlns:mc="http://schemas.openxmlformats.org/markup-compatibility/2006">
              <mc:Choice xmlns:v="urn:schemas-microsoft-com:vml" Requires="v">
                <p:oleObj spid="_x0000_s2051" name="Image bitmap" r:id="rId4" imgW="11885714" imgH="2943636" progId="Paint.Picture">
                  <p:embed/>
                </p:oleObj>
              </mc:Choice>
              <mc:Fallback>
                <p:oleObj name="Image bitmap" r:id="rId4" imgW="11885714" imgH="2943636" progId="Paint.Picture">
                  <p:embed/>
                  <p:pic>
                    <p:nvPicPr>
                      <p:cNvPr id="5" name="Obje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52633" y="2265529"/>
                        <a:ext cx="7983940" cy="4402492"/>
                      </a:xfrm>
                      <a:prstGeom prst="rect">
                        <a:avLst/>
                      </a:prstGeom>
                      <a:noFill/>
                    </p:spPr>
                  </p:pic>
                </p:oleObj>
              </mc:Fallback>
            </mc:AlternateContent>
          </a:graphicData>
        </a:graphic>
      </p:graphicFrame>
    </p:spTree>
    <p:extLst>
      <p:ext uri="{BB962C8B-B14F-4D97-AF65-F5344CB8AC3E}">
        <p14:creationId xmlns:p14="http://schemas.microsoft.com/office/powerpoint/2010/main" val="37942416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ctr"/>
            <a:r>
              <a:rPr lang="fr-FR" dirty="0"/>
              <a:t>RECONSTRUCTION STATIQUE D’UNE BRANCHE </a:t>
            </a:r>
            <a:br>
              <a:rPr lang="fr-FR" dirty="0"/>
            </a:br>
            <a:r>
              <a:rPr lang="fr-FR" dirty="0"/>
              <a:t>ETAPE 3: Exploitation des données et Conversion</a:t>
            </a:r>
          </a:p>
        </p:txBody>
      </p:sp>
      <p:sp>
        <p:nvSpPr>
          <p:cNvPr id="3" name="Espace réservé du contenu 2"/>
          <p:cNvSpPr>
            <a:spLocks noGrp="1"/>
          </p:cNvSpPr>
          <p:nvPr>
            <p:ph idx="1"/>
          </p:nvPr>
        </p:nvSpPr>
        <p:spPr/>
        <p:txBody>
          <a:bodyPr/>
          <a:lstStyle/>
          <a:p>
            <a:r>
              <a:rPr lang="fr-FR" dirty="0"/>
              <a:t>QUESTION : QUELLE PLATEFORME POUR LA VISUALISATION 3D?</a:t>
            </a:r>
          </a:p>
          <a:p>
            <a:r>
              <a:rPr lang="fr-FR" dirty="0"/>
              <a:t>REPONSE :</a:t>
            </a:r>
          </a:p>
          <a:p>
            <a:pPr marL="0" indent="0">
              <a:buNone/>
            </a:pPr>
            <a:endParaRPr lang="fr-FR" dirty="0"/>
          </a:p>
        </p:txBody>
      </p:sp>
      <p:sp>
        <p:nvSpPr>
          <p:cNvPr id="5" name="Espace réservé du numéro de diapositive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10F9B4-E45F-45DE-A182-D2D6DBA25399}"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4" name="Image 3"/>
          <p:cNvPicPr/>
          <p:nvPr/>
        </p:nvPicPr>
        <p:blipFill>
          <a:blip r:embed="rId3"/>
          <a:stretch>
            <a:fillRect/>
          </a:stretch>
        </p:blipFill>
        <p:spPr>
          <a:xfrm>
            <a:off x="3016155" y="2519116"/>
            <a:ext cx="7178723" cy="4154639"/>
          </a:xfrm>
          <a:prstGeom prst="rect">
            <a:avLst/>
          </a:prstGeom>
        </p:spPr>
      </p:pic>
    </p:spTree>
    <p:extLst>
      <p:ext uri="{BB962C8B-B14F-4D97-AF65-F5344CB8AC3E}">
        <p14:creationId xmlns:p14="http://schemas.microsoft.com/office/powerpoint/2010/main" val="37314396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ctr"/>
            <a:r>
              <a:rPr lang="fr-FR" dirty="0"/>
              <a:t>RECONSTRUCTION STATIQUE D’UNE BRANCHE </a:t>
            </a:r>
            <a:br>
              <a:rPr lang="fr-FR" dirty="0"/>
            </a:br>
            <a:r>
              <a:rPr lang="fr-FR" dirty="0"/>
              <a:t>ETAPE 3: Exploitation des données et Conversion</a:t>
            </a:r>
          </a:p>
        </p:txBody>
      </p:sp>
      <p:sp>
        <p:nvSpPr>
          <p:cNvPr id="3" name="Espace réservé du contenu 2"/>
          <p:cNvSpPr>
            <a:spLocks noGrp="1"/>
          </p:cNvSpPr>
          <p:nvPr>
            <p:ph idx="1"/>
          </p:nvPr>
        </p:nvSpPr>
        <p:spPr/>
        <p:txBody>
          <a:bodyPr/>
          <a:lstStyle/>
          <a:p>
            <a:r>
              <a:rPr lang="fr-FR" dirty="0"/>
              <a:t>QUESTION : QUELLE PLATEFORME POUR CONVERTIR LES DONNEES EN SCRIPT MAXSCRIPT?</a:t>
            </a:r>
          </a:p>
          <a:p>
            <a:r>
              <a:rPr lang="fr-FR" dirty="0"/>
              <a:t>REPONSE :</a:t>
            </a:r>
          </a:p>
          <a:p>
            <a:pPr marL="0" indent="0">
              <a:buNone/>
            </a:pPr>
            <a:endParaRPr lang="fr-FR" dirty="0"/>
          </a:p>
        </p:txBody>
      </p:sp>
      <p:sp>
        <p:nvSpPr>
          <p:cNvPr id="5" name="Espace réservé du numéro de diapositive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10F9B4-E45F-45DE-A182-D2D6DBA25399}"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4" name="Image 3" descr="C:\Users\Oussama\Downloads\windev-17.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14824" y="2650233"/>
            <a:ext cx="6734393" cy="4105409"/>
          </a:xfrm>
          <a:prstGeom prst="rect">
            <a:avLst/>
          </a:prstGeom>
          <a:noFill/>
          <a:ln>
            <a:noFill/>
          </a:ln>
        </p:spPr>
      </p:pic>
    </p:spTree>
    <p:extLst>
      <p:ext uri="{BB962C8B-B14F-4D97-AF65-F5344CB8AC3E}">
        <p14:creationId xmlns:p14="http://schemas.microsoft.com/office/powerpoint/2010/main" val="34068092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ctr"/>
            <a:r>
              <a:rPr lang="fr-FR" dirty="0"/>
              <a:t>RECONSTRUCTION STATIQUE D’UNE BRANCHE </a:t>
            </a:r>
            <a:br>
              <a:rPr lang="fr-FR" dirty="0"/>
            </a:br>
            <a:r>
              <a:rPr lang="fr-FR" dirty="0"/>
              <a:t>ETAPE 3: Exploitation des données et Conversion</a:t>
            </a:r>
          </a:p>
        </p:txBody>
      </p:sp>
      <p:sp>
        <p:nvSpPr>
          <p:cNvPr id="3" name="Espace réservé du contenu 2"/>
          <p:cNvSpPr>
            <a:spLocks noGrp="1"/>
          </p:cNvSpPr>
          <p:nvPr>
            <p:ph idx="1"/>
          </p:nvPr>
        </p:nvSpPr>
        <p:spPr/>
        <p:txBody>
          <a:bodyPr/>
          <a:lstStyle/>
          <a:p>
            <a:r>
              <a:rPr lang="fr-FR" dirty="0"/>
              <a:t>QUESTION : A QUOI RESSEMBLE LE LOGICIEL DE CONVERSION ?</a:t>
            </a:r>
          </a:p>
          <a:p>
            <a:r>
              <a:rPr lang="fr-FR" dirty="0"/>
              <a:t>REPONSE : </a:t>
            </a:r>
          </a:p>
          <a:p>
            <a:endParaRPr lang="fr-FR" dirty="0"/>
          </a:p>
        </p:txBody>
      </p:sp>
      <p:sp>
        <p:nvSpPr>
          <p:cNvPr id="5" name="Espace réservé du numéro de diapositive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10F9B4-E45F-45DE-A182-D2D6DBA25399}"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Rectangle 14"/>
          <p:cNvSpPr>
            <a:spLocks noChangeArrowheads="1"/>
          </p:cNvSpPr>
          <p:nvPr/>
        </p:nvSpPr>
        <p:spPr bwMode="auto">
          <a:xfrm>
            <a:off x="2961564" y="2347414"/>
            <a:ext cx="1733846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9" name="Objet 8"/>
          <p:cNvGraphicFramePr>
            <a:graphicFrameLocks noChangeAspect="1"/>
          </p:cNvGraphicFramePr>
          <p:nvPr>
            <p:extLst/>
          </p:nvPr>
        </p:nvGraphicFramePr>
        <p:xfrm>
          <a:off x="2961564" y="2347415"/>
          <a:ext cx="8108689" cy="4208130"/>
        </p:xfrm>
        <a:graphic>
          <a:graphicData uri="http://schemas.openxmlformats.org/presentationml/2006/ole">
            <mc:AlternateContent xmlns:mc="http://schemas.openxmlformats.org/markup-compatibility/2006">
              <mc:Choice xmlns:v="urn:schemas-microsoft-com:vml" Requires="v">
                <p:oleObj spid="_x0000_s3075" name="Image bitmap" r:id="rId4" imgW="10666667" imgH="5315692" progId="Paint.Picture">
                  <p:embed/>
                </p:oleObj>
              </mc:Choice>
              <mc:Fallback>
                <p:oleObj name="Image bitmap" r:id="rId4" imgW="10666667" imgH="5315692" progId="Paint.Picture">
                  <p:embed/>
                  <p:pic>
                    <p:nvPicPr>
                      <p:cNvPr id="9" name="Obje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61564" y="2347415"/>
                        <a:ext cx="8108689" cy="4208130"/>
                      </a:xfrm>
                      <a:prstGeom prst="rect">
                        <a:avLst/>
                      </a:prstGeom>
                      <a:noFill/>
                    </p:spPr>
                  </p:pic>
                </p:oleObj>
              </mc:Fallback>
            </mc:AlternateContent>
          </a:graphicData>
        </a:graphic>
      </p:graphicFrame>
    </p:spTree>
    <p:extLst>
      <p:ext uri="{BB962C8B-B14F-4D97-AF65-F5344CB8AC3E}">
        <p14:creationId xmlns:p14="http://schemas.microsoft.com/office/powerpoint/2010/main" val="32411908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RECONSTRUCTION STATIQUE D’UNE BRANCHE </a:t>
            </a:r>
            <a:br>
              <a:rPr lang="fr-FR" dirty="0"/>
            </a:br>
            <a:r>
              <a:rPr lang="fr-FR" dirty="0"/>
              <a:t>ETAPE 4: Compilation du script </a:t>
            </a:r>
          </a:p>
        </p:txBody>
      </p:sp>
      <p:sp>
        <p:nvSpPr>
          <p:cNvPr id="3" name="Espace réservé du contenu 2"/>
          <p:cNvSpPr>
            <a:spLocks noGrp="1"/>
          </p:cNvSpPr>
          <p:nvPr>
            <p:ph idx="1"/>
          </p:nvPr>
        </p:nvSpPr>
        <p:spPr/>
        <p:txBody>
          <a:bodyPr/>
          <a:lstStyle/>
          <a:p>
            <a:r>
              <a:rPr lang="fr-FR" dirty="0"/>
              <a:t>QUESTION : QUEL SONT LES RESULATS D’IMPLEMENTATION DU SCRIPT SUR 3DSMAX?</a:t>
            </a:r>
          </a:p>
          <a:p>
            <a:r>
              <a:rPr lang="fr-FR" dirty="0"/>
              <a:t>REPONSE :</a:t>
            </a:r>
          </a:p>
          <a:p>
            <a:endParaRPr lang="fr-FR" dirty="0"/>
          </a:p>
          <a:p>
            <a:pPr marL="0" indent="0">
              <a:buNone/>
            </a:pPr>
            <a:endParaRPr lang="fr-FR" dirty="0"/>
          </a:p>
        </p:txBody>
      </p:sp>
      <p:sp>
        <p:nvSpPr>
          <p:cNvPr id="9" name="Espace réservé du numéro de diapositive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10F9B4-E45F-45DE-A182-D2D6DBA25399}"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4" name="Image 3"/>
          <p:cNvPicPr/>
          <p:nvPr/>
        </p:nvPicPr>
        <p:blipFill>
          <a:blip r:embed="rId3" cstate="print"/>
          <a:srcRect/>
          <a:stretch>
            <a:fillRect/>
          </a:stretch>
        </p:blipFill>
        <p:spPr bwMode="auto">
          <a:xfrm>
            <a:off x="5719045" y="2669603"/>
            <a:ext cx="4134637" cy="1821971"/>
          </a:xfrm>
          <a:prstGeom prst="rect">
            <a:avLst/>
          </a:prstGeom>
          <a:noFill/>
          <a:ln w="9525">
            <a:noFill/>
            <a:miter lim="800000"/>
            <a:headEnd/>
            <a:tailEnd/>
          </a:ln>
        </p:spPr>
      </p:pic>
      <p:pic>
        <p:nvPicPr>
          <p:cNvPr id="5" name="Image 4" descr="C:\Users\Oussama\Documents\3dsMax\scenes\branche2 pour comparaison.jpg"/>
          <p:cNvPicPr/>
          <p:nvPr/>
        </p:nvPicPr>
        <p:blipFill>
          <a:blip r:embed="rId4">
            <a:extLst>
              <a:ext uri="{28A0092B-C50C-407E-A947-70E740481C1C}">
                <a14:useLocalDpi xmlns:a14="http://schemas.microsoft.com/office/drawing/2010/main" val="0"/>
              </a:ext>
            </a:extLst>
          </a:blip>
          <a:srcRect/>
          <a:stretch>
            <a:fillRect/>
          </a:stretch>
        </p:blipFill>
        <p:spPr bwMode="auto">
          <a:xfrm>
            <a:off x="2981329" y="2669603"/>
            <a:ext cx="2928152" cy="2130753"/>
          </a:xfrm>
          <a:prstGeom prst="rect">
            <a:avLst/>
          </a:prstGeom>
          <a:noFill/>
          <a:ln>
            <a:noFill/>
          </a:ln>
        </p:spPr>
      </p:pic>
      <p:pic>
        <p:nvPicPr>
          <p:cNvPr id="6" name="Image 5" descr="C:\Users\Oussama\Documents\3dsMax\scenes\resultat entrenoeud.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94370" y="4085663"/>
            <a:ext cx="2265680" cy="1699260"/>
          </a:xfrm>
          <a:prstGeom prst="rect">
            <a:avLst/>
          </a:prstGeom>
          <a:noFill/>
          <a:ln>
            <a:noFill/>
          </a:ln>
        </p:spPr>
      </p:pic>
      <p:sp>
        <p:nvSpPr>
          <p:cNvPr id="8"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036864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dirty="0"/>
              <a:t>PROVISIONNER LA CROISSANCE ET LE DEVELOPPEMENT</a:t>
            </a:r>
          </a:p>
        </p:txBody>
      </p:sp>
      <p:sp>
        <p:nvSpPr>
          <p:cNvPr id="3" name="Espace réservé du contenu 2"/>
          <p:cNvSpPr>
            <a:spLocks noGrp="1"/>
          </p:cNvSpPr>
          <p:nvPr>
            <p:ph idx="1"/>
          </p:nvPr>
        </p:nvSpPr>
        <p:spPr/>
        <p:txBody>
          <a:bodyPr/>
          <a:lstStyle/>
          <a:p>
            <a:r>
              <a:rPr lang="fr-FR" dirty="0"/>
              <a:t>ETAPE 1 : MOYEN DE RECONSTRUCTION FORMEL</a:t>
            </a:r>
          </a:p>
          <a:p>
            <a:r>
              <a:rPr lang="fr-FR" dirty="0"/>
              <a:t>ETAPE 2 : CARACTERISATION DE LA STRUCTURE DE PLANTE</a:t>
            </a:r>
          </a:p>
          <a:p>
            <a:r>
              <a:rPr lang="fr-FR" dirty="0"/>
              <a:t>ETAPE 3 : CARACTERISATION DE LA GEOMETRIE DE PLANTE</a:t>
            </a:r>
          </a:p>
          <a:p>
            <a:r>
              <a:rPr lang="fr-FR" dirty="0"/>
              <a:t>ETAPE 4 : PARAMETRES D’ENTRER, IMPLEMENTATION ET RESULTAT</a:t>
            </a:r>
          </a:p>
        </p:txBody>
      </p:sp>
      <p:sp>
        <p:nvSpPr>
          <p:cNvPr id="4" name="Espace réservé du numéro de diapositive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10F9B4-E45F-45DE-A182-D2D6DBA25399}"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6454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FR" sz="3200" dirty="0"/>
              <a:t>PROVISIONNER LA CROISSANCE ET LE DEVELOPPEMENT </a:t>
            </a:r>
            <a:br>
              <a:rPr lang="fr-FR" sz="3200" dirty="0"/>
            </a:br>
            <a:r>
              <a:rPr lang="fr-FR" sz="3200" dirty="0"/>
              <a:t>ETAPE 1 : MOYEN DE RECONSTRUCTION FORMEL</a:t>
            </a:r>
          </a:p>
        </p:txBody>
      </p:sp>
      <p:sp>
        <p:nvSpPr>
          <p:cNvPr id="3" name="Espace réservé du contenu 2"/>
          <p:cNvSpPr>
            <a:spLocks noGrp="1"/>
          </p:cNvSpPr>
          <p:nvPr>
            <p:ph idx="1"/>
          </p:nvPr>
        </p:nvSpPr>
        <p:spPr/>
        <p:txBody>
          <a:bodyPr/>
          <a:lstStyle/>
          <a:p>
            <a:r>
              <a:rPr lang="fr-FR" dirty="0"/>
              <a:t>STRUCTURE FRACTALE (L-SYSTEM)</a:t>
            </a:r>
          </a:p>
        </p:txBody>
      </p:sp>
      <p:sp>
        <p:nvSpPr>
          <p:cNvPr id="11" name="Espace réservé du numéro de diapositive 10"/>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10F9B4-E45F-45DE-A182-D2D6DBA25399}"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Rectangle 2"/>
          <p:cNvSpPr>
            <a:spLocks noChangeArrowheads="1"/>
          </p:cNvSpPr>
          <p:nvPr/>
        </p:nvSpPr>
        <p:spPr bwMode="auto">
          <a:xfrm>
            <a:off x="1201003" y="262037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5" name="Objet 4"/>
          <p:cNvGraphicFramePr>
            <a:graphicFrameLocks noChangeAspect="1"/>
          </p:cNvGraphicFramePr>
          <p:nvPr>
            <p:extLst/>
          </p:nvPr>
        </p:nvGraphicFramePr>
        <p:xfrm>
          <a:off x="1201003" y="2620370"/>
          <a:ext cx="5657850" cy="2000250"/>
        </p:xfrm>
        <a:graphic>
          <a:graphicData uri="http://schemas.openxmlformats.org/presentationml/2006/ole">
            <mc:AlternateContent xmlns:mc="http://schemas.openxmlformats.org/markup-compatibility/2006">
              <mc:Choice xmlns:v="urn:schemas-microsoft-com:vml" Requires="v">
                <p:oleObj spid="_x0000_s4100" name="Image bitmap" r:id="rId4" imgW="12323810" imgH="4038095" progId="Paint.Picture">
                  <p:embed/>
                </p:oleObj>
              </mc:Choice>
              <mc:Fallback>
                <p:oleObj name="Image bitmap" r:id="rId4" imgW="12323810" imgH="4038095" progId="Paint.Picture">
                  <p:embed/>
                  <p:pic>
                    <p:nvPicPr>
                      <p:cNvPr id="5" name="Obje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01003" y="2620370"/>
                        <a:ext cx="5657850" cy="2000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5"/>
          <p:cNvSpPr/>
          <p:nvPr/>
        </p:nvSpPr>
        <p:spPr>
          <a:xfrm>
            <a:off x="3257883" y="2734665"/>
            <a:ext cx="954107"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F+F+F+F</a:t>
            </a: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Rectangle 4"/>
          <p:cNvSpPr>
            <a:spLocks noChangeArrowheads="1"/>
          </p:cNvSpPr>
          <p:nvPr/>
        </p:nvSpPr>
        <p:spPr bwMode="auto">
          <a:xfrm>
            <a:off x="5677469" y="44338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8" name="Objet 7"/>
          <p:cNvGraphicFramePr>
            <a:graphicFrameLocks noChangeAspect="1"/>
          </p:cNvGraphicFramePr>
          <p:nvPr>
            <p:extLst/>
          </p:nvPr>
        </p:nvGraphicFramePr>
        <p:xfrm>
          <a:off x="5677469" y="4433887"/>
          <a:ext cx="5572125" cy="1828800"/>
        </p:xfrm>
        <a:graphic>
          <a:graphicData uri="http://schemas.openxmlformats.org/presentationml/2006/ole">
            <mc:AlternateContent xmlns:mc="http://schemas.openxmlformats.org/markup-compatibility/2006">
              <mc:Choice xmlns:v="urn:schemas-microsoft-com:vml" Requires="v">
                <p:oleObj spid="_x0000_s4101" name="Image bitmap" r:id="rId6" imgW="6047619" imgH="1876190" progId="Paint.Picture">
                  <p:embed/>
                </p:oleObj>
              </mc:Choice>
              <mc:Fallback>
                <p:oleObj name="Image bitmap" r:id="rId6" imgW="6047619" imgH="1876190" progId="Paint.Picture">
                  <p:embed/>
                  <p:pic>
                    <p:nvPicPr>
                      <p:cNvPr id="8" name="Obje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77469" y="4433887"/>
                        <a:ext cx="5572125" cy="1828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8"/>
          <p:cNvSpPr/>
          <p:nvPr/>
        </p:nvSpPr>
        <p:spPr>
          <a:xfrm>
            <a:off x="7483134" y="4071206"/>
            <a:ext cx="196079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F+F-F+F+F-F+F+FFF</a:t>
            </a: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Rectangle 9"/>
          <p:cNvSpPr/>
          <p:nvPr/>
        </p:nvSpPr>
        <p:spPr>
          <a:xfrm>
            <a:off x="5251443" y="2435703"/>
            <a:ext cx="4091120"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Tortue de visualisation du langage formel </a:t>
            </a: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672494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FR" sz="3200" dirty="0"/>
              <a:t>PROVISIONNER LA CROISSANCE ET LE DEVELOPPEMENT </a:t>
            </a:r>
            <a:br>
              <a:rPr lang="fr-FR" sz="3200" dirty="0"/>
            </a:br>
            <a:r>
              <a:rPr lang="fr-FR" sz="3200" dirty="0"/>
              <a:t>ETAPE 1 : MOYEN DE RECONSTRUCTION FORMEL</a:t>
            </a:r>
          </a:p>
        </p:txBody>
      </p:sp>
      <p:sp>
        <p:nvSpPr>
          <p:cNvPr id="3" name="Espace réservé du contenu 2"/>
          <p:cNvSpPr>
            <a:spLocks noGrp="1"/>
          </p:cNvSpPr>
          <p:nvPr>
            <p:ph idx="1"/>
          </p:nvPr>
        </p:nvSpPr>
        <p:spPr/>
        <p:txBody>
          <a:bodyPr/>
          <a:lstStyle/>
          <a:p>
            <a:r>
              <a:rPr lang="fr-FR" dirty="0"/>
              <a:t>STRUCTURE FRACTALE (L-SYSTEM)</a:t>
            </a:r>
          </a:p>
        </p:txBody>
      </p:sp>
      <p:sp>
        <p:nvSpPr>
          <p:cNvPr id="5" name="Espace réservé du numéro de diapositive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10F9B4-E45F-45DE-A182-D2D6DBA25399}"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Rectangle 2"/>
          <p:cNvSpPr>
            <a:spLocks noChangeArrowheads="1"/>
          </p:cNvSpPr>
          <p:nvPr/>
        </p:nvSpPr>
        <p:spPr bwMode="auto">
          <a:xfrm>
            <a:off x="1201003" y="262037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Rectangle 4"/>
          <p:cNvSpPr>
            <a:spLocks noChangeArrowheads="1"/>
          </p:cNvSpPr>
          <p:nvPr/>
        </p:nvSpPr>
        <p:spPr bwMode="auto">
          <a:xfrm>
            <a:off x="5677469" y="44338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Rectangle 9"/>
          <p:cNvSpPr/>
          <p:nvPr/>
        </p:nvSpPr>
        <p:spPr>
          <a:xfrm>
            <a:off x="1201003" y="2456303"/>
            <a:ext cx="6096000" cy="1754326"/>
          </a:xfrm>
          <a:prstGeom prst="rect">
            <a:avLst/>
          </a:prstGeom>
        </p:spPr>
        <p:txBody>
          <a:bodyPr>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Axiome : FXX</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Règles :	</a:t>
            </a:r>
          </a:p>
          <a:p>
            <a:pPr marL="342900" marR="0" lvl="0" indent="-342900" algn="just" defTabSz="914400" rtl="0" eaLnBrk="1" fontAlgn="auto" latinLnBrk="0" hangingPunct="1">
              <a:lnSpc>
                <a:spcPct val="150000"/>
              </a:lnSpc>
              <a:spcBef>
                <a:spcPts val="0"/>
              </a:spcBef>
              <a:spcAft>
                <a:spcPts val="0"/>
              </a:spcAft>
              <a:buClrTx/>
              <a:buSzTx/>
              <a:buFont typeface="Symbol" panose="05050102010706020507" pitchFamily="18" charset="2"/>
              <a:buChar char=""/>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X=F+Z</a:t>
            </a:r>
          </a:p>
          <a:p>
            <a:pPr marL="342900" marR="0" lvl="0" indent="-342900" algn="just" defTabSz="914400" rtl="0" eaLnBrk="1" fontAlgn="auto" latinLnBrk="0" hangingPunct="1">
              <a:lnSpc>
                <a:spcPct val="150000"/>
              </a:lnSpc>
              <a:spcBef>
                <a:spcPts val="0"/>
              </a:spcBef>
              <a:spcAft>
                <a:spcPts val="0"/>
              </a:spcAft>
              <a:buClrTx/>
              <a:buSzTx/>
              <a:buFont typeface="Symbol" panose="05050102010706020507" pitchFamily="18" charset="2"/>
              <a:buChar char=""/>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Z=F-X</a:t>
            </a:r>
          </a:p>
        </p:txBody>
      </p:sp>
      <p:graphicFrame>
        <p:nvGraphicFramePr>
          <p:cNvPr id="11" name="Tableau 10"/>
          <p:cNvGraphicFramePr>
            <a:graphicFrameLocks noGrp="1"/>
          </p:cNvGraphicFramePr>
          <p:nvPr>
            <p:extLst/>
          </p:nvPr>
        </p:nvGraphicFramePr>
        <p:xfrm>
          <a:off x="3604469" y="2422769"/>
          <a:ext cx="5610860" cy="1721993"/>
        </p:xfrm>
        <a:graphic>
          <a:graphicData uri="http://schemas.openxmlformats.org/drawingml/2006/table">
            <a:tbl>
              <a:tblPr firstRow="1" firstCol="1" bandRow="1">
                <a:tableStyleId>{5C22544A-7EE6-4342-B048-85BDC9FD1C3A}</a:tableStyleId>
              </a:tblPr>
              <a:tblGrid>
                <a:gridCol w="2805430">
                  <a:extLst>
                    <a:ext uri="{9D8B030D-6E8A-4147-A177-3AD203B41FA5}">
                      <a16:colId xmlns:a16="http://schemas.microsoft.com/office/drawing/2014/main" val="20000"/>
                    </a:ext>
                  </a:extLst>
                </a:gridCol>
                <a:gridCol w="2805430">
                  <a:extLst>
                    <a:ext uri="{9D8B030D-6E8A-4147-A177-3AD203B41FA5}">
                      <a16:colId xmlns:a16="http://schemas.microsoft.com/office/drawing/2014/main" val="20001"/>
                    </a:ext>
                  </a:extLst>
                </a:gridCol>
              </a:tblGrid>
              <a:tr h="0">
                <a:tc>
                  <a:txBody>
                    <a:bodyPr/>
                    <a:lstStyle/>
                    <a:p>
                      <a:pPr algn="just">
                        <a:lnSpc>
                          <a:spcPct val="150000"/>
                        </a:lnSpc>
                        <a:spcAft>
                          <a:spcPts val="0"/>
                        </a:spcAft>
                      </a:pPr>
                      <a:r>
                        <a:rPr lang="fr-FR" sz="1200">
                          <a:effectLst/>
                        </a:rPr>
                        <a:t>Itérations</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1200">
                          <a:effectLst/>
                        </a:rPr>
                        <a:t>Chaîne sortante</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0">
                <a:tc>
                  <a:txBody>
                    <a:bodyPr/>
                    <a:lstStyle/>
                    <a:p>
                      <a:pPr algn="just">
                        <a:lnSpc>
                          <a:spcPct val="150000"/>
                        </a:lnSpc>
                        <a:spcAft>
                          <a:spcPts val="0"/>
                        </a:spcAft>
                      </a:pPr>
                      <a:r>
                        <a:rPr lang="fr-FR" sz="1200">
                          <a:effectLst/>
                        </a:rPr>
                        <a:t>Début</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1200">
                          <a:effectLst/>
                        </a:rPr>
                        <a:t>FXX</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0">
                <a:tc>
                  <a:txBody>
                    <a:bodyPr/>
                    <a:lstStyle/>
                    <a:p>
                      <a:pPr algn="just">
                        <a:lnSpc>
                          <a:spcPct val="150000"/>
                        </a:lnSpc>
                        <a:spcAft>
                          <a:spcPts val="0"/>
                        </a:spcAft>
                      </a:pPr>
                      <a:r>
                        <a:rPr lang="fr-FR" sz="1200">
                          <a:effectLst/>
                        </a:rPr>
                        <a:t>1</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1200">
                          <a:effectLst/>
                        </a:rPr>
                        <a:t>FF+ZF+Z</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0">
                <a:tc>
                  <a:txBody>
                    <a:bodyPr/>
                    <a:lstStyle/>
                    <a:p>
                      <a:pPr algn="just">
                        <a:lnSpc>
                          <a:spcPct val="150000"/>
                        </a:lnSpc>
                        <a:spcAft>
                          <a:spcPts val="0"/>
                        </a:spcAft>
                      </a:pPr>
                      <a:r>
                        <a:rPr lang="fr-FR" sz="1200">
                          <a:effectLst/>
                        </a:rPr>
                        <a:t>2</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1200">
                          <a:effectLst/>
                        </a:rPr>
                        <a:t>FF+F-XF+F-X</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0">
                <a:tc>
                  <a:txBody>
                    <a:bodyPr/>
                    <a:lstStyle/>
                    <a:p>
                      <a:pPr algn="just">
                        <a:lnSpc>
                          <a:spcPct val="150000"/>
                        </a:lnSpc>
                        <a:spcAft>
                          <a:spcPts val="0"/>
                        </a:spcAft>
                      </a:pPr>
                      <a:r>
                        <a:rPr lang="fr-FR" sz="1200">
                          <a:effectLst/>
                        </a:rPr>
                        <a:t>3</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1200">
                          <a:effectLst/>
                        </a:rPr>
                        <a:t>FF+F-F+ZF+F-F+Z</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0">
                <a:tc>
                  <a:txBody>
                    <a:bodyPr/>
                    <a:lstStyle/>
                    <a:p>
                      <a:pPr algn="just">
                        <a:lnSpc>
                          <a:spcPct val="150000"/>
                        </a:lnSpc>
                        <a:spcAft>
                          <a:spcPts val="0"/>
                        </a:spcAft>
                      </a:pPr>
                      <a:r>
                        <a:rPr lang="fr-FR" sz="1200">
                          <a:effectLst/>
                        </a:rPr>
                        <a:t>4</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1200">
                          <a:effectLst/>
                        </a:rPr>
                        <a:t>FF+F-F+F-XF+F-F+F-X</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0">
                <a:tc>
                  <a:txBody>
                    <a:bodyPr/>
                    <a:lstStyle/>
                    <a:p>
                      <a:pPr algn="just">
                        <a:lnSpc>
                          <a:spcPct val="150000"/>
                        </a:lnSpc>
                        <a:spcAft>
                          <a:spcPts val="0"/>
                        </a:spcAft>
                      </a:pPr>
                      <a:r>
                        <a:rPr lang="fr-FR" sz="1200">
                          <a:effectLst/>
                        </a:rPr>
                        <a:t>5</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1200" dirty="0">
                          <a:effectLst/>
                        </a:rPr>
                        <a:t>FF+F-F+F-F+ZF+F-F+F-F+Z</a:t>
                      </a:r>
                      <a:endParaRPr lang="fr-F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bl>
          </a:graphicData>
        </a:graphic>
      </p:graphicFrame>
      <p:pic>
        <p:nvPicPr>
          <p:cNvPr id="12" name="Image 11" descr="C:\Users\Oussama\Desktop\FXXaxiomeX F+Z Z F-X regle angle15.jpg"/>
          <p:cNvPicPr/>
          <p:nvPr/>
        </p:nvPicPr>
        <p:blipFill>
          <a:blip r:embed="rId3">
            <a:extLst>
              <a:ext uri="{28A0092B-C50C-407E-A947-70E740481C1C}">
                <a14:useLocalDpi xmlns:a14="http://schemas.microsoft.com/office/drawing/2010/main" val="0"/>
              </a:ext>
            </a:extLst>
          </a:blip>
          <a:srcRect/>
          <a:stretch>
            <a:fillRect/>
          </a:stretch>
        </p:blipFill>
        <p:spPr bwMode="auto">
          <a:xfrm>
            <a:off x="4001063" y="4447241"/>
            <a:ext cx="2770505" cy="2075180"/>
          </a:xfrm>
          <a:prstGeom prst="rect">
            <a:avLst/>
          </a:prstGeom>
          <a:noFill/>
          <a:ln>
            <a:noFill/>
          </a:ln>
        </p:spPr>
      </p:pic>
    </p:spTree>
    <p:extLst>
      <p:ext uri="{BB962C8B-B14F-4D97-AF65-F5344CB8AC3E}">
        <p14:creationId xmlns:p14="http://schemas.microsoft.com/office/powerpoint/2010/main" val="25134731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FR" sz="3200" dirty="0"/>
              <a:t>PROVISIONNER LA CROISSANCE ET LE DEVELOPPEMENT </a:t>
            </a:r>
            <a:br>
              <a:rPr lang="fr-FR" sz="3200" dirty="0"/>
            </a:br>
            <a:r>
              <a:rPr lang="fr-FR" sz="3200" dirty="0"/>
              <a:t>ETAPE 1 : MOYEN DE RECONSTRUCTION FORMEL</a:t>
            </a:r>
          </a:p>
        </p:txBody>
      </p:sp>
      <p:sp>
        <p:nvSpPr>
          <p:cNvPr id="3" name="Espace réservé du contenu 2"/>
          <p:cNvSpPr>
            <a:spLocks noGrp="1"/>
          </p:cNvSpPr>
          <p:nvPr>
            <p:ph idx="1"/>
          </p:nvPr>
        </p:nvSpPr>
        <p:spPr/>
        <p:txBody>
          <a:bodyPr/>
          <a:lstStyle/>
          <a:p>
            <a:r>
              <a:rPr lang="fr-FR" dirty="0"/>
              <a:t>STRUCTURE FRACTALE (L-SYSTEM)</a:t>
            </a:r>
          </a:p>
        </p:txBody>
      </p:sp>
      <p:sp>
        <p:nvSpPr>
          <p:cNvPr id="5" name="Espace réservé du numéro de diapositive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10F9B4-E45F-45DE-A182-D2D6DBA25399}"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Rectangle 2"/>
          <p:cNvSpPr>
            <a:spLocks noChangeArrowheads="1"/>
          </p:cNvSpPr>
          <p:nvPr/>
        </p:nvSpPr>
        <p:spPr bwMode="auto">
          <a:xfrm>
            <a:off x="1201003" y="262037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Rectangle 4"/>
          <p:cNvSpPr>
            <a:spLocks noChangeArrowheads="1"/>
          </p:cNvSpPr>
          <p:nvPr/>
        </p:nvSpPr>
        <p:spPr bwMode="auto">
          <a:xfrm>
            <a:off x="5677469" y="44338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8" name="Groupe 7"/>
          <p:cNvGrpSpPr/>
          <p:nvPr/>
        </p:nvGrpSpPr>
        <p:grpSpPr>
          <a:xfrm>
            <a:off x="3646700" y="1965278"/>
            <a:ext cx="8362192" cy="4562088"/>
            <a:chOff x="0" y="0"/>
            <a:chExt cx="5499489" cy="5622878"/>
          </a:xfrm>
        </p:grpSpPr>
        <p:grpSp>
          <p:nvGrpSpPr>
            <p:cNvPr id="9" name="Groupe 8"/>
            <p:cNvGrpSpPr/>
            <p:nvPr/>
          </p:nvGrpSpPr>
          <p:grpSpPr>
            <a:xfrm>
              <a:off x="0" y="0"/>
              <a:ext cx="5499489" cy="5622878"/>
              <a:chOff x="0" y="0"/>
              <a:chExt cx="5499489" cy="5622878"/>
            </a:xfrm>
          </p:grpSpPr>
          <p:sp>
            <p:nvSpPr>
              <p:cNvPr id="11" name="Zone de texte 808"/>
              <p:cNvSpPr txBox="1"/>
              <p:nvPr/>
            </p:nvSpPr>
            <p:spPr>
              <a:xfrm>
                <a:off x="1733265" y="0"/>
                <a:ext cx="2361063" cy="327546"/>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ENTRER UTILISATEUR</a:t>
                </a:r>
              </a:p>
            </p:txBody>
          </p:sp>
          <p:sp>
            <p:nvSpPr>
              <p:cNvPr id="12" name="Zone de texte 809"/>
              <p:cNvSpPr txBox="1"/>
              <p:nvPr/>
            </p:nvSpPr>
            <p:spPr>
              <a:xfrm>
                <a:off x="723331" y="1555845"/>
                <a:ext cx="3425588" cy="477520"/>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Initialisation des paramètres de la fonction récursive</a:t>
                </a:r>
              </a:p>
            </p:txBody>
          </p:sp>
          <p:cxnSp>
            <p:nvCxnSpPr>
              <p:cNvPr id="13" name="Connecteur droit avec flèche 12"/>
              <p:cNvCxnSpPr/>
              <p:nvPr/>
            </p:nvCxnSpPr>
            <p:spPr>
              <a:xfrm flipH="1">
                <a:off x="3043450" y="327546"/>
                <a:ext cx="13335" cy="12287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Zone de texte 811"/>
              <p:cNvSpPr txBox="1"/>
              <p:nvPr/>
            </p:nvSpPr>
            <p:spPr>
              <a:xfrm>
                <a:off x="682388" y="696036"/>
                <a:ext cx="1378424" cy="313899"/>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Orientation initial</a:t>
                </a:r>
              </a:p>
            </p:txBody>
          </p:sp>
          <p:cxnSp>
            <p:nvCxnSpPr>
              <p:cNvPr id="15" name="Connecteur droit avec flèche 14"/>
              <p:cNvCxnSpPr/>
              <p:nvPr/>
            </p:nvCxnSpPr>
            <p:spPr>
              <a:xfrm flipH="1">
                <a:off x="4176214" y="1828800"/>
                <a:ext cx="83255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Zone de texte 813"/>
              <p:cNvSpPr txBox="1"/>
              <p:nvPr/>
            </p:nvSpPr>
            <p:spPr>
              <a:xfrm>
                <a:off x="818865" y="2511188"/>
                <a:ext cx="1937982" cy="573206"/>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Décomposer mot en lettre</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Et parcourir toute lettre</a:t>
                </a:r>
              </a:p>
            </p:txBody>
          </p:sp>
          <p:sp>
            <p:nvSpPr>
              <p:cNvPr id="17" name="Zone de texte 814"/>
              <p:cNvSpPr txBox="1"/>
              <p:nvPr/>
            </p:nvSpPr>
            <p:spPr>
              <a:xfrm>
                <a:off x="436697" y="3507108"/>
                <a:ext cx="2701524" cy="641350"/>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Identifier le traitement associé à la lettre selon nombre d’itérations et règle</a:t>
                </a:r>
                <a:r>
                  <a:rPr kumimoji="0" lang="fr-FR" sz="1200" b="0" i="0" u="sng" strike="noStrike" kern="1200" cap="none" spc="0" normalizeH="0" baseline="0" noProof="0" dirty="0">
                    <a:ln>
                      <a:noFill/>
                    </a:ln>
                    <a:solidFill>
                      <a:srgbClr val="0000FF"/>
                    </a:solidFill>
                    <a:effectLst/>
                    <a:uLnTx/>
                    <a:uFillTx/>
                    <a:latin typeface="Calibri" panose="020F0502020204030204"/>
                    <a:ea typeface="Calibri" panose="020F0502020204030204" pitchFamily="34" charset="0"/>
                    <a:cs typeface="Times New Roman" panose="02020603050405020304" pitchFamily="18" charset="0"/>
                  </a:rPr>
                  <a:t>s</a:t>
                </a:r>
                <a:endParaRPr kumimoji="0" lang="fr-FR" sz="12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endParaRPr>
              </a:p>
            </p:txBody>
          </p:sp>
          <p:cxnSp>
            <p:nvCxnSpPr>
              <p:cNvPr id="18" name="Connecteur droit avec flèche 17"/>
              <p:cNvCxnSpPr/>
              <p:nvPr/>
            </p:nvCxnSpPr>
            <p:spPr>
              <a:xfrm>
                <a:off x="1746913" y="2088107"/>
                <a:ext cx="0" cy="3957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necteur droit avec flèche 18"/>
              <p:cNvCxnSpPr/>
              <p:nvPr/>
            </p:nvCxnSpPr>
            <p:spPr>
              <a:xfrm>
                <a:off x="1746913" y="3098042"/>
                <a:ext cx="0" cy="4094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cteur droit avec flèche 19"/>
              <p:cNvCxnSpPr/>
              <p:nvPr/>
            </p:nvCxnSpPr>
            <p:spPr>
              <a:xfrm>
                <a:off x="1064525" y="4148919"/>
                <a:ext cx="0" cy="5323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necteur droit avec flèche 20"/>
              <p:cNvCxnSpPr/>
              <p:nvPr/>
            </p:nvCxnSpPr>
            <p:spPr>
              <a:xfrm>
                <a:off x="2361062" y="4162567"/>
                <a:ext cx="0" cy="5184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Zone de texte 819"/>
              <p:cNvSpPr txBox="1"/>
              <p:nvPr/>
            </p:nvSpPr>
            <p:spPr>
              <a:xfrm>
                <a:off x="0" y="4681182"/>
                <a:ext cx="1897039" cy="941696"/>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Commande de mouvement</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Tracer l’ordre et changer l’orientation</a:t>
                </a:r>
              </a:p>
            </p:txBody>
          </p:sp>
          <p:sp>
            <p:nvSpPr>
              <p:cNvPr id="23" name="Zone de texte 820"/>
              <p:cNvSpPr txBox="1"/>
              <p:nvPr/>
            </p:nvSpPr>
            <p:spPr>
              <a:xfrm>
                <a:off x="2019868" y="4694830"/>
                <a:ext cx="2169994" cy="559558"/>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Commande d’orientation</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Changer orientation</a:t>
                </a:r>
              </a:p>
            </p:txBody>
          </p:sp>
          <p:cxnSp>
            <p:nvCxnSpPr>
              <p:cNvPr id="24" name="Connecteur droit 23"/>
              <p:cNvCxnSpPr/>
              <p:nvPr/>
            </p:nvCxnSpPr>
            <p:spPr>
              <a:xfrm flipV="1">
                <a:off x="3261814" y="2825087"/>
                <a:ext cx="13648" cy="1869743"/>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Connecteur droit avec flèche 24"/>
              <p:cNvCxnSpPr/>
              <p:nvPr/>
            </p:nvCxnSpPr>
            <p:spPr>
              <a:xfrm flipH="1">
                <a:off x="2756847" y="2825087"/>
                <a:ext cx="53286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necteur droit 25"/>
              <p:cNvCxnSpPr/>
              <p:nvPr/>
            </p:nvCxnSpPr>
            <p:spPr>
              <a:xfrm flipV="1">
                <a:off x="286603" y="2866030"/>
                <a:ext cx="0" cy="1828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Connecteur droit avec flèche 26"/>
              <p:cNvCxnSpPr/>
              <p:nvPr/>
            </p:nvCxnSpPr>
            <p:spPr>
              <a:xfrm>
                <a:off x="286603" y="2866030"/>
                <a:ext cx="5459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Connecteur droit avec flèche 27"/>
              <p:cNvCxnSpPr/>
              <p:nvPr/>
            </p:nvCxnSpPr>
            <p:spPr>
              <a:xfrm>
                <a:off x="1364776" y="1009934"/>
                <a:ext cx="0" cy="5185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Zone de texte 826"/>
              <p:cNvSpPr txBox="1"/>
              <p:nvPr/>
            </p:nvSpPr>
            <p:spPr>
              <a:xfrm>
                <a:off x="3657600" y="3753134"/>
                <a:ext cx="1841889" cy="736979"/>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Détection de la règle correspondante à la lettre</a:t>
                </a:r>
              </a:p>
            </p:txBody>
          </p:sp>
          <p:cxnSp>
            <p:nvCxnSpPr>
              <p:cNvPr id="30" name="Connecteur droit 29"/>
              <p:cNvCxnSpPr/>
              <p:nvPr/>
            </p:nvCxnSpPr>
            <p:spPr>
              <a:xfrm>
                <a:off x="5008728" y="1842448"/>
                <a:ext cx="0" cy="1910686"/>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Connecteur droit 30"/>
              <p:cNvCxnSpPr/>
              <p:nvPr/>
            </p:nvCxnSpPr>
            <p:spPr>
              <a:xfrm>
                <a:off x="1965277" y="4176215"/>
                <a:ext cx="0" cy="1378424"/>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Connecteur droit 31"/>
              <p:cNvCxnSpPr/>
              <p:nvPr/>
            </p:nvCxnSpPr>
            <p:spPr>
              <a:xfrm>
                <a:off x="1965277" y="5581934"/>
                <a:ext cx="278414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Connecteur droit avec flèche 32"/>
              <p:cNvCxnSpPr/>
              <p:nvPr/>
            </p:nvCxnSpPr>
            <p:spPr>
              <a:xfrm flipV="1">
                <a:off x="4763068" y="4517409"/>
                <a:ext cx="0" cy="10645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cxnSp>
          <p:nvCxnSpPr>
            <p:cNvPr id="10" name="Connecteur droit avec flèche 9"/>
            <p:cNvCxnSpPr/>
            <p:nvPr/>
          </p:nvCxnSpPr>
          <p:spPr>
            <a:xfrm flipV="1">
              <a:off x="1132764" y="3111689"/>
              <a:ext cx="0" cy="4094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pic>
        <p:nvPicPr>
          <p:cNvPr id="34" name="Image 33"/>
          <p:cNvPicPr/>
          <p:nvPr/>
        </p:nvPicPr>
        <p:blipFill>
          <a:blip r:embed="rId3">
            <a:extLst>
              <a:ext uri="{28A0092B-C50C-407E-A947-70E740481C1C}">
                <a14:useLocalDpi xmlns:a14="http://schemas.microsoft.com/office/drawing/2010/main" val="0"/>
              </a:ext>
            </a:extLst>
          </a:blip>
          <a:srcRect/>
          <a:stretch>
            <a:fillRect/>
          </a:stretch>
        </p:blipFill>
        <p:spPr bwMode="auto">
          <a:xfrm>
            <a:off x="1426220" y="2591015"/>
            <a:ext cx="1746885" cy="2265680"/>
          </a:xfrm>
          <a:prstGeom prst="rect">
            <a:avLst/>
          </a:prstGeom>
          <a:noFill/>
          <a:ln>
            <a:noFill/>
          </a:ln>
        </p:spPr>
      </p:pic>
    </p:spTree>
    <p:extLst>
      <p:ext uri="{BB962C8B-B14F-4D97-AF65-F5344CB8AC3E}">
        <p14:creationId xmlns:p14="http://schemas.microsoft.com/office/powerpoint/2010/main" val="38636496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FR" sz="3200" dirty="0"/>
              <a:t>PROVISIONNER LA CROISSANCE ET LE DEVELOPPEMENT </a:t>
            </a:r>
            <a:br>
              <a:rPr lang="fr-FR" sz="3200" dirty="0"/>
            </a:br>
            <a:r>
              <a:rPr lang="fr-FR" sz="3200" dirty="0"/>
              <a:t>ETAPE 1 : MOYEN DE RECONSTRUCTION FORMEL</a:t>
            </a:r>
          </a:p>
        </p:txBody>
      </p:sp>
      <p:sp>
        <p:nvSpPr>
          <p:cNvPr id="3" name="Espace réservé du contenu 2"/>
          <p:cNvSpPr>
            <a:spLocks noGrp="1"/>
          </p:cNvSpPr>
          <p:nvPr>
            <p:ph idx="1"/>
          </p:nvPr>
        </p:nvSpPr>
        <p:spPr/>
        <p:txBody>
          <a:bodyPr/>
          <a:lstStyle/>
          <a:p>
            <a:r>
              <a:rPr lang="fr-FR" dirty="0"/>
              <a:t>STRUCTURE FRACTALE (L-SYSTEM)</a:t>
            </a:r>
          </a:p>
        </p:txBody>
      </p:sp>
      <p:sp>
        <p:nvSpPr>
          <p:cNvPr id="11" name="Espace réservé du numéro de diapositive 10"/>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10F9B4-E45F-45DE-A182-D2D6DBA25399}"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Rectangle 2"/>
          <p:cNvSpPr>
            <a:spLocks noChangeArrowheads="1"/>
          </p:cNvSpPr>
          <p:nvPr/>
        </p:nvSpPr>
        <p:spPr bwMode="auto">
          <a:xfrm>
            <a:off x="1201003" y="262037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Rectangle 4"/>
          <p:cNvSpPr>
            <a:spLocks noChangeArrowheads="1"/>
          </p:cNvSpPr>
          <p:nvPr/>
        </p:nvSpPr>
        <p:spPr bwMode="auto">
          <a:xfrm>
            <a:off x="5677469" y="44338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12" name="Tableau 11"/>
          <p:cNvGraphicFramePr>
            <a:graphicFrameLocks noGrp="1"/>
          </p:cNvGraphicFramePr>
          <p:nvPr>
            <p:extLst/>
          </p:nvPr>
        </p:nvGraphicFramePr>
        <p:xfrm>
          <a:off x="1434475" y="2470244"/>
          <a:ext cx="5610860" cy="1475994"/>
        </p:xfrm>
        <a:graphic>
          <a:graphicData uri="http://schemas.openxmlformats.org/drawingml/2006/table">
            <a:tbl>
              <a:tblPr firstRow="1" firstCol="1" bandRow="1">
                <a:tableStyleId>{E8B1032C-EA38-4F05-BA0D-38AFFFC7BED3}</a:tableStyleId>
              </a:tblPr>
              <a:tblGrid>
                <a:gridCol w="735330">
                  <a:extLst>
                    <a:ext uri="{9D8B030D-6E8A-4147-A177-3AD203B41FA5}">
                      <a16:colId xmlns:a16="http://schemas.microsoft.com/office/drawing/2014/main" val="20000"/>
                    </a:ext>
                  </a:extLst>
                </a:gridCol>
                <a:gridCol w="4875530">
                  <a:extLst>
                    <a:ext uri="{9D8B030D-6E8A-4147-A177-3AD203B41FA5}">
                      <a16:colId xmlns:a16="http://schemas.microsoft.com/office/drawing/2014/main" val="20001"/>
                    </a:ext>
                  </a:extLst>
                </a:gridCol>
              </a:tblGrid>
              <a:tr h="0">
                <a:tc>
                  <a:txBody>
                    <a:bodyPr/>
                    <a:lstStyle/>
                    <a:p>
                      <a:pPr algn="just">
                        <a:lnSpc>
                          <a:spcPct val="150000"/>
                        </a:lnSpc>
                        <a:spcAft>
                          <a:spcPts val="0"/>
                        </a:spcAft>
                      </a:pPr>
                      <a:r>
                        <a:rPr lang="fr-FR" sz="1200" dirty="0">
                          <a:effectLst/>
                        </a:rPr>
                        <a:t>+</a:t>
                      </a:r>
                      <a:endParaRPr lang="fr-F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1200" b="0" dirty="0">
                          <a:effectLst/>
                        </a:rPr>
                        <a:t>Tourne vers la droite selon le vecteur dirigé vers l’avant  (X)</a:t>
                      </a:r>
                      <a:endParaRPr lang="fr-FR" sz="12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0">
                <a:tc>
                  <a:txBody>
                    <a:bodyPr/>
                    <a:lstStyle/>
                    <a:p>
                      <a:pPr algn="just">
                        <a:lnSpc>
                          <a:spcPct val="150000"/>
                        </a:lnSpc>
                        <a:spcAft>
                          <a:spcPts val="0"/>
                        </a:spcAft>
                      </a:pPr>
                      <a:r>
                        <a:rPr lang="fr-FR" sz="1200">
                          <a:effectLst/>
                        </a:rPr>
                        <a:t>-</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1200" dirty="0">
                          <a:effectLst/>
                        </a:rPr>
                        <a:t>Tourne vers la gauche selon le vecteur dirigé vers l’avant (X)</a:t>
                      </a:r>
                      <a:endParaRPr lang="fr-F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0">
                <a:tc>
                  <a:txBody>
                    <a:bodyPr/>
                    <a:lstStyle/>
                    <a:p>
                      <a:pPr algn="just">
                        <a:lnSpc>
                          <a:spcPct val="150000"/>
                        </a:lnSpc>
                        <a:spcAft>
                          <a:spcPts val="0"/>
                        </a:spcAft>
                      </a:pPr>
                      <a:r>
                        <a:rPr lang="fr-FR" sz="1200">
                          <a:effectLst/>
                        </a:rPr>
                        <a:t>^</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1200" dirty="0">
                          <a:effectLst/>
                        </a:rPr>
                        <a:t>Tourne vers la droite selon le vecteur dirigé vers la droite (Y)</a:t>
                      </a:r>
                      <a:endParaRPr lang="fr-F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0">
                <a:tc>
                  <a:txBody>
                    <a:bodyPr/>
                    <a:lstStyle/>
                    <a:p>
                      <a:pPr algn="just">
                        <a:lnSpc>
                          <a:spcPct val="150000"/>
                        </a:lnSpc>
                        <a:spcAft>
                          <a:spcPts val="0"/>
                        </a:spcAft>
                      </a:pPr>
                      <a:r>
                        <a:rPr lang="fr-FR" sz="1200">
                          <a:effectLst/>
                        </a:rPr>
                        <a:t>&amp;</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1200">
                          <a:effectLst/>
                        </a:rPr>
                        <a:t>Tourne vers la gauche selon le vecteur dirigé vers la droite (Y)</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0">
                <a:tc>
                  <a:txBody>
                    <a:bodyPr/>
                    <a:lstStyle/>
                    <a:p>
                      <a:pPr algn="just">
                        <a:lnSpc>
                          <a:spcPct val="150000"/>
                        </a:lnSpc>
                        <a:spcAft>
                          <a:spcPts val="0"/>
                        </a:spcAft>
                      </a:pPr>
                      <a:r>
                        <a:rPr lang="fr-FR" sz="1200">
                          <a:effectLst/>
                        </a:rPr>
                        <a:t>&lt; </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1200">
                          <a:effectLst/>
                        </a:rPr>
                        <a:t>Tourne vers la droite selon le vecteur dirigé vers le haut  (Z)</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0">
                <a:tc>
                  <a:txBody>
                    <a:bodyPr/>
                    <a:lstStyle/>
                    <a:p>
                      <a:pPr algn="just">
                        <a:lnSpc>
                          <a:spcPct val="150000"/>
                        </a:lnSpc>
                        <a:spcAft>
                          <a:spcPts val="0"/>
                        </a:spcAft>
                      </a:pPr>
                      <a:r>
                        <a:rPr lang="fr-FR" sz="1200">
                          <a:effectLst/>
                        </a:rPr>
                        <a:t>&gt; </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1200" dirty="0">
                          <a:effectLst/>
                        </a:rPr>
                        <a:t>Tourne vers la gauche selon le vecteur dirigé vers le haut  (Z)</a:t>
                      </a:r>
                      <a:endParaRPr lang="fr-F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bl>
          </a:graphicData>
        </a:graphic>
      </p:graphicFrame>
      <p:graphicFrame>
        <p:nvGraphicFramePr>
          <p:cNvPr id="13" name="Tableau 12"/>
          <p:cNvGraphicFramePr>
            <a:graphicFrameLocks noGrp="1"/>
          </p:cNvGraphicFramePr>
          <p:nvPr>
            <p:extLst/>
          </p:nvPr>
        </p:nvGraphicFramePr>
        <p:xfrm>
          <a:off x="5145207" y="4303395"/>
          <a:ext cx="5610860" cy="2052955"/>
        </p:xfrm>
        <a:graphic>
          <a:graphicData uri="http://schemas.openxmlformats.org/drawingml/2006/table">
            <a:tbl>
              <a:tblPr firstRow="1" firstCol="1" bandRow="1">
                <a:tableStyleId>{E8B1032C-EA38-4F05-BA0D-38AFFFC7BED3}</a:tableStyleId>
              </a:tblPr>
              <a:tblGrid>
                <a:gridCol w="2805430">
                  <a:extLst>
                    <a:ext uri="{9D8B030D-6E8A-4147-A177-3AD203B41FA5}">
                      <a16:colId xmlns:a16="http://schemas.microsoft.com/office/drawing/2014/main" val="20000"/>
                    </a:ext>
                  </a:extLst>
                </a:gridCol>
                <a:gridCol w="2805430">
                  <a:extLst>
                    <a:ext uri="{9D8B030D-6E8A-4147-A177-3AD203B41FA5}">
                      <a16:colId xmlns:a16="http://schemas.microsoft.com/office/drawing/2014/main" val="20001"/>
                    </a:ext>
                  </a:extLst>
                </a:gridCol>
              </a:tblGrid>
              <a:tr h="0">
                <a:tc>
                  <a:txBody>
                    <a:bodyPr/>
                    <a:lstStyle/>
                    <a:p>
                      <a:pPr algn="just">
                        <a:lnSpc>
                          <a:spcPct val="150000"/>
                        </a:lnSpc>
                        <a:spcAft>
                          <a:spcPts val="0"/>
                        </a:spcAft>
                      </a:pPr>
                      <a:r>
                        <a:rPr lang="fr-FR" sz="1200" dirty="0">
                          <a:effectLst/>
                        </a:rPr>
                        <a:t>F</a:t>
                      </a:r>
                      <a:endParaRPr lang="fr-F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1200" b="0" dirty="0">
                          <a:effectLst/>
                        </a:rPr>
                        <a:t>Avancer en avant et dessiner un cône sur toute la longueur</a:t>
                      </a:r>
                      <a:endParaRPr lang="fr-FR" sz="12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0">
                <a:tc>
                  <a:txBody>
                    <a:bodyPr/>
                    <a:lstStyle/>
                    <a:p>
                      <a:pPr algn="just">
                        <a:lnSpc>
                          <a:spcPct val="150000"/>
                        </a:lnSpc>
                        <a:spcAft>
                          <a:spcPts val="0"/>
                        </a:spcAft>
                      </a:pPr>
                      <a:r>
                        <a:rPr lang="fr-FR" sz="1200">
                          <a:effectLst/>
                        </a:rPr>
                        <a:t>X</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1200" dirty="0">
                          <a:effectLst/>
                        </a:rPr>
                        <a:t>Avance en avant et dessiner un cône sur la moitié de la longueur de couleur verte</a:t>
                      </a:r>
                      <a:endParaRPr lang="fr-F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0">
                <a:tc>
                  <a:txBody>
                    <a:bodyPr/>
                    <a:lstStyle/>
                    <a:p>
                      <a:pPr algn="just">
                        <a:lnSpc>
                          <a:spcPct val="150000"/>
                        </a:lnSpc>
                        <a:spcAft>
                          <a:spcPts val="0"/>
                        </a:spcAft>
                      </a:pPr>
                      <a:r>
                        <a:rPr lang="fr-FR" sz="1200">
                          <a:effectLst/>
                        </a:rPr>
                        <a:t>Z</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1200">
                          <a:effectLst/>
                        </a:rPr>
                        <a:t>Avance en avant et dessine un cône sur la moitié de la longueur de couleur rouge</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0">
                <a:tc>
                  <a:txBody>
                    <a:bodyPr/>
                    <a:lstStyle/>
                    <a:p>
                      <a:pPr algn="just">
                        <a:lnSpc>
                          <a:spcPct val="150000"/>
                        </a:lnSpc>
                        <a:spcAft>
                          <a:spcPts val="0"/>
                        </a:spcAft>
                      </a:pPr>
                      <a:r>
                        <a:rPr lang="fr-FR" sz="1200">
                          <a:effectLst/>
                        </a:rPr>
                        <a:t>[</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1200">
                          <a:effectLst/>
                        </a:rPr>
                        <a:t>Mettre en mémoire la position </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0">
                <a:tc>
                  <a:txBody>
                    <a:bodyPr/>
                    <a:lstStyle/>
                    <a:p>
                      <a:pPr algn="just">
                        <a:lnSpc>
                          <a:spcPct val="150000"/>
                        </a:lnSpc>
                        <a:spcAft>
                          <a:spcPts val="0"/>
                        </a:spcAft>
                      </a:pPr>
                      <a:r>
                        <a:rPr lang="fr-FR" sz="1200">
                          <a:effectLst/>
                        </a:rPr>
                        <a:t>]</a:t>
                      </a:r>
                      <a:endParaRPr lang="fr-F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0"/>
                        </a:spcAft>
                      </a:pPr>
                      <a:r>
                        <a:rPr lang="fr-FR" sz="1200" dirty="0">
                          <a:effectLst/>
                        </a:rPr>
                        <a:t>Revenir à la position mise en mémoire</a:t>
                      </a:r>
                      <a:endParaRPr lang="fr-F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1488503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FR" sz="3200" dirty="0"/>
              <a:t>PROVISIONNER LA CROISSANCE ET LE DEVELOPPEMENT </a:t>
            </a:r>
            <a:br>
              <a:rPr lang="fr-FR" sz="3200" dirty="0"/>
            </a:br>
            <a:r>
              <a:rPr lang="fr-FR" sz="3200" dirty="0"/>
              <a:t>ETAPE 1 : MOYEN DE RECONSTRUCTION FORMEL</a:t>
            </a:r>
          </a:p>
        </p:txBody>
      </p:sp>
      <p:sp>
        <p:nvSpPr>
          <p:cNvPr id="3" name="Espace réservé du contenu 2"/>
          <p:cNvSpPr>
            <a:spLocks noGrp="1"/>
          </p:cNvSpPr>
          <p:nvPr>
            <p:ph idx="1"/>
          </p:nvPr>
        </p:nvSpPr>
        <p:spPr/>
        <p:txBody>
          <a:bodyPr/>
          <a:lstStyle/>
          <a:p>
            <a:r>
              <a:rPr lang="fr-FR" dirty="0"/>
              <a:t>STRUCTURE FRACTALE (L-SYSTEM)</a:t>
            </a:r>
          </a:p>
        </p:txBody>
      </p:sp>
      <p:sp>
        <p:nvSpPr>
          <p:cNvPr id="5" name="Espace réservé du numéro de diapositive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10F9B4-E45F-45DE-A182-D2D6DBA25399}"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Rectangle 2"/>
          <p:cNvSpPr>
            <a:spLocks noChangeArrowheads="1"/>
          </p:cNvSpPr>
          <p:nvPr/>
        </p:nvSpPr>
        <p:spPr bwMode="auto">
          <a:xfrm>
            <a:off x="1201003" y="262037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Rectangle 4"/>
          <p:cNvSpPr>
            <a:spLocks noChangeArrowheads="1"/>
          </p:cNvSpPr>
          <p:nvPr/>
        </p:nvSpPr>
        <p:spPr bwMode="auto">
          <a:xfrm>
            <a:off x="5677469" y="44338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Image 8"/>
          <p:cNvPicPr/>
          <p:nvPr/>
        </p:nvPicPr>
        <p:blipFill>
          <a:blip r:embed="rId3">
            <a:extLst>
              <a:ext uri="{28A0092B-C50C-407E-A947-70E740481C1C}">
                <a14:useLocalDpi xmlns:a14="http://schemas.microsoft.com/office/drawing/2010/main" val="0"/>
              </a:ext>
            </a:extLst>
          </a:blip>
          <a:srcRect/>
          <a:stretch>
            <a:fillRect/>
          </a:stretch>
        </p:blipFill>
        <p:spPr bwMode="auto">
          <a:xfrm>
            <a:off x="838200" y="3011964"/>
            <a:ext cx="2623820" cy="1978660"/>
          </a:xfrm>
          <a:prstGeom prst="rect">
            <a:avLst/>
          </a:prstGeom>
          <a:noFill/>
          <a:ln>
            <a:noFill/>
          </a:ln>
        </p:spPr>
      </p:pic>
      <p:sp>
        <p:nvSpPr>
          <p:cNvPr id="10" name="Rectangle 9"/>
          <p:cNvSpPr/>
          <p:nvPr/>
        </p:nvSpPr>
        <p:spPr>
          <a:xfrm>
            <a:off x="1224209" y="2359611"/>
            <a:ext cx="176080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srgbClr val="5B9BD5"/>
                </a:solidFill>
                <a:effectLst/>
                <a:uLnTx/>
                <a:uFillTx/>
                <a:latin typeface="Calibri" panose="020F0502020204030204" pitchFamily="34" charset="0"/>
                <a:ea typeface="Calibri" panose="020F0502020204030204" pitchFamily="34" charset="0"/>
                <a:cs typeface="Times New Roman" panose="02020603050405020304" pitchFamily="18" charset="0"/>
              </a:rPr>
              <a:t>« Arbre binaire »</a:t>
            </a: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3" name="Image 12" descr="C:\Users\Oussama\Desktop\130objetLsystelm.jpg"/>
          <p:cNvPicPr/>
          <p:nvPr/>
        </p:nvPicPr>
        <p:blipFill>
          <a:blip r:embed="rId4">
            <a:extLst>
              <a:ext uri="{28A0092B-C50C-407E-A947-70E740481C1C}">
                <a14:useLocalDpi xmlns:a14="http://schemas.microsoft.com/office/drawing/2010/main" val="0"/>
              </a:ext>
            </a:extLst>
          </a:blip>
          <a:srcRect/>
          <a:stretch>
            <a:fillRect/>
          </a:stretch>
        </p:blipFill>
        <p:spPr bwMode="auto">
          <a:xfrm>
            <a:off x="6969007" y="2987214"/>
            <a:ext cx="2623820" cy="2302585"/>
          </a:xfrm>
          <a:prstGeom prst="rect">
            <a:avLst/>
          </a:prstGeom>
          <a:noFill/>
          <a:ln>
            <a:noFill/>
          </a:ln>
        </p:spPr>
      </p:pic>
      <p:pic>
        <p:nvPicPr>
          <p:cNvPr id="14" name="Image 13" descr="C:\Users\Oussama\Desktop\18000objet.jpg"/>
          <p:cNvPicPr/>
          <p:nvPr/>
        </p:nvPicPr>
        <p:blipFill>
          <a:blip r:embed="rId5">
            <a:extLst>
              <a:ext uri="{28A0092B-C50C-407E-A947-70E740481C1C}">
                <a14:useLocalDpi xmlns:a14="http://schemas.microsoft.com/office/drawing/2010/main" val="0"/>
              </a:ext>
            </a:extLst>
          </a:blip>
          <a:srcRect/>
          <a:stretch>
            <a:fillRect/>
          </a:stretch>
        </p:blipFill>
        <p:spPr bwMode="auto">
          <a:xfrm>
            <a:off x="3946964" y="3013848"/>
            <a:ext cx="2658745" cy="1999615"/>
          </a:xfrm>
          <a:prstGeom prst="rect">
            <a:avLst/>
          </a:prstGeom>
          <a:noFill/>
          <a:ln>
            <a:noFill/>
          </a:ln>
        </p:spPr>
      </p:pic>
      <p:sp>
        <p:nvSpPr>
          <p:cNvPr id="15" name="Rectangle 14"/>
          <p:cNvSpPr/>
          <p:nvPr/>
        </p:nvSpPr>
        <p:spPr>
          <a:xfrm>
            <a:off x="4014743" y="2361261"/>
            <a:ext cx="259096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srgbClr val="5B9BD5"/>
                </a:solidFill>
                <a:effectLst/>
                <a:uLnTx/>
                <a:uFillTx/>
                <a:latin typeface="Calibri" panose="020F0502020204030204" pitchFamily="34" charset="0"/>
                <a:ea typeface="Calibri" panose="020F0502020204030204" pitchFamily="34" charset="0"/>
                <a:cs typeface="Times New Roman" panose="02020603050405020304" pitchFamily="18" charset="0"/>
              </a:rPr>
              <a:t>« Arbre tridimensionnel »</a:t>
            </a: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Rectangle 15"/>
          <p:cNvSpPr/>
          <p:nvPr/>
        </p:nvSpPr>
        <p:spPr>
          <a:xfrm>
            <a:off x="8011426" y="2361261"/>
            <a:ext cx="2480679"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srgbClr val="5B9BD5"/>
                </a:solidFill>
                <a:effectLst/>
                <a:uLnTx/>
                <a:uFillTx/>
                <a:latin typeface="Calibri" panose="020F0502020204030204" pitchFamily="34" charset="0"/>
                <a:ea typeface="Calibri" panose="020F0502020204030204" pitchFamily="34" charset="0"/>
                <a:cs typeface="Times New Roman" panose="02020603050405020304" pitchFamily="18" charset="0"/>
              </a:rPr>
              <a:t>«Architecture végétale »</a:t>
            </a: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7" name="Image 16" descr="C:\Users\Oussama\Desktop\resultat simulation\avec phylotaxie.jpg"/>
          <p:cNvPicPr/>
          <p:nvPr/>
        </p:nvPicPr>
        <p:blipFill>
          <a:blip r:embed="rId6">
            <a:extLst>
              <a:ext uri="{28A0092B-C50C-407E-A947-70E740481C1C}">
                <a14:useLocalDpi xmlns:a14="http://schemas.microsoft.com/office/drawing/2010/main" val="0"/>
              </a:ext>
            </a:extLst>
          </a:blip>
          <a:srcRect/>
          <a:stretch>
            <a:fillRect/>
          </a:stretch>
        </p:blipFill>
        <p:spPr bwMode="auto">
          <a:xfrm>
            <a:off x="9144489" y="2987214"/>
            <a:ext cx="2694255" cy="2118036"/>
          </a:xfrm>
          <a:prstGeom prst="rect">
            <a:avLst/>
          </a:prstGeom>
          <a:noFill/>
          <a:ln>
            <a:noFill/>
          </a:ln>
        </p:spPr>
      </p:pic>
    </p:spTree>
    <p:extLst>
      <p:ext uri="{BB962C8B-B14F-4D97-AF65-F5344CB8AC3E}">
        <p14:creationId xmlns:p14="http://schemas.microsoft.com/office/powerpoint/2010/main" val="26745080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FR" sz="3200" dirty="0"/>
              <a:t>PROVISIONNER LA CROISSANCE ET LE DEVELOPPEMENT </a:t>
            </a:r>
            <a:br>
              <a:rPr lang="fr-FR" sz="3200" dirty="0"/>
            </a:br>
            <a:r>
              <a:rPr lang="fr-FR" sz="3200" dirty="0"/>
              <a:t>ETAPE 1 : MOYEN DE RECONSTRUCTION FORMEL</a:t>
            </a:r>
          </a:p>
        </p:txBody>
      </p:sp>
      <p:sp>
        <p:nvSpPr>
          <p:cNvPr id="3" name="Espace réservé du contenu 2"/>
          <p:cNvSpPr>
            <a:spLocks noGrp="1"/>
          </p:cNvSpPr>
          <p:nvPr>
            <p:ph idx="1"/>
          </p:nvPr>
        </p:nvSpPr>
        <p:spPr/>
        <p:txBody>
          <a:bodyPr/>
          <a:lstStyle/>
          <a:p>
            <a:r>
              <a:rPr lang="fr-FR" dirty="0"/>
              <a:t>STRUCTURE FRACTALE (L-SYSTEM)</a:t>
            </a:r>
          </a:p>
        </p:txBody>
      </p:sp>
      <p:sp>
        <p:nvSpPr>
          <p:cNvPr id="10" name="Espace réservé du numéro de diapositive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10F9B4-E45F-45DE-A182-D2D6DBA25399}"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Rectangle 2"/>
          <p:cNvSpPr>
            <a:spLocks noChangeArrowheads="1"/>
          </p:cNvSpPr>
          <p:nvPr/>
        </p:nvSpPr>
        <p:spPr bwMode="auto">
          <a:xfrm>
            <a:off x="1201003" y="262037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Rectangle 4"/>
          <p:cNvSpPr>
            <a:spLocks noChangeArrowheads="1"/>
          </p:cNvSpPr>
          <p:nvPr/>
        </p:nvSpPr>
        <p:spPr bwMode="auto">
          <a:xfrm>
            <a:off x="5677469" y="44338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5" name="Objet 4"/>
          <p:cNvGraphicFramePr>
            <a:graphicFrameLocks noChangeAspect="1"/>
          </p:cNvGraphicFramePr>
          <p:nvPr>
            <p:extLst/>
          </p:nvPr>
        </p:nvGraphicFramePr>
        <p:xfrm>
          <a:off x="1180327" y="2326915"/>
          <a:ext cx="2780154" cy="4213944"/>
        </p:xfrm>
        <a:graphic>
          <a:graphicData uri="http://schemas.openxmlformats.org/presentationml/2006/ole">
            <mc:AlternateContent xmlns:mc="http://schemas.openxmlformats.org/markup-compatibility/2006">
              <mc:Choice xmlns:v="urn:schemas-microsoft-com:vml" Requires="v">
                <p:oleObj spid="_x0000_s5125" name="Image bitmap" r:id="rId4" imgW="3990476" imgH="5952381" progId="Paint.Picture">
                  <p:embed/>
                </p:oleObj>
              </mc:Choice>
              <mc:Fallback>
                <p:oleObj name="Image bitmap" r:id="rId4" imgW="3990476" imgH="5952381" progId="Paint.Picture">
                  <p:embed/>
                  <p:pic>
                    <p:nvPicPr>
                      <p:cNvPr id="5" name="Obje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0327" y="2326915"/>
                        <a:ext cx="2780154" cy="4213944"/>
                      </a:xfrm>
                      <a:prstGeom prst="rect">
                        <a:avLst/>
                      </a:prstGeom>
                      <a:noFill/>
                    </p:spPr>
                  </p:pic>
                </p:oleObj>
              </mc:Fallback>
            </mc:AlternateContent>
          </a:graphicData>
        </a:graphic>
      </p:graphicFrame>
      <p:graphicFrame>
        <p:nvGraphicFramePr>
          <p:cNvPr id="6" name="Objet 5"/>
          <p:cNvGraphicFramePr>
            <a:graphicFrameLocks noChangeAspect="1"/>
          </p:cNvGraphicFramePr>
          <p:nvPr>
            <p:extLst/>
          </p:nvPr>
        </p:nvGraphicFramePr>
        <p:xfrm>
          <a:off x="4441919" y="2451557"/>
          <a:ext cx="1564985" cy="3912463"/>
        </p:xfrm>
        <a:graphic>
          <a:graphicData uri="http://schemas.openxmlformats.org/presentationml/2006/ole">
            <mc:AlternateContent xmlns:mc="http://schemas.openxmlformats.org/markup-compatibility/2006">
              <mc:Choice xmlns:v="urn:schemas-microsoft-com:vml" Requires="v">
                <p:oleObj spid="_x0000_s5126" name="Image bitmap" r:id="rId6" imgW="1733333" imgH="4571429" progId="Paint.Picture">
                  <p:embed/>
                </p:oleObj>
              </mc:Choice>
              <mc:Fallback>
                <p:oleObj name="Image bitmap" r:id="rId6" imgW="1733333" imgH="4571429" progId="Paint.Picture">
                  <p:embed/>
                  <p:pic>
                    <p:nvPicPr>
                      <p:cNvPr id="6" name="Obje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41919" y="2451557"/>
                        <a:ext cx="1564985" cy="3912463"/>
                      </a:xfrm>
                      <a:prstGeom prst="rect">
                        <a:avLst/>
                      </a:prstGeom>
                      <a:noFill/>
                    </p:spPr>
                  </p:pic>
                </p:oleObj>
              </mc:Fallback>
            </mc:AlternateContent>
          </a:graphicData>
        </a:graphic>
      </p:graphicFrame>
      <p:graphicFrame>
        <p:nvGraphicFramePr>
          <p:cNvPr id="8" name="Objet 7"/>
          <p:cNvGraphicFramePr>
            <a:graphicFrameLocks noChangeAspect="1"/>
          </p:cNvGraphicFramePr>
          <p:nvPr>
            <p:extLst/>
          </p:nvPr>
        </p:nvGraphicFramePr>
        <p:xfrm>
          <a:off x="6488342" y="3038700"/>
          <a:ext cx="5027230" cy="3231791"/>
        </p:xfrm>
        <a:graphic>
          <a:graphicData uri="http://schemas.openxmlformats.org/presentationml/2006/ole">
            <mc:AlternateContent xmlns:mc="http://schemas.openxmlformats.org/markup-compatibility/2006">
              <mc:Choice xmlns:v="urn:schemas-microsoft-com:vml" Requires="v">
                <p:oleObj spid="_x0000_s5127" name="Image bitmap" r:id="rId8" imgW="5838095" imgH="3801006" progId="Paint.Picture">
                  <p:embed/>
                </p:oleObj>
              </mc:Choice>
              <mc:Fallback>
                <p:oleObj name="Image bitmap" r:id="rId8" imgW="5838095" imgH="3801006" progId="Paint.Picture">
                  <p:embed/>
                  <p:pic>
                    <p:nvPicPr>
                      <p:cNvPr id="8" name="Obje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88342" y="3038700"/>
                        <a:ext cx="5027230" cy="3231791"/>
                      </a:xfrm>
                      <a:prstGeom prst="rect">
                        <a:avLst/>
                      </a:prstGeom>
                      <a:noFill/>
                    </p:spPr>
                  </p:pic>
                </p:oleObj>
              </mc:Fallback>
            </mc:AlternateContent>
          </a:graphicData>
        </a:graphic>
      </p:graphicFrame>
      <p:sp>
        <p:nvSpPr>
          <p:cNvPr id="9" name="Rectangle 4"/>
          <p:cNvSpPr>
            <a:spLocks noChangeArrowheads="1"/>
          </p:cNvSpPr>
          <p:nvPr/>
        </p:nvSpPr>
        <p:spPr bwMode="auto">
          <a:xfrm>
            <a:off x="3384645" y="262037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413273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FR" sz="3200" dirty="0"/>
              <a:t>PROVISIONNER LA CROISSANCE ET LE DEVELOPPEMENT </a:t>
            </a:r>
            <a:br>
              <a:rPr lang="fr-FR" sz="3200" dirty="0"/>
            </a:br>
            <a:r>
              <a:rPr lang="fr-FR" sz="3200" dirty="0"/>
              <a:t>ETAPE 1 : MOYEN DE RECONSTRUCTION FORMEL</a:t>
            </a:r>
          </a:p>
        </p:txBody>
      </p:sp>
      <p:sp>
        <p:nvSpPr>
          <p:cNvPr id="3" name="Espace réservé du contenu 2"/>
          <p:cNvSpPr>
            <a:spLocks noGrp="1"/>
          </p:cNvSpPr>
          <p:nvPr>
            <p:ph idx="1"/>
          </p:nvPr>
        </p:nvSpPr>
        <p:spPr/>
        <p:txBody>
          <a:bodyPr/>
          <a:lstStyle/>
          <a:p>
            <a:r>
              <a:rPr lang="fr-FR" dirty="0"/>
              <a:t>STRUCTURE FRACTALE (L-SYSTEM)</a:t>
            </a:r>
          </a:p>
        </p:txBody>
      </p:sp>
      <p:sp>
        <p:nvSpPr>
          <p:cNvPr id="5" name="Espace réservé du numéro de diapositive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10F9B4-E45F-45DE-A182-D2D6DBA25399}"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Rectangle 2"/>
          <p:cNvSpPr>
            <a:spLocks noChangeArrowheads="1"/>
          </p:cNvSpPr>
          <p:nvPr/>
        </p:nvSpPr>
        <p:spPr bwMode="auto">
          <a:xfrm>
            <a:off x="1201003" y="262037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Rectangle 4"/>
          <p:cNvSpPr>
            <a:spLocks noChangeArrowheads="1"/>
          </p:cNvSpPr>
          <p:nvPr/>
        </p:nvSpPr>
        <p:spPr bwMode="auto">
          <a:xfrm>
            <a:off x="5677469" y="44338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 name="Image 7" descr="C:\Users\Oussama\Desktop\stochastiqueLsystestFfF[f]f4510.jpg"/>
          <p:cNvPicPr/>
          <p:nvPr/>
        </p:nvPicPr>
        <p:blipFill>
          <a:blip r:embed="rId3">
            <a:extLst>
              <a:ext uri="{28A0092B-C50C-407E-A947-70E740481C1C}">
                <a14:useLocalDpi xmlns:a14="http://schemas.microsoft.com/office/drawing/2010/main" val="0"/>
              </a:ext>
            </a:extLst>
          </a:blip>
          <a:srcRect/>
          <a:stretch>
            <a:fillRect/>
          </a:stretch>
        </p:blipFill>
        <p:spPr bwMode="auto">
          <a:xfrm>
            <a:off x="2974274" y="2755308"/>
            <a:ext cx="2703195" cy="2028825"/>
          </a:xfrm>
          <a:prstGeom prst="rect">
            <a:avLst/>
          </a:prstGeom>
          <a:noFill/>
          <a:ln>
            <a:noFill/>
          </a:ln>
        </p:spPr>
      </p:pic>
      <p:pic>
        <p:nvPicPr>
          <p:cNvPr id="9" name="Image 8" descr="C:\Users\Oussama\Desktop\objet d'import.jp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35071" y="3196419"/>
            <a:ext cx="1755775" cy="1317625"/>
          </a:xfrm>
          <a:prstGeom prst="rect">
            <a:avLst/>
          </a:prstGeom>
          <a:noFill/>
          <a:ln>
            <a:noFill/>
          </a:ln>
        </p:spPr>
      </p:pic>
      <p:pic>
        <p:nvPicPr>
          <p:cNvPr id="10" name="Image 9" descr="C:\Users\Oussama\Desktop\resultat simulation\X[+x]F evolution.jp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073733" y="2160227"/>
            <a:ext cx="2563495" cy="1923415"/>
          </a:xfrm>
          <a:prstGeom prst="rect">
            <a:avLst/>
          </a:prstGeom>
          <a:noFill/>
          <a:ln>
            <a:noFill/>
          </a:ln>
        </p:spPr>
      </p:pic>
      <p:pic>
        <p:nvPicPr>
          <p:cNvPr id="11" name="Image 10" descr="C:\Users\Oussama\Desktop\resultat simulation\X[+F]x evolution.jpg"/>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595745" y="2208676"/>
            <a:ext cx="2194560" cy="1646555"/>
          </a:xfrm>
          <a:prstGeom prst="rect">
            <a:avLst/>
          </a:prstGeom>
          <a:noFill/>
          <a:ln>
            <a:noFill/>
          </a:ln>
        </p:spPr>
      </p:pic>
      <p:pic>
        <p:nvPicPr>
          <p:cNvPr id="12" name="Image 11" descr="C:\Users\Oussama\Desktop\resultat simulation\xX[+F]X[-F]X[+z]...x zX[+F]X[-F]z evolution.jpg"/>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813543" y="3526961"/>
            <a:ext cx="2581275" cy="1936750"/>
          </a:xfrm>
          <a:prstGeom prst="rect">
            <a:avLst/>
          </a:prstGeom>
          <a:noFill/>
          <a:ln>
            <a:noFill/>
          </a:ln>
        </p:spPr>
      </p:pic>
      <p:pic>
        <p:nvPicPr>
          <p:cNvPr id="13" name="Image 12" descr="C:\Users\Oussama\Desktop\resultat simulation\Lsys stoch partie.exp.lineai.seuil.jpg"/>
          <p:cNvPicPr/>
          <p:nvPr/>
        </p:nvPicPr>
        <p:blipFill>
          <a:blip r:embed="rId8">
            <a:extLst>
              <a:ext uri="{28A0092B-C50C-407E-A947-70E740481C1C}">
                <a14:useLocalDpi xmlns:a14="http://schemas.microsoft.com/office/drawing/2010/main" val="0"/>
              </a:ext>
            </a:extLst>
          </a:blip>
          <a:srcRect/>
          <a:stretch>
            <a:fillRect/>
          </a:stretch>
        </p:blipFill>
        <p:spPr bwMode="auto">
          <a:xfrm>
            <a:off x="1201003" y="4487417"/>
            <a:ext cx="6188319" cy="2142841"/>
          </a:xfrm>
          <a:prstGeom prst="rect">
            <a:avLst/>
          </a:prstGeom>
          <a:noFill/>
          <a:ln>
            <a:noFill/>
          </a:ln>
        </p:spPr>
      </p:pic>
    </p:spTree>
    <p:extLst>
      <p:ext uri="{BB962C8B-B14F-4D97-AF65-F5344CB8AC3E}">
        <p14:creationId xmlns:p14="http://schemas.microsoft.com/office/powerpoint/2010/main" val="4759770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FR" sz="3200" dirty="0"/>
              <a:t>PROVISIONNER LA CROISSANCE ET LE DEVELOPPEMENT </a:t>
            </a:r>
            <a:br>
              <a:rPr lang="fr-FR" sz="3200" dirty="0"/>
            </a:br>
            <a:r>
              <a:rPr lang="fr-FR" sz="3200" dirty="0"/>
              <a:t>ETAPE 1 : MOYEN DE RECONSTRUCTION FORMEL</a:t>
            </a:r>
          </a:p>
        </p:txBody>
      </p:sp>
      <p:sp>
        <p:nvSpPr>
          <p:cNvPr id="3" name="Espace réservé du contenu 2"/>
          <p:cNvSpPr>
            <a:spLocks noGrp="1"/>
          </p:cNvSpPr>
          <p:nvPr>
            <p:ph idx="1"/>
          </p:nvPr>
        </p:nvSpPr>
        <p:spPr/>
        <p:txBody>
          <a:bodyPr/>
          <a:lstStyle/>
          <a:p>
            <a:r>
              <a:rPr lang="fr-FR" dirty="0"/>
              <a:t>STRUCTURE FRACTALE (L-SYSTEM)</a:t>
            </a:r>
          </a:p>
        </p:txBody>
      </p:sp>
      <p:sp>
        <p:nvSpPr>
          <p:cNvPr id="5" name="Espace réservé du numéro de diapositive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10F9B4-E45F-45DE-A182-D2D6DBA25399}"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Rectangle 2"/>
          <p:cNvSpPr>
            <a:spLocks noChangeArrowheads="1"/>
          </p:cNvSpPr>
          <p:nvPr/>
        </p:nvSpPr>
        <p:spPr bwMode="auto">
          <a:xfrm>
            <a:off x="1201003" y="262037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Rectangle 4"/>
          <p:cNvSpPr>
            <a:spLocks noChangeArrowheads="1"/>
          </p:cNvSpPr>
          <p:nvPr/>
        </p:nvSpPr>
        <p:spPr bwMode="auto">
          <a:xfrm>
            <a:off x="5677469" y="44338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Rectangle 2"/>
          <p:cNvSpPr>
            <a:spLocks noChangeArrowheads="1"/>
          </p:cNvSpPr>
          <p:nvPr/>
        </p:nvSpPr>
        <p:spPr bwMode="auto">
          <a:xfrm>
            <a:off x="1201003" y="2485432"/>
            <a:ext cx="19398240"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8" name="Objet 7"/>
          <p:cNvGraphicFramePr>
            <a:graphicFrameLocks noChangeAspect="1"/>
          </p:cNvGraphicFramePr>
          <p:nvPr>
            <p:extLst/>
          </p:nvPr>
        </p:nvGraphicFramePr>
        <p:xfrm>
          <a:off x="1201003" y="2485433"/>
          <a:ext cx="7410734" cy="3909958"/>
        </p:xfrm>
        <a:graphic>
          <a:graphicData uri="http://schemas.openxmlformats.org/presentationml/2006/ole">
            <mc:AlternateContent xmlns:mc="http://schemas.openxmlformats.org/markup-compatibility/2006">
              <mc:Choice xmlns:v="urn:schemas-microsoft-com:vml" Requires="v">
                <p:oleObj spid="_x0000_s6147" name="Image bitmap" r:id="rId4" imgW="10666667" imgH="5723810" progId="Paint.Picture">
                  <p:embed/>
                </p:oleObj>
              </mc:Choice>
              <mc:Fallback>
                <p:oleObj name="Image bitmap" r:id="rId4" imgW="10666667" imgH="5723810" progId="Paint.Picture">
                  <p:embed/>
                  <p:pic>
                    <p:nvPicPr>
                      <p:cNvPr id="8" name="Obje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01003" y="2485433"/>
                        <a:ext cx="7410734" cy="3909958"/>
                      </a:xfrm>
                      <a:prstGeom prst="rect">
                        <a:avLst/>
                      </a:prstGeom>
                      <a:noFill/>
                    </p:spPr>
                  </p:pic>
                </p:oleObj>
              </mc:Fallback>
            </mc:AlternateContent>
          </a:graphicData>
        </a:graphic>
      </p:graphicFrame>
    </p:spTree>
    <p:extLst>
      <p:ext uri="{BB962C8B-B14F-4D97-AF65-F5344CB8AC3E}">
        <p14:creationId xmlns:p14="http://schemas.microsoft.com/office/powerpoint/2010/main" val="3522290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FR" sz="3200" dirty="0"/>
              <a:t>PROVISIONNER LA CROISSANCE ET LE DEVELOPPEMENT </a:t>
            </a:r>
            <a:br>
              <a:rPr lang="fr-FR" sz="3200" dirty="0"/>
            </a:br>
            <a:r>
              <a:rPr lang="fr-FR" sz="3200" dirty="0"/>
              <a:t>ETAPE 1 : MOYEN DE RECONSTRUCTION FORMEL</a:t>
            </a:r>
          </a:p>
        </p:txBody>
      </p:sp>
      <p:sp>
        <p:nvSpPr>
          <p:cNvPr id="3" name="Espace réservé du contenu 2"/>
          <p:cNvSpPr>
            <a:spLocks noGrp="1"/>
          </p:cNvSpPr>
          <p:nvPr>
            <p:ph idx="1"/>
          </p:nvPr>
        </p:nvSpPr>
        <p:spPr/>
        <p:txBody>
          <a:bodyPr/>
          <a:lstStyle/>
          <a:p>
            <a:r>
              <a:rPr lang="fr-FR" dirty="0"/>
              <a:t>STRUCTURE FRACTALE (L-SYSTEM)</a:t>
            </a:r>
          </a:p>
        </p:txBody>
      </p:sp>
      <p:sp>
        <p:nvSpPr>
          <p:cNvPr id="5" name="Espace réservé du numéro de diapositive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10F9B4-E45F-45DE-A182-D2D6DBA25399}"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Rectangle 2"/>
          <p:cNvSpPr>
            <a:spLocks noChangeArrowheads="1"/>
          </p:cNvSpPr>
          <p:nvPr/>
        </p:nvSpPr>
        <p:spPr bwMode="auto">
          <a:xfrm>
            <a:off x="1201003" y="262037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Rectangle 4"/>
          <p:cNvSpPr>
            <a:spLocks noChangeArrowheads="1"/>
          </p:cNvSpPr>
          <p:nvPr/>
        </p:nvSpPr>
        <p:spPr bwMode="auto">
          <a:xfrm>
            <a:off x="5677469" y="44338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Rectangle 7"/>
          <p:cNvSpPr/>
          <p:nvPr/>
        </p:nvSpPr>
        <p:spPr>
          <a:xfrm>
            <a:off x="8192069" y="1892811"/>
            <a:ext cx="6096000" cy="1338828"/>
          </a:xfrm>
          <a:prstGeom prst="rect">
            <a:avLst/>
          </a:prstGeom>
        </p:spPr>
        <p:txBody>
          <a:bodyPr>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Angle de branchement </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Angle de phyllotaxie cumulé</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Angle de phyllotaxie fixe</a:t>
            </a:r>
          </a:p>
        </p:txBody>
      </p:sp>
      <mc:AlternateContent xmlns:mc="http://schemas.openxmlformats.org/markup-compatibility/2006" xmlns:a14="http://schemas.microsoft.com/office/drawing/2010/main">
        <mc:Choice Requires="a14">
          <p:sp>
            <p:nvSpPr>
              <p:cNvPr id="6" name="Rectangle 5"/>
              <p:cNvSpPr/>
              <p:nvPr/>
            </p:nvSpPr>
            <p:spPr>
              <a:xfrm>
                <a:off x="1000836" y="2755308"/>
                <a:ext cx="9876430" cy="3361561"/>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Sachant que :</a:t>
                </a:r>
                <a:endParaRPr kumimoji="0" lang="fr-FR"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28600" marR="0" lvl="0" indent="0" algn="just" defTabSz="914400" rtl="0" eaLnBrk="1" fontAlgn="auto" latinLnBrk="0" hangingPunct="1">
                  <a:lnSpc>
                    <a:spcPct val="100000"/>
                  </a:lnSpc>
                  <a:spcBef>
                    <a:spcPts val="0"/>
                  </a:spcBef>
                  <a:spcAft>
                    <a:spcPts val="0"/>
                  </a:spcAft>
                  <a:buClrTx/>
                  <a:buSzTx/>
                  <a:buFontTx/>
                  <a:buNone/>
                  <a:tabLst>
                    <a:tab pos="900430" algn="l"/>
                    <a:tab pos="5581015" algn="r"/>
                  </a:tabLst>
                  <a:defRPr/>
                </a:pPr>
                <a:r>
                  <a:rPr kumimoji="0" lang="fr-FR" sz="14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acc>
                      <m:accPr>
                        <m:chr m:val="⃗"/>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accPr>
                      <m:e>
                        <m:sSubSup>
                          <m:sSubSup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Sup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𝑢</m:t>
                            </m:r>
                          </m:e>
                          <m:sub>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𝑧</m:t>
                            </m:r>
                          </m:sub>
                          <m:sup>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p>
                        </m:sSubSup>
                      </m:e>
                    </m:acc>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𝑅</m:t>
                        </m:r>
                      </m:e>
                      <m:sub>
                        <m:f>
                          <m:f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acc>
                              <m:accPr>
                                <m:chr m:val="⃗"/>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accPr>
                              <m:e>
                                <m:sSubSup>
                                  <m:sSubSup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Sup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𝑢</m:t>
                                    </m:r>
                                  </m:e>
                                  <m:sub>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𝑧</m:t>
                                    </m:r>
                                  </m:sub>
                                  <m:sup>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p>
                                </m:sSubSup>
                              </m:e>
                            </m:acc>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acc>
                              <m:accPr>
                                <m:chr m:val="⃗"/>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accPr>
                              <m:e>
                                <m:sSubSup>
                                  <m:sSubSup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Sup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𝑢</m:t>
                                    </m:r>
                                  </m:e>
                                  <m:sub>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𝑧</m:t>
                                    </m:r>
                                  </m:sub>
                                  <m:sup>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p>
                                </m:sSubSup>
                              </m:e>
                            </m:acc>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num>
                          <m:den>
                            <m:d>
                              <m:dPr>
                                <m:begChr m:val="‖"/>
                                <m:endChr m:val="‖"/>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acc>
                                  <m:accPr>
                                    <m:chr m:val="⃗"/>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accPr>
                                  <m:e>
                                    <m:sSubSup>
                                      <m:sSubSup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Sup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𝑢</m:t>
                                        </m:r>
                                      </m:e>
                                      <m:sub>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𝑧</m:t>
                                        </m:r>
                                      </m:sub>
                                      <m:sup>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p>
                                    </m:sSubSup>
                                  </m:e>
                                </m:acc>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acc>
                                  <m:accPr>
                                    <m:chr m:val="⃗"/>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accPr>
                                  <m:e>
                                    <m:sSubSup>
                                      <m:sSubSup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Sup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𝑢</m:t>
                                        </m:r>
                                      </m:e>
                                      <m:sub>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𝑧</m:t>
                                        </m:r>
                                      </m:sub>
                                      <m:sup>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p>
                                    </m:sSubSup>
                                  </m:e>
                                </m:acc>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e>
                            </m:d>
                          </m:den>
                        </m:f>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sSub>
                          <m:sSub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𝛼</m:t>
                            </m:r>
                          </m:e>
                          <m:sub>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𝑦</m:t>
                            </m:r>
                          </m:sub>
                        </m:sSub>
                      </m:sub>
                    </m:sSub>
                    <m:acc>
                      <m:accPr>
                        <m:chr m:val="⃗"/>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accPr>
                      <m:e>
                        <m:sSubSup>
                          <m:sSubSup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Sup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𝑢</m:t>
                            </m:r>
                          </m:e>
                          <m:sub>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𝑧</m:t>
                            </m:r>
                          </m:sub>
                          <m:sup>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p>
                        </m:sSubSup>
                      </m:e>
                    </m:acc>
                  </m:oMath>
                </a14:m>
                <a:r>
                  <a:rPr kumimoji="0" lang="fr-FR" sz="1400" b="0" i="0" u="none" strike="noStrike" kern="1200" cap="none" spc="0" normalizeH="0" baseline="0" noProof="0" dirty="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a:t> si </a:t>
                </a:r>
                <a14:m>
                  <m:oMath xmlns:m="http://schemas.openxmlformats.org/officeDocument/2006/math">
                    <m:d>
                      <m:dPr>
                        <m:begChr m:val="‖"/>
                        <m:endChr m:val="‖"/>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acc>
                          <m:accPr>
                            <m:chr m:val="⃗"/>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accPr>
                          <m:e>
                            <m:sSubSup>
                              <m:sSubSup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Sup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𝑢</m:t>
                                </m:r>
                              </m:e>
                              <m:sub>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𝑧</m:t>
                                </m:r>
                              </m:sub>
                              <m:sup>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p>
                            </m:sSubSup>
                          </m:e>
                        </m:acc>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acc>
                          <m:accPr>
                            <m:chr m:val="⃗"/>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accPr>
                          <m:e>
                            <m:sSubSup>
                              <m:sSubSup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Sup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𝑢</m:t>
                                </m:r>
                              </m:e>
                              <m:sub>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𝑧</m:t>
                                </m:r>
                              </m:sub>
                              <m:sup>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p>
                            </m:sSubSup>
                          </m:e>
                        </m:acc>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e>
                    </m:d>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m:t>
                    </m:r>
                  </m:oMath>
                </a14:m>
                <a:r>
                  <a:rPr kumimoji="0" lang="fr-FR" sz="1400" b="0" i="0" u="none" strike="noStrike" kern="1200" cap="none" spc="0" normalizeH="0" baseline="0" noProof="0" dirty="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a:t> 	(2.16)</a:t>
                </a:r>
                <a:endParaRPr kumimoji="0" lang="fr-FR"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Alors nous faisons varier </a:t>
                </a:r>
                <a14:m>
                  <m:oMath xmlns:m="http://schemas.openxmlformats.org/officeDocument/2006/math">
                    <m:sSub>
                      <m:sSub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𝛼</m:t>
                        </m:r>
                      </m:e>
                      <m:sub>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𝑦</m:t>
                        </m:r>
                      </m:sub>
                    </m:sSub>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0°,180°</m:t>
                        </m:r>
                      </m:e>
                    </m:d>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a14:m>
                <a:r>
                  <a:rPr kumimoji="0" lang="fr-FR" sz="14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jusqu’à atteindre le minimum de </a:t>
                </a:r>
                <a14:m>
                  <m:oMath xmlns:m="http://schemas.openxmlformats.org/officeDocument/2006/math">
                    <m:d>
                      <m:dPr>
                        <m:begChr m:val="‖"/>
                        <m:endChr m:val="‖"/>
                        <m:ctrlPr>
                          <a:rPr kumimoji="0" lang="fr-FR" sz="1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acc>
                          <m:accPr>
                            <m:chr m:val="⃗"/>
                            <m:ctrlPr>
                              <a:rPr kumimoji="0" lang="fr-FR" sz="1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accPr>
                          <m:e>
                            <m:sSubSup>
                              <m:sSubSupPr>
                                <m:ctrlPr>
                                  <a:rPr kumimoji="0" lang="fr-FR" sz="1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SupPr>
                              <m:e>
                                <m:r>
                                  <a:rPr kumimoji="0" lang="fr-FR" sz="1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𝑢</m:t>
                                </m:r>
                              </m:e>
                              <m:sub>
                                <m:r>
                                  <a:rPr kumimoji="0" lang="fr-FR" sz="1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𝑧</m:t>
                                </m:r>
                              </m:sub>
                              <m:sup>
                                <m:r>
                                  <a:rPr kumimoji="0" lang="fr-FR" sz="1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p>
                            </m:sSubSup>
                          </m:e>
                        </m:acc>
                        <m:r>
                          <a:rPr kumimoji="0" lang="fr-FR" sz="1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𝑅</m:t>
                            </m:r>
                          </m:e>
                          <m:sub>
                            <m:f>
                              <m:fPr>
                                <m:ctrlPr>
                                  <a:rPr kumimoji="0" lang="fr-FR" sz="1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acc>
                                  <m:accPr>
                                    <m:chr m:val="⃗"/>
                                    <m:ctrlPr>
                                      <a:rPr kumimoji="0" lang="fr-FR" sz="1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accPr>
                                  <m:e>
                                    <m:sSubSup>
                                      <m:sSubSupPr>
                                        <m:ctrlPr>
                                          <a:rPr kumimoji="0" lang="fr-FR" sz="1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SupPr>
                                      <m:e>
                                        <m:r>
                                          <a:rPr kumimoji="0" lang="fr-FR" sz="1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𝑢</m:t>
                                        </m:r>
                                      </m:e>
                                      <m:sub>
                                        <m:r>
                                          <a:rPr kumimoji="0" lang="fr-FR" sz="1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𝑧</m:t>
                                        </m:r>
                                      </m:sub>
                                      <m:sup>
                                        <m:r>
                                          <a:rPr kumimoji="0" lang="fr-FR" sz="1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p>
                                    </m:sSubSup>
                                  </m:e>
                                </m:acc>
                                <m:r>
                                  <a:rPr kumimoji="0" lang="fr-FR" sz="10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acc>
                                  <m:accPr>
                                    <m:chr m:val="⃗"/>
                                    <m:ctrlPr>
                                      <a:rPr kumimoji="0" lang="fr-FR" sz="1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accPr>
                                  <m:e>
                                    <m:sSubSup>
                                      <m:sSubSupPr>
                                        <m:ctrlPr>
                                          <a:rPr kumimoji="0" lang="fr-FR" sz="1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SupPr>
                                      <m:e>
                                        <m:r>
                                          <a:rPr kumimoji="0" lang="fr-FR" sz="1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𝑢</m:t>
                                        </m:r>
                                      </m:e>
                                      <m:sub>
                                        <m:r>
                                          <a:rPr kumimoji="0" lang="fr-FR" sz="1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𝑧</m:t>
                                        </m:r>
                                      </m:sub>
                                      <m:sup>
                                        <m:r>
                                          <a:rPr kumimoji="0" lang="fr-FR" sz="1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p>
                                    </m:sSubSup>
                                  </m:e>
                                </m:acc>
                                <m:r>
                                  <a:rPr kumimoji="0" lang="fr-FR" sz="10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num>
                              <m:den>
                                <m:d>
                                  <m:dPr>
                                    <m:begChr m:val="‖"/>
                                    <m:endChr m:val="‖"/>
                                    <m:ctrlPr>
                                      <a:rPr kumimoji="0" lang="fr-FR" sz="1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acc>
                                      <m:accPr>
                                        <m:chr m:val="⃗"/>
                                        <m:ctrlPr>
                                          <a:rPr kumimoji="0" lang="fr-FR" sz="1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accPr>
                                      <m:e>
                                        <m:sSubSup>
                                          <m:sSubSupPr>
                                            <m:ctrlPr>
                                              <a:rPr kumimoji="0" lang="fr-FR" sz="1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SupPr>
                                          <m:e>
                                            <m:r>
                                              <a:rPr kumimoji="0" lang="fr-FR" sz="1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𝑢</m:t>
                                            </m:r>
                                          </m:e>
                                          <m:sub>
                                            <m:r>
                                              <a:rPr kumimoji="0" lang="fr-FR" sz="1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𝑧</m:t>
                                            </m:r>
                                          </m:sub>
                                          <m:sup>
                                            <m:r>
                                              <a:rPr kumimoji="0" lang="fr-FR" sz="1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p>
                                        </m:sSubSup>
                                      </m:e>
                                    </m:acc>
                                    <m:r>
                                      <a:rPr kumimoji="0" lang="fr-FR" sz="10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acc>
                                      <m:accPr>
                                        <m:chr m:val="⃗"/>
                                        <m:ctrlPr>
                                          <a:rPr kumimoji="0" lang="fr-FR" sz="1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accPr>
                                      <m:e>
                                        <m:sSubSup>
                                          <m:sSubSupPr>
                                            <m:ctrlPr>
                                              <a:rPr kumimoji="0" lang="fr-FR" sz="1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SupPr>
                                          <m:e>
                                            <m:r>
                                              <a:rPr kumimoji="0" lang="fr-FR" sz="1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𝑢</m:t>
                                            </m:r>
                                          </m:e>
                                          <m:sub>
                                            <m:r>
                                              <a:rPr kumimoji="0" lang="fr-FR" sz="1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𝑧</m:t>
                                            </m:r>
                                          </m:sub>
                                          <m:sup>
                                            <m:r>
                                              <a:rPr kumimoji="0" lang="fr-FR" sz="1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p>
                                        </m:sSubSup>
                                      </m:e>
                                    </m:acc>
                                    <m:r>
                                      <a:rPr kumimoji="0" lang="fr-FR" sz="10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e>
                                </m:d>
                              </m:den>
                            </m:f>
                            <m:r>
                              <a:rPr kumimoji="0" lang="fr-FR" sz="10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r>
                              <a:rPr kumimoji="0" lang="fr-FR" sz="1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𝛼</m:t>
                                </m:r>
                              </m:e>
                              <m:sub>
                                <m:r>
                                  <a:rPr kumimoji="0" lang="fr-FR" sz="1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𝑦</m:t>
                                </m:r>
                              </m:sub>
                            </m:sSub>
                          </m:sub>
                        </m:sSub>
                        <m:acc>
                          <m:accPr>
                            <m:chr m:val="⃗"/>
                            <m:ctrlPr>
                              <a:rPr kumimoji="0" lang="fr-FR" sz="1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accPr>
                          <m:e>
                            <m:sSubSup>
                              <m:sSubSupPr>
                                <m:ctrlPr>
                                  <a:rPr kumimoji="0" lang="fr-FR" sz="1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SupPr>
                              <m:e>
                                <m:r>
                                  <a:rPr kumimoji="0" lang="fr-FR" sz="1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𝑢</m:t>
                                </m:r>
                              </m:e>
                              <m:sub>
                                <m:r>
                                  <a:rPr kumimoji="0" lang="fr-FR" sz="1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𝑧</m:t>
                                </m:r>
                              </m:sub>
                              <m:sup>
                                <m:r>
                                  <a:rPr kumimoji="0" lang="fr-FR" sz="1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p>
                            </m:sSubSup>
                          </m:e>
                        </m:acc>
                      </m:e>
                    </m:d>
                  </m:oMath>
                </a14:m>
                <a:r>
                  <a:rPr kumimoji="0" lang="fr-FR" sz="14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de cette façons nous trouvons</a:t>
                </a:r>
                <a14:m>
                  <m:oMath xmlns:m="http://schemas.openxmlformats.org/officeDocument/2006/math">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sSub>
                      <m:sSub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𝛼</m:t>
                        </m:r>
                      </m:e>
                      <m:sub>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𝑦</m:t>
                        </m:r>
                      </m:sub>
                    </m:sSub>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a14:m>
                <a:r>
                  <a:rPr kumimoji="0" lang="fr-FR" sz="14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a:t>
                </a:r>
                <a:endParaRPr kumimoji="0" lang="fr-FR"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Après qu’on trouve </a:t>
                </a:r>
                <a14:m>
                  <m:oMath xmlns:m="http://schemas.openxmlformats.org/officeDocument/2006/math">
                    <m:sSub>
                      <m:sSub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𝛼</m:t>
                        </m:r>
                      </m:e>
                      <m:sub>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𝑦</m:t>
                        </m:r>
                      </m:sub>
                    </m:sSub>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a14:m>
                <a:r>
                  <a:rPr kumimoji="0" lang="fr-FR" sz="14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nous faisons varier </a:t>
                </a:r>
                <a14:m>
                  <m:oMath xmlns:m="http://schemas.openxmlformats.org/officeDocument/2006/math">
                    <m:sSub>
                      <m:sSub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𝛼</m:t>
                        </m:r>
                      </m:e>
                      <m:sub>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𝑧</m:t>
                        </m:r>
                      </m:sub>
                    </m:sSub>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0°,360°</m:t>
                        </m:r>
                      </m:e>
                    </m:d>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a14:m>
                <a:r>
                  <a:rPr kumimoji="0" lang="fr-FR" sz="14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jusqu’à atteindre le minimum de </a:t>
                </a:r>
                <a14:m>
                  <m:oMath xmlns:m="http://schemas.openxmlformats.org/officeDocument/2006/math">
                    <m:d>
                      <m:dPr>
                        <m:begChr m:val="‖"/>
                        <m:endChr m:val="‖"/>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acc>
                          <m:accPr>
                            <m:chr m:val="⃗"/>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accPr>
                          <m:e>
                            <m:sSubSup>
                              <m:sSubSup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Sup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𝑢</m:t>
                                </m:r>
                              </m:e>
                              <m:sub>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𝑧</m:t>
                                </m:r>
                              </m:sub>
                              <m:sup>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p>
                            </m:sSubSup>
                          </m:e>
                        </m:acc>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𝑅</m:t>
                            </m:r>
                          </m:e>
                          <m:sub>
                            <m:acc>
                              <m:accPr>
                                <m:chr m:val="⃗"/>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accPr>
                              <m:e>
                                <m:sSubSup>
                                  <m:sSubSup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sSubSup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𝑢</m:t>
                                    </m:r>
                                  </m:e>
                                  <m:sub>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𝑧</m:t>
                                    </m:r>
                                  </m:sub>
                                  <m:sup>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𝑛</m:t>
                                    </m:r>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−1</m:t>
                                    </m:r>
                                  </m:sup>
                                </m:sSubSup>
                              </m:e>
                            </m:acc>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𝛼</m:t>
                                </m:r>
                              </m:e>
                              <m:sub>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𝑧</m:t>
                                </m:r>
                              </m:sub>
                            </m:sSub>
                          </m:sub>
                        </m:sSub>
                        <m:sSub>
                          <m:sSub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𝑅</m:t>
                            </m:r>
                          </m:e>
                          <m:sub>
                            <m:acc>
                              <m:accPr>
                                <m:chr m:val="⃗"/>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accPr>
                              <m:e>
                                <m:sSubSup>
                                  <m:sSubSup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sSubSup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𝑢</m:t>
                                    </m:r>
                                  </m:e>
                                  <m:sub>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𝑦</m:t>
                                    </m:r>
                                  </m:sub>
                                  <m:sup>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𝑛</m:t>
                                    </m:r>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−1</m:t>
                                    </m:r>
                                  </m:sup>
                                </m:sSubSup>
                              </m:e>
                            </m:acc>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𝛼</m:t>
                                </m:r>
                              </m:e>
                              <m:sub>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𝑦</m:t>
                                </m:r>
                              </m:sub>
                            </m:sSub>
                          </m:sub>
                        </m:sSub>
                        <m:acc>
                          <m:accPr>
                            <m:chr m:val="⃗"/>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accPr>
                          <m:e>
                            <m:sSubSup>
                              <m:sSubSup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Sup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𝑢</m:t>
                                </m:r>
                              </m:e>
                              <m:sub>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𝑧</m:t>
                                </m:r>
                              </m:sub>
                              <m:sup>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p>
                            </m:sSubSup>
                          </m:e>
                        </m:acc>
                      </m:e>
                    </m:d>
                  </m:oMath>
                </a14:m>
                <a:r>
                  <a:rPr kumimoji="0" lang="fr-FR" sz="14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de cette façon nous trouvons</a:t>
                </a:r>
                <a14:m>
                  <m:oMath xmlns:m="http://schemas.openxmlformats.org/officeDocument/2006/math">
                    <m:sSub>
                      <m:sSub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𝛼</m:t>
                        </m:r>
                      </m:e>
                      <m:sub>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𝑧</m:t>
                        </m:r>
                      </m:sub>
                    </m:sSub>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a14:m>
                <a:r>
                  <a:rPr kumimoji="0" lang="fr-FR" sz="14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a:t>
                </a:r>
                <a:endParaRPr kumimoji="0" lang="fr-FR"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Après nous calculons </a:t>
                </a:r>
                <a14:m>
                  <m:oMath xmlns:m="http://schemas.openxmlformats.org/officeDocument/2006/math">
                    <m:d>
                      <m:d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dPr>
                      <m:e>
                        <m:acc>
                          <m:accPr>
                            <m:chr m:val="⃗"/>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accPr>
                          <m:e>
                            <m:sSubSup>
                              <m:sSubSup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sSubSup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𝑢</m:t>
                                </m:r>
                              </m:e>
                              <m:sub>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𝑥</m:t>
                                </m:r>
                              </m:sub>
                              <m:sup>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𝑛</m:t>
                                </m:r>
                              </m:sup>
                            </m:sSubSup>
                          </m:e>
                        </m:acc>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 </m:t>
                        </m:r>
                        <m:acc>
                          <m:accPr>
                            <m:chr m:val="⃗"/>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accPr>
                          <m:e>
                            <m:sSubSup>
                              <m:sSubSup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sSubSup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𝑢</m:t>
                                </m:r>
                              </m:e>
                              <m:sub>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𝑦</m:t>
                                </m:r>
                              </m:sub>
                              <m:sup>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𝑛</m:t>
                                </m:r>
                              </m:sup>
                            </m:sSubSup>
                          </m:e>
                        </m:acc>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accPr>
                          <m:e>
                            <m:sSubSup>
                              <m:sSubSup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Sup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𝑢</m:t>
                                </m:r>
                              </m:e>
                              <m:sub>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𝑧</m:t>
                                </m:r>
                              </m:sub>
                              <m:sup>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p>
                            </m:sSubSup>
                          </m:e>
                        </m:acc>
                      </m:e>
                    </m:d>
                  </m:oMath>
                </a14:m>
                <a:r>
                  <a:rPr kumimoji="0" lang="fr-FR" sz="14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par les relations suivantes :</a:t>
                </a:r>
                <a:endParaRPr kumimoji="0" lang="fr-FR"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28600" marR="0" lvl="0" indent="0" algn="just" defTabSz="914400" rtl="0" eaLnBrk="1" fontAlgn="auto" latinLnBrk="0" hangingPunct="1">
                  <a:lnSpc>
                    <a:spcPct val="100000"/>
                  </a:lnSpc>
                  <a:spcBef>
                    <a:spcPts val="0"/>
                  </a:spcBef>
                  <a:spcAft>
                    <a:spcPts val="0"/>
                  </a:spcAft>
                  <a:buClrTx/>
                  <a:buSzTx/>
                  <a:buFontTx/>
                  <a:buNone/>
                  <a:tabLst>
                    <a:tab pos="900430" algn="l"/>
                    <a:tab pos="5581015" algn="r"/>
                  </a:tabLst>
                  <a:defRPr/>
                </a:pPr>
                <a:r>
                  <a:rPr kumimoji="0" lang="fr-FR" sz="14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sSub>
                      <m:sSub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accPr>
                          <m:e>
                            <m:sSubSup>
                              <m:sSubSup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Sup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𝑢</m:t>
                                </m:r>
                              </m:e>
                              <m:sub>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𝑥</m:t>
                                </m:r>
                              </m:sub>
                              <m:sup>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p>
                            </m:sSubSup>
                          </m:e>
                        </m:acc>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𝑅</m:t>
                        </m:r>
                      </m:e>
                      <m:sub>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acc>
                          <m:accPr>
                            <m:chr m:val="⃗"/>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accPr>
                          <m:e>
                            <m:sSubSup>
                              <m:sSubSup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Sup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𝑢</m:t>
                                </m:r>
                              </m:e>
                              <m:sub>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𝑧</m:t>
                                </m:r>
                              </m:sub>
                              <m:sup>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p>
                            </m:sSubSup>
                          </m:e>
                        </m:acc>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𝛼</m:t>
                            </m:r>
                          </m:e>
                          <m:sub>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𝑧</m:t>
                            </m:r>
                          </m:sub>
                        </m:sSub>
                      </m:sub>
                    </m:sSub>
                    <m:sSub>
                      <m:sSub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𝑅</m:t>
                        </m:r>
                      </m:e>
                      <m:sub>
                        <m:acc>
                          <m:accPr>
                            <m:chr m:val="⃗"/>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accPr>
                          <m:e>
                            <m:sSubSup>
                              <m:sSubSup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Sup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𝑢</m:t>
                                </m:r>
                              </m:e>
                              <m:sub>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𝑦</m:t>
                                </m:r>
                              </m:sub>
                              <m:sup>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p>
                            </m:sSubSup>
                          </m:e>
                        </m:acc>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sSub>
                          <m:sSub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𝛼</m:t>
                            </m:r>
                          </m:e>
                          <m:sub>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𝑦</m:t>
                            </m:r>
                          </m:sub>
                        </m:sSub>
                      </m:sub>
                    </m:sSub>
                    <m:acc>
                      <m:accPr>
                        <m:chr m:val="⃗"/>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accPr>
                      <m:e>
                        <m:sSubSup>
                          <m:sSubSup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Sup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𝑢</m:t>
                            </m:r>
                          </m:e>
                          <m:sub>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𝑥</m:t>
                            </m:r>
                          </m:sub>
                          <m:sup>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p>
                        </m:sSubSup>
                      </m:e>
                    </m:acc>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a14:m>
                <a:r>
                  <a:rPr kumimoji="0" lang="fr-FR" sz="14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(2.17)</m:t>
                    </m:r>
                  </m:oMath>
                </a14:m>
                <a:endParaRPr kumimoji="0" lang="fr-FR"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28600" marR="0" lvl="0" indent="0" algn="just" defTabSz="914400" rtl="0" eaLnBrk="1" fontAlgn="auto" latinLnBrk="0" hangingPunct="1">
                  <a:lnSpc>
                    <a:spcPct val="100000"/>
                  </a:lnSpc>
                  <a:spcBef>
                    <a:spcPts val="0"/>
                  </a:spcBef>
                  <a:spcAft>
                    <a:spcPts val="0"/>
                  </a:spcAft>
                  <a:buClrTx/>
                  <a:buSzTx/>
                  <a:buFontTx/>
                  <a:buNone/>
                  <a:tabLst>
                    <a:tab pos="900430" algn="l"/>
                    <a:tab pos="5581015" algn="r"/>
                  </a:tabLst>
                  <a:defRPr/>
                </a:pPr>
                <a:r>
                  <a:rPr kumimoji="0" lang="fr-FR" sz="1400" b="0" i="0" u="none" strike="noStrike" kern="1200" cap="none" spc="0" normalizeH="0" baseline="0" noProof="0" dirty="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sSub>
                      <m:sSub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accPr>
                          <m:e>
                            <m:sSubSup>
                              <m:sSubSup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Sup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𝑢</m:t>
                                </m:r>
                              </m:e>
                              <m:sub>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𝑦</m:t>
                                </m:r>
                              </m:sub>
                              <m:sup>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p>
                            </m:sSubSup>
                          </m:e>
                        </m:acc>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𝑅</m:t>
                        </m:r>
                      </m:e>
                      <m:sub>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acc>
                          <m:accPr>
                            <m:chr m:val="⃗"/>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accPr>
                          <m:e>
                            <m:sSubSup>
                              <m:sSubSup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Sup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𝑢</m:t>
                                </m:r>
                              </m:e>
                              <m:sub>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𝑧</m:t>
                                </m:r>
                              </m:sub>
                              <m:sup>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p>
                            </m:sSubSup>
                          </m:e>
                        </m:acc>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𝛼</m:t>
                            </m:r>
                          </m:e>
                          <m:sub>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𝑧</m:t>
                            </m:r>
                          </m:sub>
                        </m:sSub>
                      </m:sub>
                    </m:sSub>
                    <m:sSub>
                      <m:sSub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𝑅</m:t>
                        </m:r>
                      </m:e>
                      <m:sub>
                        <m:acc>
                          <m:accPr>
                            <m:chr m:val="⃗"/>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accPr>
                          <m:e>
                            <m:sSubSup>
                              <m:sSubSup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Sup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𝑢</m:t>
                                </m:r>
                              </m:e>
                              <m:sub>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𝑦</m:t>
                                </m:r>
                              </m:sub>
                              <m:sup>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p>
                            </m:sSubSup>
                          </m:e>
                        </m:acc>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sSub>
                          <m:sSub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𝛼</m:t>
                            </m:r>
                          </m:e>
                          <m:sub>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𝑦</m:t>
                            </m:r>
                          </m:sub>
                        </m:sSub>
                      </m:sub>
                    </m:sSub>
                    <m:acc>
                      <m:accPr>
                        <m:chr m:val="⃗"/>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accPr>
                      <m:e>
                        <m:sSubSup>
                          <m:sSubSup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Sup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𝑢</m:t>
                            </m:r>
                          </m:e>
                          <m:sub>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𝑦</m:t>
                            </m:r>
                          </m:sub>
                          <m:sup>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p>
                        </m:sSubSup>
                      </m:e>
                    </m:acc>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a14:m>
                <a:r>
                  <a:rPr kumimoji="0" lang="fr-FR"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14:m>
                  <m:oMath xmlns:m="http://schemas.openxmlformats.org/officeDocument/2006/math">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(2.18)</m:t>
                    </m:r>
                  </m:oMath>
                </a14:m>
                <a:endParaRPr kumimoji="0" lang="fr-FR"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28600" marR="0" lvl="0" indent="0" algn="just" defTabSz="914400" rtl="0" eaLnBrk="1" fontAlgn="auto" latinLnBrk="0" hangingPunct="1">
                  <a:lnSpc>
                    <a:spcPct val="100000"/>
                  </a:lnSpc>
                  <a:spcBef>
                    <a:spcPts val="0"/>
                  </a:spcBef>
                  <a:spcAft>
                    <a:spcPts val="0"/>
                  </a:spcAft>
                  <a:buClrTx/>
                  <a:buSzTx/>
                  <a:buFontTx/>
                  <a:buNone/>
                  <a:tabLst>
                    <a:tab pos="900430" algn="l"/>
                    <a:tab pos="5581015" algn="r"/>
                  </a:tabLst>
                  <a:defRPr/>
                </a:pPr>
                <a:r>
                  <a:rPr kumimoji="0" lang="fr-FR" sz="1400" b="0" i="0" u="none" strike="noStrike" kern="1200" cap="none" spc="0" normalizeH="0" baseline="0" noProof="0" dirty="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sSub>
                      <m:sSub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accPr>
                          <m:e>
                            <m:sSubSup>
                              <m:sSubSup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Sup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𝑢</m:t>
                                </m:r>
                              </m:e>
                              <m:sub>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𝑧</m:t>
                                </m:r>
                              </m:sub>
                              <m:sup>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p>
                            </m:sSubSup>
                          </m:e>
                        </m:acc>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𝑅</m:t>
                        </m:r>
                      </m:e>
                      <m:sub>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acc>
                          <m:accPr>
                            <m:chr m:val="⃗"/>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accPr>
                          <m:e>
                            <m:sSubSup>
                              <m:sSubSup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Sup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𝑢</m:t>
                                </m:r>
                              </m:e>
                              <m:sub>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𝑧</m:t>
                                </m:r>
                              </m:sub>
                              <m:sup>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p>
                            </m:sSubSup>
                          </m:e>
                        </m:acc>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𝛼</m:t>
                            </m:r>
                          </m:e>
                          <m:sub>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𝑧</m:t>
                            </m:r>
                          </m:sub>
                        </m:sSub>
                      </m:sub>
                    </m:sSub>
                    <m:sSub>
                      <m:sSub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𝑅</m:t>
                        </m:r>
                      </m:e>
                      <m:sub>
                        <m:acc>
                          <m:accPr>
                            <m:chr m:val="⃗"/>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accPr>
                          <m:e>
                            <m:sSubSup>
                              <m:sSubSup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Sup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𝑢</m:t>
                                </m:r>
                              </m:e>
                              <m:sub>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𝑦</m:t>
                                </m:r>
                              </m:sub>
                              <m:sup>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p>
                            </m:sSubSup>
                          </m:e>
                        </m:acc>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sSub>
                          <m:sSub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𝛼</m:t>
                            </m:r>
                          </m:e>
                          <m:sub>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𝑦</m:t>
                            </m:r>
                          </m:sub>
                        </m:sSub>
                      </m:sub>
                    </m:sSub>
                    <m:acc>
                      <m:accPr>
                        <m:chr m:val="⃗"/>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accPr>
                      <m:e>
                        <m:sSubSup>
                          <m:sSubSupPr>
                            <m:ctrlP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SupPr>
                          <m:e>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𝑢</m:t>
                            </m:r>
                          </m:e>
                          <m:sub>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𝑧</m:t>
                            </m:r>
                          </m:sub>
                          <m:sup>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4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p>
                        </m:sSubSup>
                      </m:e>
                    </m:acc>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a14:m>
                <a:r>
                  <a:rPr kumimoji="0" lang="fr-FR"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14:m>
                  <m:oMath xmlns:m="http://schemas.openxmlformats.org/officeDocument/2006/math">
                    <m:r>
                      <a:rPr kumimoji="0" lang="fr-FR" sz="14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(2.19)</m:t>
                    </m:r>
                  </m:oMath>
                </a14:m>
                <a:endParaRPr kumimoji="0" lang="fr-FR"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6" name="Rectangle 5"/>
              <p:cNvSpPr>
                <a:spLocks noRot="1" noChangeAspect="1" noMove="1" noResize="1" noEditPoints="1" noAdjustHandles="1" noChangeArrowheads="1" noChangeShapeType="1" noTextEdit="1"/>
              </p:cNvSpPr>
              <p:nvPr/>
            </p:nvSpPr>
            <p:spPr>
              <a:xfrm>
                <a:off x="1000836" y="2755308"/>
                <a:ext cx="9876430" cy="3361561"/>
              </a:xfrm>
              <a:prstGeom prst="rect">
                <a:avLst/>
              </a:prstGeom>
              <a:blipFill rotWithShape="0">
                <a:blip r:embed="rId3"/>
                <a:stretch>
                  <a:fillRect l="-185" t="-363" r="-185"/>
                </a:stretch>
              </a:blipFill>
            </p:spPr>
            <p:txBody>
              <a:bodyPr/>
              <a:lstStyle/>
              <a:p>
                <a:r>
                  <a:rPr lang="fr-FR">
                    <a:noFill/>
                  </a:rPr>
                  <a:t> </a:t>
                </a:r>
              </a:p>
            </p:txBody>
          </p:sp>
        </mc:Fallback>
      </mc:AlternateContent>
    </p:spTree>
    <p:extLst>
      <p:ext uri="{BB962C8B-B14F-4D97-AF65-F5344CB8AC3E}">
        <p14:creationId xmlns:p14="http://schemas.microsoft.com/office/powerpoint/2010/main" val="22521286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FR" sz="3200" dirty="0"/>
              <a:t>PROVISIONNER LA CROISSANCE ET LE DEVELOPPEMENT </a:t>
            </a:r>
            <a:br>
              <a:rPr lang="fr-FR" sz="3200" dirty="0"/>
            </a:br>
            <a:r>
              <a:rPr lang="fr-FR" sz="3200" dirty="0"/>
              <a:t>ETAPE 1 : MOYEN DE RECONSTRUCTION FORMEL</a:t>
            </a:r>
          </a:p>
        </p:txBody>
      </p:sp>
      <p:sp>
        <p:nvSpPr>
          <p:cNvPr id="3" name="Espace réservé du contenu 2"/>
          <p:cNvSpPr>
            <a:spLocks noGrp="1"/>
          </p:cNvSpPr>
          <p:nvPr>
            <p:ph idx="1"/>
          </p:nvPr>
        </p:nvSpPr>
        <p:spPr/>
        <p:txBody>
          <a:bodyPr/>
          <a:lstStyle/>
          <a:p>
            <a:r>
              <a:rPr lang="fr-FR" dirty="0"/>
              <a:t>STRUCTURE FRACTALE (L-SYSTEM)</a:t>
            </a:r>
          </a:p>
        </p:txBody>
      </p:sp>
      <p:sp>
        <p:nvSpPr>
          <p:cNvPr id="5" name="Espace réservé du numéro de diapositive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10F9B4-E45F-45DE-A182-D2D6DBA25399}"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Rectangle 2"/>
          <p:cNvSpPr>
            <a:spLocks noChangeArrowheads="1"/>
          </p:cNvSpPr>
          <p:nvPr/>
        </p:nvSpPr>
        <p:spPr bwMode="auto">
          <a:xfrm>
            <a:off x="1201003" y="262037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Rectangle 4"/>
          <p:cNvSpPr>
            <a:spLocks noChangeArrowheads="1"/>
          </p:cNvSpPr>
          <p:nvPr/>
        </p:nvSpPr>
        <p:spPr bwMode="auto">
          <a:xfrm>
            <a:off x="5677469" y="44338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 name="Image 7" descr="C:\Users\Oussama\Documents\3dsMax\scenes\exp1 rectifier.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8200" y="2238233"/>
            <a:ext cx="5180463" cy="3494685"/>
          </a:xfrm>
          <a:prstGeom prst="rect">
            <a:avLst/>
          </a:prstGeom>
          <a:noFill/>
          <a:ln>
            <a:noFill/>
          </a:ln>
        </p:spPr>
      </p:pic>
      <p:pic>
        <p:nvPicPr>
          <p:cNvPr id="9" name="Image 8" descr="C:\Users\Oussama\Documents\3dsMax\scenes\exp2 rectifier.jp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77469" y="2238233"/>
            <a:ext cx="4764894" cy="3239220"/>
          </a:xfrm>
          <a:prstGeom prst="rect">
            <a:avLst/>
          </a:prstGeom>
          <a:noFill/>
          <a:ln>
            <a:noFill/>
          </a:ln>
        </p:spPr>
      </p:pic>
    </p:spTree>
    <p:extLst>
      <p:ext uri="{BB962C8B-B14F-4D97-AF65-F5344CB8AC3E}">
        <p14:creationId xmlns:p14="http://schemas.microsoft.com/office/powerpoint/2010/main" val="2928023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FR" sz="3200" dirty="0"/>
              <a:t>PROVISIONNER LA CROISSANCE ET LE DEVELOPPEMENT </a:t>
            </a:r>
            <a:br>
              <a:rPr lang="fr-FR" sz="3200" dirty="0"/>
            </a:br>
            <a:r>
              <a:rPr lang="fr-FR" sz="3200" dirty="0"/>
              <a:t>ETAPE 1 : MOYEN DE RECONSTRUCTION FORMEL</a:t>
            </a:r>
          </a:p>
        </p:txBody>
      </p:sp>
      <p:sp>
        <p:nvSpPr>
          <p:cNvPr id="3" name="Espace réservé du contenu 2"/>
          <p:cNvSpPr>
            <a:spLocks noGrp="1"/>
          </p:cNvSpPr>
          <p:nvPr>
            <p:ph idx="1"/>
          </p:nvPr>
        </p:nvSpPr>
        <p:spPr/>
        <p:txBody>
          <a:bodyPr/>
          <a:lstStyle/>
          <a:p>
            <a:r>
              <a:rPr lang="fr-FR" dirty="0"/>
              <a:t>STRUCTURE FRACTALE (L-SYSTEM)</a:t>
            </a:r>
          </a:p>
        </p:txBody>
      </p:sp>
      <p:sp>
        <p:nvSpPr>
          <p:cNvPr id="5" name="Espace réservé du numéro de diapositive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10F9B4-E45F-45DE-A182-D2D6DBA25399}"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Rectangle 2"/>
          <p:cNvSpPr>
            <a:spLocks noChangeArrowheads="1"/>
          </p:cNvSpPr>
          <p:nvPr/>
        </p:nvSpPr>
        <p:spPr bwMode="auto">
          <a:xfrm>
            <a:off x="1201003" y="262037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Rectangle 4"/>
          <p:cNvSpPr>
            <a:spLocks noChangeArrowheads="1"/>
          </p:cNvSpPr>
          <p:nvPr/>
        </p:nvSpPr>
        <p:spPr bwMode="auto">
          <a:xfrm>
            <a:off x="5677469" y="44338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Rectangle 2"/>
          <p:cNvSpPr>
            <a:spLocks noChangeArrowheads="1"/>
          </p:cNvSpPr>
          <p:nvPr/>
        </p:nvSpPr>
        <p:spPr bwMode="auto">
          <a:xfrm>
            <a:off x="1476660" y="2442948"/>
            <a:ext cx="31103924"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8" name="Objet 7"/>
          <p:cNvGraphicFramePr>
            <a:graphicFrameLocks noChangeAspect="1"/>
          </p:cNvGraphicFramePr>
          <p:nvPr>
            <p:extLst/>
          </p:nvPr>
        </p:nvGraphicFramePr>
        <p:xfrm>
          <a:off x="1476659" y="2442949"/>
          <a:ext cx="9088178" cy="4374807"/>
        </p:xfrm>
        <a:graphic>
          <a:graphicData uri="http://schemas.openxmlformats.org/presentationml/2006/ole">
            <mc:AlternateContent xmlns:mc="http://schemas.openxmlformats.org/markup-compatibility/2006">
              <mc:Choice xmlns:v="urn:schemas-microsoft-com:vml" Requires="v">
                <p:oleObj spid="_x0000_s7171" name="Image bitmap" r:id="rId4" imgW="7628571" imgH="5714286" progId="Paint.Picture">
                  <p:embed/>
                </p:oleObj>
              </mc:Choice>
              <mc:Fallback>
                <p:oleObj name="Image bitmap" r:id="rId4" imgW="7628571" imgH="5714286" progId="Paint.Picture">
                  <p:embed/>
                  <p:pic>
                    <p:nvPicPr>
                      <p:cNvPr id="8" name="Obje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6659" y="2442949"/>
                        <a:ext cx="9088178" cy="4374807"/>
                      </a:xfrm>
                      <a:prstGeom prst="rect">
                        <a:avLst/>
                      </a:prstGeom>
                      <a:noFill/>
                    </p:spPr>
                  </p:pic>
                </p:oleObj>
              </mc:Fallback>
            </mc:AlternateContent>
          </a:graphicData>
        </a:graphic>
      </p:graphicFrame>
    </p:spTree>
    <p:extLst>
      <p:ext uri="{BB962C8B-B14F-4D97-AF65-F5344CB8AC3E}">
        <p14:creationId xmlns:p14="http://schemas.microsoft.com/office/powerpoint/2010/main" val="12448446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FR" sz="3200" dirty="0"/>
              <a:t>PROVISIONNER LA CROISSANCE ET LE DEVELOPPEMENT </a:t>
            </a:r>
            <a:br>
              <a:rPr lang="fr-FR" sz="3200" dirty="0"/>
            </a:br>
            <a:r>
              <a:rPr lang="fr-FR" sz="3200" dirty="0"/>
              <a:t>ETAPE 1 : CARACTERISATION DE LA STRUCTURE DE PLANTE</a:t>
            </a:r>
          </a:p>
        </p:txBody>
      </p:sp>
      <p:sp>
        <p:nvSpPr>
          <p:cNvPr id="3" name="Espace réservé du contenu 2"/>
          <p:cNvSpPr>
            <a:spLocks noGrp="1"/>
          </p:cNvSpPr>
          <p:nvPr>
            <p:ph idx="1"/>
          </p:nvPr>
        </p:nvSpPr>
        <p:spPr/>
        <p:txBody>
          <a:bodyPr/>
          <a:lstStyle/>
          <a:p>
            <a:r>
              <a:rPr lang="fr-FR" dirty="0"/>
              <a:t>CHAINE MARKOV</a:t>
            </a:r>
          </a:p>
        </p:txBody>
      </p:sp>
      <p:sp>
        <p:nvSpPr>
          <p:cNvPr id="5" name="Espace réservé du numéro de diapositive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10F9B4-E45F-45DE-A182-D2D6DBA25399}"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Rectangle 2"/>
          <p:cNvSpPr>
            <a:spLocks noChangeArrowheads="1"/>
          </p:cNvSpPr>
          <p:nvPr/>
        </p:nvSpPr>
        <p:spPr bwMode="auto">
          <a:xfrm>
            <a:off x="1201003" y="262037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Rectangle 4"/>
          <p:cNvSpPr>
            <a:spLocks noChangeArrowheads="1"/>
          </p:cNvSpPr>
          <p:nvPr/>
        </p:nvSpPr>
        <p:spPr bwMode="auto">
          <a:xfrm>
            <a:off x="5677469" y="44338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 5"/>
          <p:cNvPicPr>
            <a:picLocks noChangeAspect="1"/>
          </p:cNvPicPr>
          <p:nvPr/>
        </p:nvPicPr>
        <p:blipFill>
          <a:blip r:embed="rId3"/>
          <a:stretch>
            <a:fillRect/>
          </a:stretch>
        </p:blipFill>
        <p:spPr>
          <a:xfrm>
            <a:off x="1201003" y="2366962"/>
            <a:ext cx="10032456" cy="4133850"/>
          </a:xfrm>
          <a:prstGeom prst="rect">
            <a:avLst/>
          </a:prstGeom>
        </p:spPr>
      </p:pic>
    </p:spTree>
    <p:extLst>
      <p:ext uri="{BB962C8B-B14F-4D97-AF65-F5344CB8AC3E}">
        <p14:creationId xmlns:p14="http://schemas.microsoft.com/office/powerpoint/2010/main" val="20624592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FR" sz="3200" dirty="0"/>
              <a:t>PROVISIONNER LA CROISSANCE ET LE DEVELOPPEMENT </a:t>
            </a:r>
            <a:br>
              <a:rPr lang="fr-FR" sz="3200" dirty="0"/>
            </a:br>
            <a:r>
              <a:rPr lang="fr-FR" sz="3200" dirty="0"/>
              <a:t>ETAPE 1 : CARACTERISATION DE LA STRUCTURE DE PLANTE</a:t>
            </a:r>
          </a:p>
        </p:txBody>
      </p:sp>
      <p:sp>
        <p:nvSpPr>
          <p:cNvPr id="3" name="Espace réservé du contenu 2"/>
          <p:cNvSpPr>
            <a:spLocks noGrp="1"/>
          </p:cNvSpPr>
          <p:nvPr>
            <p:ph idx="1"/>
          </p:nvPr>
        </p:nvSpPr>
        <p:spPr/>
        <p:txBody>
          <a:bodyPr/>
          <a:lstStyle/>
          <a:p>
            <a:r>
              <a:rPr lang="fr-FR" dirty="0"/>
              <a:t>CHAINE MARKOV</a:t>
            </a:r>
          </a:p>
        </p:txBody>
      </p:sp>
      <p:sp>
        <p:nvSpPr>
          <p:cNvPr id="7" name="Espace réservé du numéro de diapositive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10F9B4-E45F-45DE-A182-D2D6DBA25399}"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4" name="Rectangle 3"/>
              <p:cNvSpPr/>
              <p:nvPr/>
            </p:nvSpPr>
            <p:spPr>
              <a:xfrm>
                <a:off x="605051" y="2639930"/>
                <a:ext cx="9144000" cy="784830"/>
              </a:xfrm>
              <a:prstGeom prst="rect">
                <a:avLst/>
              </a:prstGeom>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𝑖</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𝑖</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𝑖</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𝑗</m:t>
                          </m:r>
                        </m:e>
                      </m:d>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p>
                        <m:sSup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p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m:t>
                          </m:r>
                        </m:e>
                        <m:sup>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m:t>
                          </m:r>
                        </m:sup>
                      </m:sSup>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ℙ</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dPr>
                      <m:e>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𝑋</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𝑗</m:t>
                        </m:r>
                      </m:e>
                      <m:e>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𝑋</m:t>
                            </m:r>
                          </m:e>
                          <m: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m:t>
                            </m:r>
                          </m:sub>
                        </m:s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𝑖</m:t>
                            </m:r>
                          </m:e>
                          <m: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m:t>
                            </m:r>
                          </m:sub>
                        </m:s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𝑋</m:t>
                            </m:r>
                          </m:e>
                          <m: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𝑖</m:t>
                            </m:r>
                          </m:e>
                          <m: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𝑋</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𝑖</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𝑋</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b>
                        </m:s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𝑖</m:t>
                        </m:r>
                      </m:e>
                    </m:d>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ℙ</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dPr>
                      <m:e>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𝑋</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𝑗</m:t>
                        </m:r>
                      </m:e>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𝑋</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b>
                        </m:s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𝑖</m:t>
                        </m:r>
                      </m:e>
                    </m:d>
                  </m:oMath>
                </a14:m>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4" name="Rectangle 3"/>
              <p:cNvSpPr>
                <a:spLocks noRot="1" noChangeAspect="1" noMove="1" noResize="1" noEditPoints="1" noAdjustHandles="1" noChangeArrowheads="1" noChangeShapeType="1" noTextEdit="1"/>
              </p:cNvSpPr>
              <p:nvPr/>
            </p:nvSpPr>
            <p:spPr>
              <a:xfrm>
                <a:off x="605051" y="2639930"/>
                <a:ext cx="9144000" cy="784830"/>
              </a:xfrm>
              <a:prstGeom prst="rect">
                <a:avLst/>
              </a:prstGeom>
              <a:blipFill rotWithShape="0">
                <a:blip r:embed="rId3"/>
                <a:stretch>
                  <a:fillRect b="-6202"/>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605051" y="3559697"/>
                <a:ext cx="9344167" cy="784830"/>
              </a:xfrm>
              <a:prstGeom prst="rect">
                <a:avLst/>
              </a:prstGeom>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fr-FR" sz="1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1" u="none" strike="noStrike" kern="1200" cap="none" spc="0" normalizeH="0" baseline="0" noProof="0" smtClean="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𝑖</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𝑖</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𝑖</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𝑗</m:t>
                          </m:r>
                        </m:e>
                      </m:d>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p>
                        <m:sSup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p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m:t>
                          </m:r>
                        </m:e>
                        <m:sup>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m:t>
                          </m:r>
                        </m:sup>
                      </m:sSup>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ℙ</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dPr>
                      <m:e>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𝑋</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𝑗</m:t>
                        </m:r>
                      </m:e>
                      <m:e>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𝑋</m:t>
                            </m:r>
                          </m:e>
                          <m: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m:t>
                            </m:r>
                          </m:sub>
                        </m:s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𝑖</m:t>
                            </m:r>
                          </m:e>
                          <m: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m:t>
                            </m:r>
                          </m:sub>
                        </m:s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𝑋</m:t>
                            </m:r>
                          </m:e>
                          <m: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𝑖</m:t>
                            </m:r>
                          </m:e>
                          <m: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𝑋</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𝑖</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𝑋</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b>
                        </m:s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𝑖</m:t>
                        </m:r>
                      </m:e>
                    </m:d>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ℙ</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dPr>
                      <m:e>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𝑋</m:t>
                            </m:r>
                          </m:e>
                          <m: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𝑗</m:t>
                        </m:r>
                      </m:e>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𝑋</m:t>
                            </m:r>
                          </m:e>
                          <m: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m:t>
                            </m:r>
                          </m:sub>
                        </m:s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𝑖</m:t>
                        </m:r>
                      </m:e>
                    </m:d>
                  </m:oMath>
                </a14:m>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5" name="Rectangle 4"/>
              <p:cNvSpPr>
                <a:spLocks noRot="1" noChangeAspect="1" noMove="1" noResize="1" noEditPoints="1" noAdjustHandles="1" noChangeArrowheads="1" noChangeShapeType="1" noTextEdit="1"/>
              </p:cNvSpPr>
              <p:nvPr/>
            </p:nvSpPr>
            <p:spPr>
              <a:xfrm>
                <a:off x="605051" y="3559697"/>
                <a:ext cx="9344167" cy="784830"/>
              </a:xfrm>
              <a:prstGeom prst="rect">
                <a:avLst/>
              </a:prstGeom>
              <a:blipFill rotWithShape="0">
                <a:blip r:embed="rId4"/>
                <a:stretch>
                  <a:fillRect b="-5426"/>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1245358" y="4729008"/>
                <a:ext cx="10108442" cy="1134413"/>
              </a:xfrm>
              <a:prstGeom prst="rect">
                <a:avLst/>
              </a:prstGeom>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tabLst>
                    <a:tab pos="228600" algn="l"/>
                    <a:tab pos="5581015" algn="r"/>
                  </a:tabLst>
                  <a:defRPr/>
                </a:pPr>
                <a14:m>
                  <m:oMathPara xmlns:m="http://schemas.openxmlformats.org/officeDocument/2006/math">
                    <m:oMathParaPr>
                      <m:jc m:val="centerGroup"/>
                    </m:oMathParaPr>
                    <m:oMath xmlns:m="http://schemas.openxmlformats.org/officeDocument/2006/math">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𝑝</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𝑖</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𝑗</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ℙ</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𝑋</m:t>
                              </m:r>
                            </m:e>
                            <m: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𝑗</m:t>
                          </m:r>
                        </m:e>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𝑋</m:t>
                              </m:r>
                            </m:e>
                            <m: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m:t>
                              </m:r>
                            </m:sub>
                          </m:s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𝑖</m:t>
                          </m:r>
                        </m:e>
                      </m:d>
                    </m:oMath>
                  </m:oMathPara>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La famille de nombre </a:t>
                </a: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𝑝</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𝑖</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𝑗</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𝑖</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𝑗</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p>
                          <m:sSup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sSup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m:t>
                            </m:r>
                          </m:e>
                          <m:sup>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m:t>
                            </m:r>
                          </m:sup>
                        </m:sSup>
                      </m:sub>
                    </m:sSub>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est appelée matrice de transition, noyau de transition, ou opérateur de transition de la chaîne de Markov</a:t>
                </a: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6" name="Rectangle 5"/>
              <p:cNvSpPr>
                <a:spLocks noRot="1" noChangeAspect="1" noMove="1" noResize="1" noEditPoints="1" noAdjustHandles="1" noChangeArrowheads="1" noChangeShapeType="1" noTextEdit="1"/>
              </p:cNvSpPr>
              <p:nvPr/>
            </p:nvSpPr>
            <p:spPr>
              <a:xfrm>
                <a:off x="1245358" y="4729008"/>
                <a:ext cx="10108442" cy="1134413"/>
              </a:xfrm>
              <a:prstGeom prst="rect">
                <a:avLst/>
              </a:prstGeom>
              <a:blipFill rotWithShape="0">
                <a:blip r:embed="rId5"/>
                <a:stretch>
                  <a:fillRect l="-482" b="-7527"/>
                </a:stretch>
              </a:blipFill>
            </p:spPr>
            <p:txBody>
              <a:bodyPr/>
              <a:lstStyle/>
              <a:p>
                <a:r>
                  <a:rPr lang="fr-FR">
                    <a:noFill/>
                  </a:rPr>
                  <a:t> </a:t>
                </a:r>
              </a:p>
            </p:txBody>
          </p:sp>
        </mc:Fallback>
      </mc:AlternateContent>
    </p:spTree>
    <p:extLst>
      <p:ext uri="{BB962C8B-B14F-4D97-AF65-F5344CB8AC3E}">
        <p14:creationId xmlns:p14="http://schemas.microsoft.com/office/powerpoint/2010/main" val="33688210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FR" sz="3200" dirty="0"/>
              <a:t>PROVISIONNER LA CROISSANCE ET LE DEVELOPPEMENT </a:t>
            </a:r>
            <a:br>
              <a:rPr lang="fr-FR" sz="3200" dirty="0"/>
            </a:br>
            <a:r>
              <a:rPr lang="fr-FR" sz="3200" dirty="0"/>
              <a:t>ETAPE 1 : CARACTERISATION DE LA STRUCTURE DE PLANTE</a:t>
            </a:r>
          </a:p>
        </p:txBody>
      </p:sp>
      <p:sp>
        <p:nvSpPr>
          <p:cNvPr id="3" name="Espace réservé du contenu 2"/>
          <p:cNvSpPr>
            <a:spLocks noGrp="1"/>
          </p:cNvSpPr>
          <p:nvPr>
            <p:ph idx="1"/>
          </p:nvPr>
        </p:nvSpPr>
        <p:spPr/>
        <p:txBody>
          <a:bodyPr/>
          <a:lstStyle/>
          <a:p>
            <a:r>
              <a:rPr lang="fr-FR" dirty="0"/>
              <a:t>CHAINE MARKOV</a:t>
            </a:r>
          </a:p>
        </p:txBody>
      </p:sp>
      <p:sp>
        <p:nvSpPr>
          <p:cNvPr id="4" name="Espace réservé du numéro de diapositive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10F9B4-E45F-45DE-A182-D2D6DBA25399}"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7" name="Rectangle 6"/>
              <p:cNvSpPr/>
              <p:nvPr/>
            </p:nvSpPr>
            <p:spPr>
              <a:xfrm>
                <a:off x="1765109" y="2483444"/>
                <a:ext cx="8702723" cy="1290610"/>
              </a:xfrm>
              <a:prstGeom prst="rect">
                <a:avLst/>
              </a:prstGeom>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La matrice de transition </a:t>
                </a: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𝑝</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𝑖</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𝑗</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𝑖</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𝑗</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p>
                          <m:sSup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p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m:t>
                            </m:r>
                          </m:e>
                          <m:sup>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m:t>
                            </m:r>
                          </m:sup>
                        </m:sSup>
                      </m:sub>
                    </m:sSub>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est stochastique : la somme de n’importe quelle ligne de </a:t>
                </a: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donne toujours 1.</a:t>
                </a:r>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𝑖</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nary>
                      <m:naryPr>
                        <m:chr m:val="∑"/>
                        <m:limLoc m:val="undOvr"/>
                        <m:supHide m:val="on"/>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naryPr>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𝑗</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m:t>
                        </m:r>
                      </m:sub>
                      <m:sup/>
                      <m:e>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𝑝</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𝑖</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𝑗</m:t>
                            </m:r>
                          </m:sub>
                        </m:s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e>
                    </m:nary>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a14:m>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7" name="Rectangle 6"/>
              <p:cNvSpPr>
                <a:spLocks noRot="1" noChangeAspect="1" noMove="1" noResize="1" noEditPoints="1" noAdjustHandles="1" noChangeArrowheads="1" noChangeShapeType="1" noTextEdit="1"/>
              </p:cNvSpPr>
              <p:nvPr/>
            </p:nvSpPr>
            <p:spPr>
              <a:xfrm>
                <a:off x="1765109" y="2483444"/>
                <a:ext cx="8702723" cy="1290610"/>
              </a:xfrm>
              <a:prstGeom prst="rect">
                <a:avLst/>
              </a:prstGeom>
              <a:blipFill rotWithShape="0">
                <a:blip r:embed="rId3"/>
                <a:stretch>
                  <a:fillRect l="-631" r="-561" b="-5000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1765109" y="4006397"/>
                <a:ext cx="10804478" cy="2305503"/>
              </a:xfrm>
              <a:prstGeom prst="rect">
                <a:avLst/>
              </a:prstGeom>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En écriture matricielle, si la loi de </a:t>
                </a:r>
                <a14:m>
                  <m:oMath xmlns:m="http://schemas.openxmlformats.org/officeDocument/2006/math">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𝑋</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b>
                    </m:sSub>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est considérée comme un vecteur ligne</a:t>
                </a:r>
                <a14:m>
                  <m:oMath xmlns:m="http://schemas.openxmlformats.org/officeDocument/2006/math">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𝜇</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𝜇</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𝑖</m:t>
                                </m:r>
                              </m:sub>
                            </m:sSub>
                          </m:e>
                        </m:d>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𝑖</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m:t>
                        </m:r>
                      </m:sub>
                    </m:sSub>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avec</a:t>
                </a:r>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𝜇</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𝑖</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ℙ</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𝑋</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𝑖</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cela se reformule en :</a:t>
                </a:r>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tab pos="228600" algn="l"/>
                    <a:tab pos="5581015" algn="r"/>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𝜇</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𝑘</m:t>
                        </m:r>
                      </m:sub>
                    </m:s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𝜇</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b>
                    </m:sSub>
                    <m:sSup>
                      <m:sSup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p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p>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𝑘</m:t>
                        </m:r>
                      </m:sup>
                    </m:sSup>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2.29</m:t>
                        </m:r>
                      </m:e>
                    </m:d>
                  </m:oMath>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tab pos="228600" algn="l"/>
                    <a:tab pos="5581015" algn="r"/>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𝑒𝑡</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𝜇</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b>
                    </m:s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𝜇</m:t>
                        </m:r>
                      </m:e>
                      <m: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m:t>
                        </m:r>
                      </m:sub>
                    </m:sSub>
                    <m:sSup>
                      <m:sSup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p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p>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p>
                    </m:sSup>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(2.30)</m:t>
                    </m:r>
                  </m:oMath>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8" name="Rectangle 7"/>
              <p:cNvSpPr>
                <a:spLocks noRot="1" noChangeAspect="1" noMove="1" noResize="1" noEditPoints="1" noAdjustHandles="1" noChangeArrowheads="1" noChangeShapeType="1" noTextEdit="1"/>
              </p:cNvSpPr>
              <p:nvPr/>
            </p:nvSpPr>
            <p:spPr>
              <a:xfrm>
                <a:off x="1765109" y="4006397"/>
                <a:ext cx="10804478" cy="2305503"/>
              </a:xfrm>
              <a:prstGeom prst="rect">
                <a:avLst/>
              </a:prstGeom>
              <a:blipFill rotWithShape="0">
                <a:blip r:embed="rId4"/>
                <a:stretch>
                  <a:fillRect l="-508"/>
                </a:stretch>
              </a:blipFill>
            </p:spPr>
            <p:txBody>
              <a:bodyPr/>
              <a:lstStyle/>
              <a:p>
                <a:r>
                  <a:rPr lang="fr-FR">
                    <a:noFill/>
                  </a:rPr>
                  <a:t> </a:t>
                </a:r>
              </a:p>
            </p:txBody>
          </p:sp>
        </mc:Fallback>
      </mc:AlternateContent>
    </p:spTree>
    <p:extLst>
      <p:ext uri="{BB962C8B-B14F-4D97-AF65-F5344CB8AC3E}">
        <p14:creationId xmlns:p14="http://schemas.microsoft.com/office/powerpoint/2010/main" val="26574221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FR" sz="3200" dirty="0"/>
              <a:t>PROVISIONNER LA CROISSANCE ET LE DEVELOPPEMENT </a:t>
            </a:r>
            <a:br>
              <a:rPr lang="fr-FR" sz="3200" dirty="0"/>
            </a:br>
            <a:r>
              <a:rPr lang="fr-FR" sz="3200" dirty="0"/>
              <a:t>ETAPE 1 : CARACTERISATION DE LA STRUCTURE DE PLANTE</a:t>
            </a:r>
          </a:p>
        </p:txBody>
      </p:sp>
      <p:sp>
        <p:nvSpPr>
          <p:cNvPr id="3" name="Espace réservé du contenu 2"/>
          <p:cNvSpPr>
            <a:spLocks noGrp="1"/>
          </p:cNvSpPr>
          <p:nvPr>
            <p:ph idx="1"/>
          </p:nvPr>
        </p:nvSpPr>
        <p:spPr/>
        <p:txBody>
          <a:bodyPr/>
          <a:lstStyle/>
          <a:p>
            <a:r>
              <a:rPr lang="fr-FR" dirty="0"/>
              <a:t>SUITE FIBONACCI</a:t>
            </a:r>
          </a:p>
        </p:txBody>
      </p:sp>
      <p:sp>
        <p:nvSpPr>
          <p:cNvPr id="10" name="Espace réservé du numéro de diapositive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10F9B4-E45F-45DE-A182-D2D6DBA25399}"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4" name="Rectangle 3"/>
              <p:cNvSpPr/>
              <p:nvPr/>
            </p:nvSpPr>
            <p:spPr>
              <a:xfrm>
                <a:off x="1587689" y="2337517"/>
                <a:ext cx="9016621" cy="1200329"/>
              </a:xfrm>
              <a:prstGeom prst="rect">
                <a:avLst/>
              </a:prstGeom>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Mathématiquement, la suite de </a:t>
                </a:r>
                <a:r>
                  <a:rPr kumimoji="0" lang="fr-FR" sz="1800" b="0"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Fibonacci</a:t>
                </a: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est une suite telle que son nouveau terme est la somme des deux antécédents.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Soit </a:t>
                </a:r>
                <a14:m>
                  <m:oMath xmlns:m="http://schemas.openxmlformats.org/officeDocument/2006/math">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𝑢</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b>
                    </m:s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𝑢</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𝑢</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m:t>
                        </m:r>
                      </m:sub>
                    </m:s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𝑡𝑒𝑙</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𝑞𝑢𝑒</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𝑢</m:t>
                        </m:r>
                      </m:e>
                      <m: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m:t>
                        </m:r>
                      </m:sub>
                    </m:s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 </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𝑢</m:t>
                        </m:r>
                      </m:e>
                      <m: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oMath>
                </a14:m>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4" name="Rectangle 3"/>
              <p:cNvSpPr>
                <a:spLocks noRot="1" noChangeAspect="1" noMove="1" noResize="1" noEditPoints="1" noAdjustHandles="1" noChangeArrowheads="1" noChangeShapeType="1" noTextEdit="1"/>
              </p:cNvSpPr>
              <p:nvPr/>
            </p:nvSpPr>
            <p:spPr>
              <a:xfrm>
                <a:off x="1587689" y="2337517"/>
                <a:ext cx="9016621" cy="1200329"/>
              </a:xfrm>
              <a:prstGeom prst="rect">
                <a:avLst/>
              </a:prstGeom>
              <a:blipFill rotWithShape="0">
                <a:blip r:embed="rId3"/>
                <a:stretch>
                  <a:fillRect l="-541" r="-541" b="-7107"/>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1587689" y="3672783"/>
                <a:ext cx="3679149" cy="57041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&gt;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𝑁</m:t>
                        </m:r>
                      </m:e>
                      <m: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m:t>
                        </m:r>
                      </m:sub>
                    </m:s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 </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𝜙</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fPr>
                      <m:num>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𝑢</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num>
                      <m:den>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𝑢</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b>
                        </m:sSub>
                      </m:den>
                    </m:f>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fPr>
                      <m:num>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rad>
                          <m:radPr>
                            <m:degHide m:val="on"/>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radPr>
                          <m:deg/>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5</m:t>
                            </m:r>
                          </m:e>
                        </m:rad>
                      </m:num>
                      <m:den>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m:t>
                        </m:r>
                      </m:den>
                    </m:f>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1.618 </a:t>
                </a: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5" name="Rectangle 4"/>
              <p:cNvSpPr>
                <a:spLocks noRot="1" noChangeAspect="1" noMove="1" noResize="1" noEditPoints="1" noAdjustHandles="1" noChangeArrowheads="1" noChangeShapeType="1" noTextEdit="1"/>
              </p:cNvSpPr>
              <p:nvPr/>
            </p:nvSpPr>
            <p:spPr>
              <a:xfrm>
                <a:off x="1587689" y="3672783"/>
                <a:ext cx="3679149" cy="570413"/>
              </a:xfrm>
              <a:prstGeom prst="rect">
                <a:avLst/>
              </a:prstGeom>
              <a:blipFill rotWithShape="0">
                <a:blip r:embed="rId4"/>
                <a:stretch>
                  <a:fillRect r="-497"/>
                </a:stretch>
              </a:blipFill>
            </p:spPr>
            <p:txBody>
              <a:bodyPr/>
              <a:lstStyle/>
              <a:p>
                <a:r>
                  <a:rPr lang="fr-FR">
                    <a:noFill/>
                  </a:rPr>
                  <a:t> </a:t>
                </a:r>
              </a:p>
            </p:txBody>
          </p:sp>
        </mc:Fallback>
      </mc:AlternateContent>
      <p:pic>
        <p:nvPicPr>
          <p:cNvPr id="6" name="Image 5" descr="C:\Users\Oussama\Downloads\images (3).jpg"/>
          <p:cNvPicPr/>
          <p:nvPr/>
        </p:nvPicPr>
        <p:blipFill>
          <a:blip r:embed="rId5">
            <a:extLst>
              <a:ext uri="{28A0092B-C50C-407E-A947-70E740481C1C}">
                <a14:useLocalDpi xmlns:a14="http://schemas.microsoft.com/office/drawing/2010/main" val="0"/>
              </a:ext>
            </a:extLst>
          </a:blip>
          <a:srcRect/>
          <a:stretch>
            <a:fillRect/>
          </a:stretch>
        </p:blipFill>
        <p:spPr bwMode="auto">
          <a:xfrm>
            <a:off x="1345777" y="5092448"/>
            <a:ext cx="2785745" cy="1647825"/>
          </a:xfrm>
          <a:prstGeom prst="rect">
            <a:avLst/>
          </a:prstGeom>
          <a:noFill/>
          <a:ln>
            <a:noFill/>
          </a:ln>
        </p:spPr>
      </p:pic>
      <p:pic>
        <p:nvPicPr>
          <p:cNvPr id="7" name="Image 6" descr="C:\Users\Oussama\Downloads\images (2).jpg"/>
          <p:cNvPicPr/>
          <p:nvPr/>
        </p:nvPicPr>
        <p:blipFill>
          <a:blip r:embed="rId6">
            <a:extLst>
              <a:ext uri="{28A0092B-C50C-407E-A947-70E740481C1C}">
                <a14:useLocalDpi xmlns:a14="http://schemas.microsoft.com/office/drawing/2010/main" val="0"/>
              </a:ext>
            </a:extLst>
          </a:blip>
          <a:srcRect/>
          <a:stretch>
            <a:fillRect/>
          </a:stretch>
        </p:blipFill>
        <p:spPr bwMode="auto">
          <a:xfrm>
            <a:off x="4280554" y="4195350"/>
            <a:ext cx="2741295" cy="2029460"/>
          </a:xfrm>
          <a:prstGeom prst="rect">
            <a:avLst/>
          </a:prstGeom>
          <a:noFill/>
          <a:ln>
            <a:noFill/>
          </a:ln>
        </p:spPr>
      </p:pic>
      <p:pic>
        <p:nvPicPr>
          <p:cNvPr id="8" name="Image 7" descr="C:\Users\Oussama\Downloads\images (1).jpg"/>
          <p:cNvPicPr/>
          <p:nvPr/>
        </p:nvPicPr>
        <p:blipFill>
          <a:blip r:embed="rId7">
            <a:extLst>
              <a:ext uri="{28A0092B-C50C-407E-A947-70E740481C1C}">
                <a14:useLocalDpi xmlns:a14="http://schemas.microsoft.com/office/drawing/2010/main" val="0"/>
              </a:ext>
            </a:extLst>
          </a:blip>
          <a:srcRect/>
          <a:stretch>
            <a:fillRect/>
          </a:stretch>
        </p:blipFill>
        <p:spPr bwMode="auto">
          <a:xfrm>
            <a:off x="7170881" y="4729260"/>
            <a:ext cx="3104250" cy="2011013"/>
          </a:xfrm>
          <a:prstGeom prst="rect">
            <a:avLst/>
          </a:prstGeom>
          <a:noFill/>
          <a:ln>
            <a:noFill/>
          </a:ln>
        </p:spPr>
      </p:pic>
      <p:pic>
        <p:nvPicPr>
          <p:cNvPr id="9" name="Image 8" descr="C:\Users\Oussama\Downloads\images (4).jpg"/>
          <p:cNvPicPr/>
          <p:nvPr/>
        </p:nvPicPr>
        <p:blipFill>
          <a:blip r:embed="rId8">
            <a:extLst>
              <a:ext uri="{28A0092B-C50C-407E-A947-70E740481C1C}">
                <a14:useLocalDpi xmlns:a14="http://schemas.microsoft.com/office/drawing/2010/main" val="0"/>
              </a:ext>
            </a:extLst>
          </a:blip>
          <a:srcRect/>
          <a:stretch>
            <a:fillRect/>
          </a:stretch>
        </p:blipFill>
        <p:spPr bwMode="auto">
          <a:xfrm>
            <a:off x="8137335" y="2822354"/>
            <a:ext cx="2466975" cy="1849755"/>
          </a:xfrm>
          <a:prstGeom prst="rect">
            <a:avLst/>
          </a:prstGeom>
          <a:noFill/>
          <a:ln>
            <a:noFill/>
          </a:ln>
        </p:spPr>
      </p:pic>
    </p:spTree>
    <p:extLst>
      <p:ext uri="{BB962C8B-B14F-4D97-AF65-F5344CB8AC3E}">
        <p14:creationId xmlns:p14="http://schemas.microsoft.com/office/powerpoint/2010/main" val="30644411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FR" sz="3200" dirty="0"/>
              <a:t>PROVISIONNER LA CROISSANCE ET LE DEVELOPPEMENT </a:t>
            </a:r>
            <a:br>
              <a:rPr lang="fr-FR" sz="3200" dirty="0"/>
            </a:br>
            <a:r>
              <a:rPr lang="fr-FR" sz="3200" dirty="0"/>
              <a:t>ETAPE 1 : CARACTERISATION DE LA STRUCTURE DE PLANTE</a:t>
            </a:r>
          </a:p>
        </p:txBody>
      </p:sp>
      <p:sp>
        <p:nvSpPr>
          <p:cNvPr id="3" name="Espace réservé du contenu 2"/>
          <p:cNvSpPr>
            <a:spLocks noGrp="1"/>
          </p:cNvSpPr>
          <p:nvPr>
            <p:ph idx="1"/>
          </p:nvPr>
        </p:nvSpPr>
        <p:spPr/>
        <p:txBody>
          <a:bodyPr/>
          <a:lstStyle/>
          <a:p>
            <a:r>
              <a:rPr lang="fr-FR" dirty="0"/>
              <a:t>SUITE FIBONACCI</a:t>
            </a:r>
          </a:p>
        </p:txBody>
      </p:sp>
      <p:sp>
        <p:nvSpPr>
          <p:cNvPr id="7" name="Espace réservé du numéro de diapositive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10F9B4-E45F-45DE-A182-D2D6DBA25399}"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Rectangle 3"/>
          <p:cNvSpPr/>
          <p:nvPr/>
        </p:nvSpPr>
        <p:spPr>
          <a:xfrm>
            <a:off x="1464860" y="2432039"/>
            <a:ext cx="6096000" cy="1338828"/>
          </a:xfrm>
          <a:prstGeom prst="rect">
            <a:avLst/>
          </a:prstGeom>
        </p:spPr>
        <p:txBody>
          <a:bodyPr>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Axiome : f</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Règle A : f  </a:t>
            </a: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a:t>
            </a: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F</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Règle B : F </a:t>
            </a: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a:t>
            </a: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F[f]</a:t>
            </a:r>
          </a:p>
        </p:txBody>
      </p:sp>
      <mc:AlternateContent xmlns:mc="http://schemas.openxmlformats.org/markup-compatibility/2006" xmlns:a14="http://schemas.microsoft.com/office/drawing/2010/main">
        <mc:Choice Requires="a14">
          <p:sp>
            <p:nvSpPr>
              <p:cNvPr id="5" name="Rectangle 4"/>
              <p:cNvSpPr/>
              <p:nvPr/>
            </p:nvSpPr>
            <p:spPr>
              <a:xfrm>
                <a:off x="1464860" y="3840625"/>
                <a:ext cx="8457062" cy="5187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En conclusion, pour des</a:t>
                </a: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𝑛</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𝑁</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m:t>
                        </m:r>
                      </m:sub>
                    </m:sSub>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 </a:t>
                </a:r>
                <a14:m>
                  <m:oMath xmlns:m="http://schemas.openxmlformats.org/officeDocument/2006/math">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𝜇</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b>
                    </m:sSub>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converge vers </a:t>
                </a: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fPr>
                      <m:num>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num>
                      <m:den>
                        <m:sSup>
                          <m:sSup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𝜙</m:t>
                            </m:r>
                          </m:e>
                          <m:sup>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2</m:t>
                            </m:r>
                          </m:sup>
                        </m:sSup>
                      </m:den>
                    </m:f>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fPr>
                      <m:num>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num>
                      <m:den>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𝜙</m:t>
                        </m:r>
                      </m:den>
                    </m:f>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avec </a:t>
                </a: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𝜙</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≈1.618</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5" name="Rectangle 4"/>
              <p:cNvSpPr>
                <a:spLocks noRot="1" noChangeAspect="1" noMove="1" noResize="1" noEditPoints="1" noAdjustHandles="1" noChangeArrowheads="1" noChangeShapeType="1" noTextEdit="1"/>
              </p:cNvSpPr>
              <p:nvPr/>
            </p:nvSpPr>
            <p:spPr>
              <a:xfrm>
                <a:off x="1464860" y="3840625"/>
                <a:ext cx="8457062" cy="518732"/>
              </a:xfrm>
              <a:prstGeom prst="rect">
                <a:avLst/>
              </a:prstGeom>
              <a:blipFill rotWithShape="0">
                <a:blip r:embed="rId3"/>
                <a:stretch>
                  <a:fillRect l="-576" b="-7059"/>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1464860" y="4429115"/>
                <a:ext cx="9144000" cy="2126480"/>
              </a:xfrm>
              <a:prstGeom prst="rect">
                <a:avLst/>
              </a:prstGeom>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20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Pour le cas général,</a:t>
                </a:r>
                <a:endParaRPr kumimoji="0" lang="fr-FR"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tab pos="228600" algn="l"/>
                    <a:tab pos="5581015" algn="r"/>
                  </a:tabLst>
                  <a:defRPr/>
                </a:pPr>
                <a:r>
                  <a:rPr kumimoji="0" lang="fr-FR" sz="20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𝑎</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𝑏</m:t>
                            </m:r>
                          </m:e>
                        </m:d>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Sup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ℝ</m:t>
                            </m:r>
                          </m:e>
                          <m: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ub>
                          <m:sup>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up>
                        </m:sSubSup>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𝑣</m:t>
                        </m:r>
                      </m:e>
                      <m: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m:t>
                        </m:r>
                      </m:sub>
                    </m:s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𝑎</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𝑏</m:t>
                        </m:r>
                      </m:e>
                    </m:d>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a14:m>
                <a:r>
                  <a:rPr kumimoji="0" lang="fr-FR" sz="20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alors</a:t>
                </a:r>
                <a14:m>
                  <m:oMath xmlns:m="http://schemas.openxmlformats.org/officeDocument/2006/math">
                    <m:r>
                      <a:rPr kumimoji="0" lang="fr-FR" sz="20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sSub>
                      <m:sSubPr>
                        <m:ctrlPr>
                          <a:rPr kumimoji="0" lang="fr-FR" sz="2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2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𝜇</m:t>
                        </m:r>
                      </m:e>
                      <m:sub>
                        <m:r>
                          <a:rPr kumimoji="0" lang="fr-FR" sz="2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20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sub>
                    </m:sSub>
                  </m:oMath>
                </a14:m>
                <a:r>
                  <a:rPr kumimoji="0" lang="fr-FR" sz="20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converge vers </a:t>
                </a:r>
                <a14:m>
                  <m:oMath xmlns:m="http://schemas.openxmlformats.org/officeDocument/2006/math">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𝑎</m:t>
                        </m:r>
                      </m:num>
                      <m:den>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𝑎</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𝑏</m:t>
                        </m:r>
                      </m:den>
                    </m:f>
                    <m:f>
                      <m:f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num>
                      <m:den>
                        <m:sSup>
                          <m:sSup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p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𝜙</m:t>
                            </m:r>
                          </m:e>
                          <m:sup>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m:t>
                            </m:r>
                          </m:sup>
                        </m:sSup>
                      </m:den>
                    </m:f>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𝑏</m:t>
                        </m:r>
                      </m:num>
                      <m:den>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𝑎</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𝑏</m:t>
                        </m:r>
                      </m:den>
                    </m:f>
                    <m:f>
                      <m:f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num>
                      <m:den>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𝜙</m:t>
                        </m:r>
                      </m:den>
                    </m:f>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𝑎</m:t>
                        </m:r>
                      </m:num>
                      <m:den>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𝑎</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𝑏</m:t>
                        </m:r>
                      </m:den>
                    </m:f>
                    <m:f>
                      <m:f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num>
                      <m:den>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𝜙</m:t>
                        </m:r>
                      </m:den>
                    </m:f>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𝑏</m:t>
                        </m:r>
                      </m:num>
                      <m:den>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𝑎</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𝑏</m:t>
                        </m:r>
                      </m:den>
                    </m:f>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oMath>
                </a14:m>
                <a:r>
                  <a:rPr kumimoji="0" lang="fr-FR" sz="20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20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(2.51)</m:t>
                    </m:r>
                  </m:oMath>
                </a14:m>
                <a:endParaRPr kumimoji="0" lang="fr-FR"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Dans notre cas comme </a:t>
                </a:r>
                <a14:m>
                  <m:oMath xmlns:m="http://schemas.openxmlformats.org/officeDocument/2006/math">
                    <m:sSub>
                      <m:sSubPr>
                        <m:ctrlPr>
                          <a:rPr kumimoji="0" lang="fr-FR" sz="2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2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𝑣</m:t>
                        </m:r>
                      </m:e>
                      <m:sub>
                        <m:r>
                          <a:rPr kumimoji="0" lang="fr-FR" sz="2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m:t>
                        </m:r>
                      </m:sub>
                    </m:sSub>
                    <m:r>
                      <a:rPr kumimoji="0" lang="fr-FR" sz="2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=(1,0)</m:t>
                    </m:r>
                  </m:oMath>
                </a14:m>
                <a:r>
                  <a:rPr kumimoji="0" lang="fr-FR" sz="20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alors </a:t>
                </a:r>
                <a:r>
                  <a:rPr kumimoji="0" lang="fr-FR"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à une itération</a:t>
                </a:r>
                <a14:m>
                  <m:oMath xmlns:m="http://schemas.openxmlformats.org/officeDocument/2006/math">
                    <m:r>
                      <a:rPr kumimoji="0" lang="fr-FR" sz="20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 </m:t>
                    </m:r>
                    <m:r>
                      <a:rPr kumimoji="0" lang="fr-FR" sz="2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2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2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2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𝑁</m:t>
                        </m:r>
                      </m:e>
                      <m:sub>
                        <m:r>
                          <a:rPr kumimoji="0" lang="fr-FR" sz="20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m:t>
                        </m:r>
                      </m:sub>
                    </m:sSub>
                  </m:oMath>
                </a14:m>
                <a:r>
                  <a:rPr kumimoji="0" lang="fr-FR" sz="20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 il existe 38% de la population qui sont des couples jeunes et 62% couples mûres.</a:t>
                </a:r>
                <a:endParaRPr kumimoji="0" lang="fr-FR"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6" name="Rectangle 5"/>
              <p:cNvSpPr>
                <a:spLocks noRot="1" noChangeAspect="1" noMove="1" noResize="1" noEditPoints="1" noAdjustHandles="1" noChangeArrowheads="1" noChangeShapeType="1" noTextEdit="1"/>
              </p:cNvSpPr>
              <p:nvPr/>
            </p:nvSpPr>
            <p:spPr>
              <a:xfrm>
                <a:off x="1464860" y="4429115"/>
                <a:ext cx="9144000" cy="2126480"/>
              </a:xfrm>
              <a:prstGeom prst="rect">
                <a:avLst/>
              </a:prstGeom>
              <a:blipFill rotWithShape="0">
                <a:blip r:embed="rId4"/>
                <a:stretch>
                  <a:fillRect l="-667" r="-733" b="-2299"/>
                </a:stretch>
              </a:blipFill>
            </p:spPr>
            <p:txBody>
              <a:bodyPr/>
              <a:lstStyle/>
              <a:p>
                <a:r>
                  <a:rPr lang="fr-FR">
                    <a:noFill/>
                  </a:rPr>
                  <a:t> </a:t>
                </a:r>
              </a:p>
            </p:txBody>
          </p:sp>
        </mc:Fallback>
      </mc:AlternateContent>
    </p:spTree>
    <p:extLst>
      <p:ext uri="{BB962C8B-B14F-4D97-AF65-F5344CB8AC3E}">
        <p14:creationId xmlns:p14="http://schemas.microsoft.com/office/powerpoint/2010/main" val="1794515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FR" sz="3200" dirty="0"/>
              <a:t>PROVISIONNER LA CROISSANCE ET LE DEVELOPPEMENT </a:t>
            </a:r>
            <a:br>
              <a:rPr lang="fr-FR" sz="3200" dirty="0"/>
            </a:br>
            <a:r>
              <a:rPr lang="fr-FR" sz="3200" dirty="0"/>
              <a:t>ETAPE 1 : CARACTERISATION DE LA STRUCTURE DE PLANTE</a:t>
            </a:r>
          </a:p>
        </p:txBody>
      </p:sp>
      <p:sp>
        <p:nvSpPr>
          <p:cNvPr id="3" name="Espace réservé du contenu 2"/>
          <p:cNvSpPr>
            <a:spLocks noGrp="1"/>
          </p:cNvSpPr>
          <p:nvPr>
            <p:ph idx="1"/>
          </p:nvPr>
        </p:nvSpPr>
        <p:spPr/>
        <p:txBody>
          <a:bodyPr/>
          <a:lstStyle/>
          <a:p>
            <a:r>
              <a:rPr lang="fr-FR" dirty="0"/>
              <a:t>SUITE FIBONACCI</a:t>
            </a:r>
          </a:p>
        </p:txBody>
      </p:sp>
      <p:sp>
        <p:nvSpPr>
          <p:cNvPr id="7" name="Espace réservé du numéro de diapositive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10F9B4-E45F-45DE-A182-D2D6DBA25399}"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4" name="Rectangle 3"/>
              <p:cNvSpPr/>
              <p:nvPr/>
            </p:nvSpPr>
            <p:spPr>
              <a:xfrm>
                <a:off x="1055426" y="2243010"/>
                <a:ext cx="8975678" cy="2556982"/>
              </a:xfrm>
              <a:prstGeom prst="rect">
                <a:avLst/>
              </a:prstGeom>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Axiome : f</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Règle A : f </a:t>
                </a: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a:t>
                </a: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f       </a:t>
                </a:r>
                <a14:m>
                  <m:oMath xmlns:m="http://schemas.openxmlformats.org/officeDocument/2006/math">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𝑛</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𝐴</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m:t>
                    </m:r>
                  </m:oMath>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Règle B : f </a:t>
                </a: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a:t>
                </a: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f[f]      </a:t>
                </a:r>
                <a14:m>
                  <m:oMath xmlns:m="http://schemas.openxmlformats.org/officeDocument/2006/math">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𝑛</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𝐵</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m:t>
                    </m:r>
                  </m:oMath>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Avec :</a:t>
                </a:r>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tab pos="228600" algn="l"/>
                    <a:tab pos="5581015" algn="r"/>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𝐴</m:t>
                            </m:r>
                          </m:e>
                        </m:d>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e>
                        </m:d>
                      </m:e>
                    </m:d>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𝐴</m:t>
                            </m:r>
                          </m:e>
                        </m:d>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e>
                        </m:d>
                      </m:e>
                    </m:d>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2"/>
                                  <m:mcJc m:val="center"/>
                                </m:mcPr>
                              </m:mc>
                            </m:mcs>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mPr>
                          <m:m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𝐴</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𝐴</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𝐴</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mr>
                          <m:m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𝐴</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mr>
                        </m:m>
                      </m:e>
                    </m:d>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(2.52)</m:t>
                    </m:r>
                  </m:oMath>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1055426" y="2243010"/>
                <a:ext cx="8975678" cy="2556982"/>
              </a:xfrm>
              <a:prstGeom prst="rect">
                <a:avLst/>
              </a:prstGeom>
              <a:blipFill rotWithShape="0">
                <a:blip r:embed="rId3"/>
                <a:stretch>
                  <a:fillRect l="-543"/>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1055426" y="4741446"/>
                <a:ext cx="6096000" cy="1494063"/>
              </a:xfrm>
              <a:prstGeom prst="rect">
                <a:avLst/>
              </a:prstGeom>
            </p:spPr>
            <p:txBody>
              <a:bodyPr>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On conclue que :</a:t>
                </a:r>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tab pos="228600" algn="l"/>
                    <a:tab pos="5581015" algn="r"/>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2"/>
                                  <m:mcJc m:val="center"/>
                                </m:mcPr>
                              </m:mc>
                            </m:mcs>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mPr>
                          <m:m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𝐴</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𝐴</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𝐴</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mr>
                          <m:m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𝐴</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mr>
                        </m:m>
                      </m:e>
                    </m:d>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2"/>
                                  <m:mcJc m:val="center"/>
                                </m:mcPr>
                              </m:mc>
                            </m:mcs>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mPr>
                          <m:m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m:t>
                              </m:r>
                            </m:e>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e>
                          </m:mr>
                          <m:mr>
                            <m:e>
                              <m:f>
                                <m:f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num>
                                <m:den>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𝜙</m:t>
                                  </m:r>
                                </m:den>
                              </m:f>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e>
                            <m:e>
                              <m:f>
                                <m:f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num>
                                <m:den>
                                  <m:sSup>
                                    <m:sSup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p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𝜙</m:t>
                                      </m:r>
                                    </m:e>
                                    <m:sup>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m:t>
                                      </m:r>
                                    </m:sup>
                                  </m:sSup>
                                </m:den>
                              </m:f>
                            </m:e>
                          </m:mr>
                        </m:m>
                      </m:e>
                    </m:d>
                  </m:oMath>
                </a14:m>
                <a:r>
                  <a:rPr kumimoji="0" lang="fr-FR" sz="1800" b="0" i="0" u="none" strike="noStrike" kern="1200" cap="none" spc="0" normalizeH="0" baseline="0" noProof="0" dirty="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a:t> 	(2.65)</a:t>
                </a:r>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1055426" y="4741446"/>
                <a:ext cx="6096000" cy="1494063"/>
              </a:xfrm>
              <a:prstGeom prst="rect">
                <a:avLst/>
              </a:prstGeom>
              <a:blipFill rotWithShape="0">
                <a:blip r:embed="rId4"/>
                <a:stretch>
                  <a:fillRect l="-80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8263151" y="2153361"/>
                <a:ext cx="3535905" cy="4023602"/>
              </a:xfrm>
              <a:prstGeom prst="rect">
                <a:avLst/>
              </a:prstGeom>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De ce fait si on dit que la capacité d’un arbre à se propager est comme la capacité de cette suite à se propager, alors nous pouvons déduire une contrainte suivant l’équation </a:t>
                </a:r>
                <a14:m>
                  <m:oMath xmlns:m="http://schemas.openxmlformats.org/officeDocument/2006/math">
                    <m:f>
                      <m:f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fPr>
                      <m:num>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𝛼</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𝑛</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+1</m:t>
                            </m:r>
                          </m:sub>
                        </m:sSub>
                      </m:num>
                      <m:den>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𝛼</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𝑛</m:t>
                            </m:r>
                          </m:sub>
                        </m:sSub>
                      </m:den>
                    </m:f>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𝜙</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à un system à N règle connue, où les probabilités d’exécution de ces règles sont inconnues.</a:t>
                </a:r>
              </a:p>
            </p:txBody>
          </p:sp>
        </mc:Choice>
        <mc:Fallback xmlns="">
          <p:sp>
            <p:nvSpPr>
              <p:cNvPr id="6" name="Rectangle 5"/>
              <p:cNvSpPr>
                <a:spLocks noRot="1" noChangeAspect="1" noMove="1" noResize="1" noEditPoints="1" noAdjustHandles="1" noChangeArrowheads="1" noChangeShapeType="1" noTextEdit="1"/>
              </p:cNvSpPr>
              <p:nvPr/>
            </p:nvSpPr>
            <p:spPr>
              <a:xfrm>
                <a:off x="8263151" y="2153361"/>
                <a:ext cx="3535905" cy="4023602"/>
              </a:xfrm>
              <a:prstGeom prst="rect">
                <a:avLst/>
              </a:prstGeom>
              <a:blipFill rotWithShape="0">
                <a:blip r:embed="rId5"/>
                <a:stretch>
                  <a:fillRect l="-1552" r="-1379" b="-455"/>
                </a:stretch>
              </a:blipFill>
            </p:spPr>
            <p:txBody>
              <a:bodyPr/>
              <a:lstStyle/>
              <a:p>
                <a:r>
                  <a:rPr lang="fr-FR">
                    <a:noFill/>
                  </a:rPr>
                  <a:t> </a:t>
                </a:r>
              </a:p>
            </p:txBody>
          </p:sp>
        </mc:Fallback>
      </mc:AlternateContent>
    </p:spTree>
    <p:extLst>
      <p:ext uri="{BB962C8B-B14F-4D97-AF65-F5344CB8AC3E}">
        <p14:creationId xmlns:p14="http://schemas.microsoft.com/office/powerpoint/2010/main" val="41837028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FR" sz="3200" dirty="0"/>
              <a:t>PROVISIONNER LA CROISSANCE ET LE DEVELOPPEMENT </a:t>
            </a:r>
            <a:br>
              <a:rPr lang="fr-FR" sz="3200" dirty="0"/>
            </a:br>
            <a:r>
              <a:rPr lang="fr-FR" sz="3200" dirty="0"/>
              <a:t>ETAPE 1 : CARACTERISATION DE LA STRUCTURE DE PLANTE</a:t>
            </a:r>
          </a:p>
        </p:txBody>
      </p:sp>
      <p:sp>
        <p:nvSpPr>
          <p:cNvPr id="3" name="Espace réservé du contenu 2"/>
          <p:cNvSpPr>
            <a:spLocks noGrp="1"/>
          </p:cNvSpPr>
          <p:nvPr>
            <p:ph idx="1"/>
          </p:nvPr>
        </p:nvSpPr>
        <p:spPr/>
        <p:txBody>
          <a:bodyPr/>
          <a:lstStyle/>
          <a:p>
            <a:r>
              <a:rPr lang="fr-FR" dirty="0"/>
              <a:t>REGLE PROPOSER</a:t>
            </a:r>
          </a:p>
        </p:txBody>
      </p:sp>
      <p:sp>
        <p:nvSpPr>
          <p:cNvPr id="5" name="Espace réservé du numéro de diapositive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10F9B4-E45F-45DE-A182-D2D6DBA25399}"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4" name="Rectangle 3"/>
              <p:cNvSpPr/>
              <p:nvPr/>
            </p:nvSpPr>
            <p:spPr>
              <a:xfrm>
                <a:off x="1642280" y="2293134"/>
                <a:ext cx="6096000" cy="3416320"/>
              </a:xfrm>
              <a:prstGeom prst="rect">
                <a:avLst/>
              </a:prstGeom>
            </p:spPr>
            <p:txBody>
              <a:bodyPr>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Soit les règles suivantes :</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Axiome : f</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Règle A : g </a:t>
                </a: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a:t>
                </a: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g            </a:t>
                </a:r>
                <a14:m>
                  <m:oMath xmlns:m="http://schemas.openxmlformats.org/officeDocument/2006/math">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𝐻</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𝑛</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𝐴</m:t>
                        </m:r>
                      </m:e>
                    </m:d>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Règle B : f </a:t>
                </a: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a:t>
                </a: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g           </a:t>
                </a:r>
                <a14:m>
                  <m:oMath xmlns:m="http://schemas.openxmlformats.org/officeDocument/2006/math">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𝐻</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𝑛</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𝐵</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m:t>
                    </m:r>
                  </m:oMath>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Règle C : f </a:t>
                </a: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 </a:t>
                </a: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f            </a:t>
                </a:r>
                <a14:m>
                  <m:oMath xmlns:m="http://schemas.openxmlformats.org/officeDocument/2006/math">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𝐻</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𝑛</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𝐶</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m:t>
                    </m:r>
                  </m:oMath>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Règle D : f </a:t>
                </a: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a:t>
                </a: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fr-FR" sz="1800" b="0"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Yf</a:t>
                </a: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14:m>
                  <m:oMath xmlns:m="http://schemas.openxmlformats.org/officeDocument/2006/math">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𝐻</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𝑛</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𝐷</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m:t>
                    </m:r>
                  </m:oMath>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Règle E : f </a:t>
                </a: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 </a:t>
                </a: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X[f]f            </a:t>
                </a:r>
                <a14:m>
                  <m:oMath xmlns:m="http://schemas.openxmlformats.org/officeDocument/2006/math">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𝐻</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𝑛</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𝐸</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m:t>
                    </m:r>
                  </m:oMath>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tab pos="228600" algn="l"/>
                    <a:tab pos="5581015" algn="r"/>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Avec  </a:t>
                </a:r>
                <a14:m>
                  <m:oMath xmlns:m="http://schemas.openxmlformats.org/officeDocument/2006/math">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𝐻</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e>
                    </m:d>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𝐻</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𝐶</m:t>
                        </m:r>
                      </m:e>
                    </m:d>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𝐻</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𝐷</m:t>
                        </m:r>
                      </m:e>
                    </m:d>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𝐻</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m:t>
                        </m:r>
                      </m:e>
                    </m:d>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(2.66)</m:t>
                    </m:r>
                  </m:oMath>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1642280" y="2293134"/>
                <a:ext cx="6096000" cy="3416320"/>
              </a:xfrm>
              <a:prstGeom prst="rect">
                <a:avLst/>
              </a:prstGeom>
              <a:blipFill rotWithShape="0">
                <a:blip r:embed="rId3"/>
                <a:stretch>
                  <a:fillRect l="-800" b="-535"/>
                </a:stretch>
              </a:blipFill>
            </p:spPr>
            <p:txBody>
              <a:bodyPr/>
              <a:lstStyle/>
              <a:p>
                <a:r>
                  <a:rPr lang="fr-FR">
                    <a:noFill/>
                  </a:rPr>
                  <a:t> </a:t>
                </a:r>
              </a:p>
            </p:txBody>
          </p:sp>
        </mc:Fallback>
      </mc:AlternateContent>
    </p:spTree>
    <p:extLst>
      <p:ext uri="{BB962C8B-B14F-4D97-AF65-F5344CB8AC3E}">
        <p14:creationId xmlns:p14="http://schemas.microsoft.com/office/powerpoint/2010/main" val="41469375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FR" sz="3200" dirty="0"/>
              <a:t>PROVISIONNER LA CROISSANCE ET LE DEVELOPPEMENT </a:t>
            </a:r>
            <a:br>
              <a:rPr lang="fr-FR" sz="3200" dirty="0"/>
            </a:br>
            <a:r>
              <a:rPr lang="fr-FR" sz="3200" dirty="0"/>
              <a:t>ETAPE 1 : CARACTERISATION DE LA STRUCTURE DE PLANTE</a:t>
            </a:r>
          </a:p>
        </p:txBody>
      </p:sp>
      <p:sp>
        <p:nvSpPr>
          <p:cNvPr id="3" name="Espace réservé du contenu 2"/>
          <p:cNvSpPr>
            <a:spLocks noGrp="1"/>
          </p:cNvSpPr>
          <p:nvPr>
            <p:ph idx="1"/>
          </p:nvPr>
        </p:nvSpPr>
        <p:spPr/>
        <p:txBody>
          <a:bodyPr/>
          <a:lstStyle/>
          <a:p>
            <a:r>
              <a:rPr lang="fr-FR" dirty="0"/>
              <a:t>REGLE PROPOSER</a:t>
            </a:r>
          </a:p>
        </p:txBody>
      </p:sp>
      <p:sp>
        <p:nvSpPr>
          <p:cNvPr id="4" name="Espace réservé du numéro de diapositive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10F9B4-E45F-45DE-A182-D2D6DBA25399}"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5" name="Rectangle 4"/>
              <p:cNvSpPr/>
              <p:nvPr/>
            </p:nvSpPr>
            <p:spPr>
              <a:xfrm>
                <a:off x="1464859" y="2484121"/>
                <a:ext cx="9357815" cy="144898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𝑀</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dPr>
                      <m:e>
                        <m:m>
                          <m:mPr>
                            <m:mcs>
                              <m:mc>
                                <m:mcPr>
                                  <m:count m:val="2"/>
                                  <m:mcJc m:val="center"/>
                                </m:mcPr>
                              </m:mc>
                            </m:mcs>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mPr>
                          <m:mr>
                            <m:e>
                              <m:m>
                                <m:mPr>
                                  <m:mcs>
                                    <m:mc>
                                      <m:mcPr>
                                        <m:count m:val="3"/>
                                        <m:mcJc m:val="center"/>
                                      </m:mcPr>
                                    </m:mc>
                                  </m:mcs>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mPr>
                                <m:m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e>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m:t>
                                    </m:r>
                                  </m:e>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m:t>
                                    </m:r>
                                  </m:e>
                                </m:mr>
                                <m:m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e>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m:t>
                                    </m:r>
                                  </m:e>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m:t>
                                    </m:r>
                                  </m:e>
                                </m:mr>
                                <m:m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m:t>
                                    </m:r>
                                  </m:e>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𝐶</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𝐶</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𝐶</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mr>
                              </m:m>
                            </m:e>
                            <m:e>
                              <m:m>
                                <m:mPr>
                                  <m:mcs>
                                    <m:mc>
                                      <m:mcPr>
                                        <m:count m:val="2"/>
                                        <m:mcJc m:val="center"/>
                                      </m:mcPr>
                                    </m:mc>
                                  </m:mcs>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mPr>
                                <m:m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m:t>
                                    </m:r>
                                  </m:e>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m:t>
                                    </m:r>
                                  </m:e>
                                </m:mr>
                                <m:m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m:t>
                                    </m:r>
                                  </m:e>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m:t>
                                    </m:r>
                                  </m:e>
                                </m:mr>
                                <m:m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𝐷</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𝐶</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𝐶</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mr>
                              </m:m>
                            </m:e>
                          </m:mr>
                          <m:mr>
                            <m:e>
                              <m:m>
                                <m:mPr>
                                  <m:mcs>
                                    <m:mc>
                                      <m:mcPr>
                                        <m:count m:val="3"/>
                                        <m:mcJc m:val="center"/>
                                      </m:mcPr>
                                    </m:mc>
                                  </m:mcs>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mPr>
                                <m:m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m:t>
                                    </m:r>
                                  </m:e>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𝐷</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𝐶</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𝐷</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mr>
                                <m:m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m:t>
                                    </m:r>
                                  </m:e>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𝐶</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mr>
                              </m:m>
                            </m:e>
                            <m:e>
                              <m:m>
                                <m:mPr>
                                  <m:mcs>
                                    <m:mc>
                                      <m:mcPr>
                                        <m:count m:val="2"/>
                                        <m:mcJc m:val="center"/>
                                      </m:mcPr>
                                    </m:mc>
                                  </m:mcs>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mPr>
                                <m:m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𝐷</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𝐷</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𝐷</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mr>
                                <m:m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𝐷</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mr>
                              </m:m>
                            </m:e>
                          </m:mr>
                        </m:m>
                      </m:e>
                    </m:d>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(2.82)</m:t>
                    </m:r>
                  </m:oMath>
                </a14:m>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5" name="Rectangle 4"/>
              <p:cNvSpPr>
                <a:spLocks noRot="1" noChangeAspect="1" noMove="1" noResize="1" noEditPoints="1" noAdjustHandles="1" noChangeArrowheads="1" noChangeShapeType="1" noTextEdit="1"/>
              </p:cNvSpPr>
              <p:nvPr/>
            </p:nvSpPr>
            <p:spPr>
              <a:xfrm>
                <a:off x="1464859" y="2484121"/>
                <a:ext cx="9357815" cy="1448986"/>
              </a:xfrm>
              <a:prstGeom prst="rect">
                <a:avLst/>
              </a:prstGeom>
              <a:blipFill rotWithShape="0">
                <a:blip r:embed="rId3"/>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1193335" y="3423787"/>
                <a:ext cx="5820183" cy="1757341"/>
              </a:xfrm>
              <a:prstGeom prst="rect">
                <a:avLst/>
              </a:prstGeom>
            </p:spPr>
            <p:txBody>
              <a:bodyPr wrap="none">
                <a:spAutoFit/>
              </a:bodyPr>
              <a:lstStyle/>
              <a:p>
                <a:pPr marL="0" marR="0" lvl="0" indent="0" algn="just" defTabSz="914400" rtl="0" eaLnBrk="1" fontAlgn="auto" latinLnBrk="0" hangingPunct="1">
                  <a:lnSpc>
                    <a:spcPct val="150000"/>
                  </a:lnSpc>
                  <a:spcBef>
                    <a:spcPts val="0"/>
                  </a:spcBef>
                  <a:spcAft>
                    <a:spcPts val="0"/>
                  </a:spcAft>
                  <a:buClrTx/>
                  <a:buSzTx/>
                  <a:buFontTx/>
                  <a:buNone/>
                  <a:tabLst>
                    <a:tab pos="228600" algn="l"/>
                    <a:tab pos="5581015" algn="r"/>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𝐻</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2"/>
                                  <m:mcJc m:val="center"/>
                                </m:mcPr>
                              </m:mc>
                            </m:mcs>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mPr>
                          <m:mr>
                            <m:e>
                              <m:m>
                                <m:mPr>
                                  <m:mcs>
                                    <m:mc>
                                      <m:mcPr>
                                        <m:count m:val="2"/>
                                        <m:mcJc m:val="center"/>
                                      </m:mcPr>
                                    </m:mc>
                                  </m:mcs>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mPr>
                                <m:m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𝐻</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𝐻</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𝐶</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mr>
                                <m:m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𝐻</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𝐶</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𝐻</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𝐶</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𝐶</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mr>
                              </m:m>
                            </m:e>
                            <m:e>
                              <m:m>
                                <m:mPr>
                                  <m:mcs>
                                    <m:mc>
                                      <m:mcPr>
                                        <m:count m:val="2"/>
                                        <m:mcJc m:val="center"/>
                                      </m:mcPr>
                                    </m:mc>
                                  </m:mcs>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mPr>
                                <m:m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𝐻</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𝐷</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𝐻</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mr>
                                <m:m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𝐻</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𝐷</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𝐶</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𝐻</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𝐶</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mr>
                              </m:m>
                            </m:e>
                          </m:mr>
                          <m:mr>
                            <m:e>
                              <m:m>
                                <m:mPr>
                                  <m:mcs>
                                    <m:mc>
                                      <m:mcPr>
                                        <m:count m:val="2"/>
                                        <m:mcJc m:val="center"/>
                                      </m:mcPr>
                                    </m:mc>
                                  </m:mcs>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mPr>
                                <m:m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𝐻</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𝐷</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𝐻</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𝐶</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𝐷</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mr>
                                <m:m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𝐻</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𝐻</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𝐶</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mr>
                              </m:m>
                            </m:e>
                            <m:e>
                              <m:m>
                                <m:mPr>
                                  <m:mcs>
                                    <m:mc>
                                      <m:mcPr>
                                        <m:count m:val="2"/>
                                        <m:mcJc m:val="center"/>
                                      </m:mcPr>
                                    </m:mc>
                                  </m:mcs>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mPr>
                                <m:m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𝐻</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𝐷</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𝐷</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𝐻</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𝐷</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mr>
                                <m:m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𝐻</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𝐷</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𝐻</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mr>
                              </m:m>
                            </m:e>
                          </m:mr>
                        </m:m>
                      </m:e>
                    </m:d>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(2.85)</m:t>
                    </m:r>
                  </m:oMath>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7" name="Rectangle 6"/>
              <p:cNvSpPr>
                <a:spLocks noRot="1" noChangeAspect="1" noMove="1" noResize="1" noEditPoints="1" noAdjustHandles="1" noChangeArrowheads="1" noChangeShapeType="1" noTextEdit="1"/>
              </p:cNvSpPr>
              <p:nvPr/>
            </p:nvSpPr>
            <p:spPr>
              <a:xfrm>
                <a:off x="1193335" y="3423787"/>
                <a:ext cx="5820183" cy="1757341"/>
              </a:xfrm>
              <a:prstGeom prst="rect">
                <a:avLst/>
              </a:prstGeom>
              <a:blipFill rotWithShape="0">
                <a:blip r:embed="rId4"/>
                <a:stretch>
                  <a:fillRect/>
                </a:stretch>
              </a:blipFill>
            </p:spPr>
            <p:txBody>
              <a:bodyPr/>
              <a:lstStyle/>
              <a:p>
                <a:r>
                  <a:rPr lang="fr-FR">
                    <a:noFill/>
                  </a:rPr>
                  <a:t> </a:t>
                </a:r>
              </a:p>
            </p:txBody>
          </p:sp>
        </mc:Fallback>
      </mc:AlternateContent>
    </p:spTree>
    <p:extLst>
      <p:ext uri="{BB962C8B-B14F-4D97-AF65-F5344CB8AC3E}">
        <p14:creationId xmlns:p14="http://schemas.microsoft.com/office/powerpoint/2010/main" val="17945826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FR" sz="3200" dirty="0"/>
              <a:t>PROVISIONNER LA CROISSANCE ET LE DEVELOPPEMENT </a:t>
            </a:r>
            <a:br>
              <a:rPr lang="fr-FR" sz="3200" dirty="0"/>
            </a:br>
            <a:r>
              <a:rPr lang="fr-FR" sz="3200" dirty="0"/>
              <a:t>ETAPE 1 : CARACTERISATION DE LA STRUCTURE DE PLANTE</a:t>
            </a:r>
          </a:p>
        </p:txBody>
      </p:sp>
      <p:sp>
        <p:nvSpPr>
          <p:cNvPr id="3" name="Espace réservé du contenu 2"/>
          <p:cNvSpPr>
            <a:spLocks noGrp="1"/>
          </p:cNvSpPr>
          <p:nvPr>
            <p:ph idx="1"/>
          </p:nvPr>
        </p:nvSpPr>
        <p:spPr/>
        <p:txBody>
          <a:bodyPr/>
          <a:lstStyle/>
          <a:p>
            <a:r>
              <a:rPr lang="fr-FR" dirty="0"/>
              <a:t>REGLE PROPOSER</a:t>
            </a:r>
          </a:p>
        </p:txBody>
      </p:sp>
      <p:sp>
        <p:nvSpPr>
          <p:cNvPr id="5" name="Espace réservé du numéro de diapositive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10F9B4-E45F-45DE-A182-D2D6DBA25399}"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4" name="Rectangle 3"/>
              <p:cNvSpPr/>
              <p:nvPr/>
            </p:nvSpPr>
            <p:spPr>
              <a:xfrm>
                <a:off x="1772321" y="2527592"/>
                <a:ext cx="5426486" cy="120231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𝐻</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dPr>
                      <m:e>
                        <m:m>
                          <m:mPr>
                            <m:mcs>
                              <m:mc>
                                <m:mcPr>
                                  <m:count m:val="2"/>
                                  <m:mcJc m:val="center"/>
                                </m:mcPr>
                              </m:mc>
                            </m:mcs>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mPr>
                          <m:mr>
                            <m:e>
                              <m:m>
                                <m:mPr>
                                  <m:mcs>
                                    <m:mc>
                                      <m:mcPr>
                                        <m:count m:val="2"/>
                                        <m:mcJc m:val="center"/>
                                      </m:mcPr>
                                    </m:mc>
                                  </m:mcs>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mPr>
                                <m:m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𝐻</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𝐻</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𝐶</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mr>
                                <m:m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𝐶</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𝐶</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𝐶</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mr>
                              </m:m>
                            </m:e>
                            <m:e>
                              <m:m>
                                <m:mPr>
                                  <m:mcs>
                                    <m:mc>
                                      <m:mcPr>
                                        <m:count m:val="2"/>
                                        <m:mcJc m:val="center"/>
                                      </m:mcPr>
                                    </m:mc>
                                  </m:mcs>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mPr>
                                <m:m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𝐻</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𝐷</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𝐻</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mr>
                                <m:m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𝐷</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𝐶</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𝐶</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mr>
                              </m:m>
                            </m:e>
                          </m:mr>
                          <m:mr>
                            <m:e>
                              <m:m>
                                <m:mPr>
                                  <m:mcs>
                                    <m:mc>
                                      <m:mcPr>
                                        <m:count m:val="2"/>
                                        <m:mcJc m:val="center"/>
                                      </m:mcPr>
                                    </m:mc>
                                  </m:mcs>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mPr>
                                <m:m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𝐷</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𝐶</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𝐷</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mr>
                                <m:m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𝐶</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mr>
                              </m:m>
                            </m:e>
                            <m:e>
                              <m:m>
                                <m:mPr>
                                  <m:mcs>
                                    <m:mc>
                                      <m:mcPr>
                                        <m:count m:val="2"/>
                                        <m:mcJc m:val="center"/>
                                      </m:mcPr>
                                    </m:mc>
                                  </m:mcs>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mPr>
                                <m:m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𝐷</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𝐷</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𝐷</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mr>
                                <m:m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𝐷</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mr>
                              </m:m>
                            </m:e>
                          </m:mr>
                        </m:m>
                      </m:e>
                    </m:d>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(2.89)</m:t>
                    </m:r>
                  </m:oMath>
                </a14:m>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4" name="Rectangle 3"/>
              <p:cNvSpPr>
                <a:spLocks noRot="1" noChangeAspect="1" noMove="1" noResize="1" noEditPoints="1" noAdjustHandles="1" noChangeArrowheads="1" noChangeShapeType="1" noTextEdit="1"/>
              </p:cNvSpPr>
              <p:nvPr/>
            </p:nvSpPr>
            <p:spPr>
              <a:xfrm>
                <a:off x="1772321" y="2527592"/>
                <a:ext cx="5426486" cy="1202317"/>
              </a:xfrm>
              <a:prstGeom prst="rect">
                <a:avLst/>
              </a:prstGeom>
              <a:blipFill rotWithShape="0">
                <a:blip r:embed="rId3"/>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1382973" y="3625844"/>
                <a:ext cx="10558818" cy="3066993"/>
              </a:xfrm>
              <a:prstGeom prst="rect">
                <a:avLst/>
              </a:prstGeom>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tabLst>
                    <a:tab pos="228600" algn="l"/>
                    <a:tab pos="5581015" algn="r"/>
                  </a:tabLst>
                  <a:defRPr/>
                </a:pP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𝐻</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e>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e>
                    </m:d>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𝐴</m:t>
                                </m:r>
                              </m:e>
                            </m:d>
                          </m:e>
                        </m:d>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e>
                        </m:d>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𝐴</m:t>
                                </m:r>
                              </m:e>
                            </m:d>
                          </m:e>
                        </m:d>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e>
                        </m:d>
                      </m:num>
                      <m:den>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𝐴</m:t>
                                </m:r>
                              </m:e>
                            </m:d>
                          </m:e>
                        </m:d>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e>
                        </m:d>
                      </m:den>
                    </m:f>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𝐴</m:t>
                            </m:r>
                          </m:e>
                        </m:d>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b>
                        </m:s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𝐴</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e>
                        </m:d>
                      </m:num>
                      <m:den>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𝐴</m:t>
                                </m:r>
                              </m:e>
                            </m:d>
                          </m:e>
                        </m:d>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e>
                        </m:d>
                      </m:den>
                    </m:f>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(2.110)</m:t>
                    </m:r>
                  </m:oMath>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tab pos="228600" algn="l"/>
                    <a:tab pos="5581015" algn="r"/>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𝐻</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𝐶</m:t>
                        </m:r>
                      </m:e>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e>
                    </m:d>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𝐴</m:t>
                                </m:r>
                              </m:e>
                            </m:d>
                          </m:e>
                        </m:d>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𝐶</m:t>
                            </m:r>
                          </m:e>
                        </m:d>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𝐴</m:t>
                                </m:r>
                              </m:e>
                            </m:d>
                          </m:e>
                        </m:d>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𝐶</m:t>
                            </m:r>
                          </m:e>
                        </m:d>
                      </m:num>
                      <m:den>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𝐴</m:t>
                                </m:r>
                              </m:e>
                            </m:d>
                          </m:e>
                        </m:d>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e>
                        </m:d>
                      </m:den>
                    </m:f>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𝐴</m:t>
                            </m:r>
                          </m:e>
                        </m:d>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b>
                        </m:s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𝐴</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𝐶</m:t>
                            </m:r>
                          </m:e>
                        </m:d>
                      </m:num>
                      <m:den>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𝐴</m:t>
                                </m:r>
                              </m:e>
                            </m:d>
                          </m:e>
                        </m:d>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e>
                        </m:d>
                      </m:den>
                    </m:f>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(2.111)</m:t>
                    </m:r>
                  </m:oMath>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tab pos="228600" algn="l"/>
                    <a:tab pos="5581015" algn="r"/>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𝐻</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𝐷</m:t>
                        </m:r>
                      </m:e>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e>
                    </m:d>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𝐴</m:t>
                                </m:r>
                              </m:e>
                            </m:d>
                          </m:e>
                        </m:d>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𝐷</m:t>
                            </m:r>
                          </m:e>
                        </m:d>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𝐴</m:t>
                                </m:r>
                              </m:e>
                            </m:d>
                          </m:e>
                        </m:d>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𝐷</m:t>
                            </m:r>
                          </m:e>
                        </m:d>
                      </m:num>
                      <m:den>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𝐴</m:t>
                                </m:r>
                              </m:e>
                            </m:d>
                          </m:e>
                        </m:d>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e>
                        </m:d>
                      </m:den>
                    </m:f>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𝐴</m:t>
                            </m:r>
                          </m:e>
                        </m:d>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b>
                        </m:s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𝐴</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𝐷</m:t>
                            </m:r>
                          </m:e>
                        </m:d>
                      </m:num>
                      <m:den>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𝐴</m:t>
                                </m:r>
                              </m:e>
                            </m:d>
                          </m:e>
                        </m:d>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e>
                        </m:d>
                      </m:den>
                    </m:f>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(2.112)</m:t>
                    </m:r>
                  </m:oMath>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tab pos="228600" algn="l"/>
                    <a:tab pos="5581015" algn="r"/>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𝐻</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m:t>
                        </m:r>
                      </m:e>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e>
                    </m:d>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𝐴</m:t>
                                </m:r>
                              </m:e>
                            </m:d>
                          </m:e>
                        </m:d>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m:t>
                            </m:r>
                          </m:e>
                        </m:d>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𝐴</m:t>
                                </m:r>
                              </m:e>
                            </m:d>
                          </m:e>
                        </m:d>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m:t>
                            </m:r>
                          </m:e>
                        </m:d>
                      </m:num>
                      <m:den>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𝐴</m:t>
                                </m:r>
                              </m:e>
                            </m:d>
                          </m:e>
                        </m:d>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e>
                        </m:d>
                      </m:den>
                    </m:f>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𝐴</m:t>
                            </m:r>
                          </m:e>
                        </m:d>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b>
                        </m:s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𝐴</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m:t>
                            </m:r>
                          </m:e>
                        </m:d>
                      </m:num>
                      <m:den>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𝐴</m:t>
                                </m:r>
                              </m:e>
                            </m:d>
                          </m:e>
                        </m:d>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𝐵</m:t>
                            </m:r>
                          </m:e>
                        </m:d>
                      </m:den>
                    </m:f>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(2.113)</m:t>
                    </m:r>
                  </m:oMath>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6" name="Rectangle 5"/>
              <p:cNvSpPr>
                <a:spLocks noRot="1" noChangeAspect="1" noMove="1" noResize="1" noEditPoints="1" noAdjustHandles="1" noChangeArrowheads="1" noChangeShapeType="1" noTextEdit="1"/>
              </p:cNvSpPr>
              <p:nvPr/>
            </p:nvSpPr>
            <p:spPr>
              <a:xfrm>
                <a:off x="1382973" y="3625844"/>
                <a:ext cx="10558818" cy="3066993"/>
              </a:xfrm>
              <a:prstGeom prst="rect">
                <a:avLst/>
              </a:prstGeom>
              <a:blipFill rotWithShape="0">
                <a:blip r:embed="rId4"/>
                <a:stretch>
                  <a:fillRect/>
                </a:stretch>
              </a:blipFill>
            </p:spPr>
            <p:txBody>
              <a:bodyPr/>
              <a:lstStyle/>
              <a:p>
                <a:r>
                  <a:rPr lang="fr-FR">
                    <a:noFill/>
                  </a:rPr>
                  <a:t> </a:t>
                </a:r>
              </a:p>
            </p:txBody>
          </p:sp>
        </mc:Fallback>
      </mc:AlternateContent>
    </p:spTree>
    <p:extLst>
      <p:ext uri="{BB962C8B-B14F-4D97-AF65-F5344CB8AC3E}">
        <p14:creationId xmlns:p14="http://schemas.microsoft.com/office/powerpoint/2010/main" val="40618013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FR" sz="3200" dirty="0"/>
              <a:t>PROVISIONNER LA CROISSANCE ET LE DEVELOPPEMENT </a:t>
            </a:r>
            <a:br>
              <a:rPr lang="fr-FR" sz="3200" dirty="0"/>
            </a:br>
            <a:r>
              <a:rPr lang="fr-FR" sz="3200" dirty="0"/>
              <a:t>ETAPE 1 : CARACTERISATION DE LA STRUCTURE DE PLANTE</a:t>
            </a:r>
          </a:p>
        </p:txBody>
      </p:sp>
      <p:sp>
        <p:nvSpPr>
          <p:cNvPr id="3" name="Espace réservé du contenu 2"/>
          <p:cNvSpPr>
            <a:spLocks noGrp="1"/>
          </p:cNvSpPr>
          <p:nvPr>
            <p:ph idx="1"/>
          </p:nvPr>
        </p:nvSpPr>
        <p:spPr/>
        <p:txBody>
          <a:bodyPr/>
          <a:lstStyle/>
          <a:p>
            <a:r>
              <a:rPr lang="fr-FR" dirty="0"/>
              <a:t>REGLE PROPOSER</a:t>
            </a:r>
          </a:p>
        </p:txBody>
      </p:sp>
      <p:sp>
        <p:nvSpPr>
          <p:cNvPr id="4" name="Espace réservé du numéro de diapositive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10F9B4-E45F-45DE-A182-D2D6DBA25399}"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Zone de texte 190"/>
          <p:cNvSpPr txBox="1"/>
          <p:nvPr/>
        </p:nvSpPr>
        <p:spPr>
          <a:xfrm>
            <a:off x="1091405" y="2328005"/>
            <a:ext cx="4052888" cy="630238"/>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Chaîne d’observation FFFF[FFFF]FFFF[FFF[FFF[…]FF]FFF</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exemple : FF[FF[F]FF]FF[F]F</a:t>
            </a:r>
          </a:p>
        </p:txBody>
      </p:sp>
      <p:sp>
        <p:nvSpPr>
          <p:cNvPr id="7" name="Zone de texte 191"/>
          <p:cNvSpPr txBox="1"/>
          <p:nvPr/>
        </p:nvSpPr>
        <p:spPr>
          <a:xfrm>
            <a:off x="6425009" y="2287842"/>
            <a:ext cx="3648075" cy="1340802"/>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Séquences observables S où on place les états invisibles:</a:t>
            </a:r>
          </a:p>
          <a:p>
            <a:pPr marL="0" marR="0" lvl="0" indent="0" algn="ctr" defTabSz="914400" rtl="0" eaLnBrk="1" fontAlgn="auto" latinLnBrk="0" hangingPunct="1">
              <a:lnSpc>
                <a:spcPct val="150000"/>
              </a:lnSpc>
              <a:spcBef>
                <a:spcPts val="0"/>
              </a:spcBef>
              <a:spcAft>
                <a:spcPts val="0"/>
              </a:spcAft>
              <a:buClrTx/>
              <a:buSzTx/>
              <a:buFontTx/>
              <a:buNone/>
              <a:tabLst/>
              <a:defRPr/>
            </a:pPr>
            <a:r>
              <a:rPr kumimoji="0" lang="fr-FR" sz="7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S 0001_0000$FGFGFI*</a:t>
            </a:r>
            <a:endParaRPr kumimoji="0" lang="fr-FR" sz="12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endParaRPr>
          </a:p>
          <a:p>
            <a:pPr marL="0" marR="0" lvl="0" indent="0" algn="ctr" defTabSz="914400" rtl="0" eaLnBrk="1" fontAlgn="auto" latinLnBrk="0" hangingPunct="1">
              <a:lnSpc>
                <a:spcPct val="150000"/>
              </a:lnSpc>
              <a:spcBef>
                <a:spcPts val="0"/>
              </a:spcBef>
              <a:spcAft>
                <a:spcPts val="0"/>
              </a:spcAft>
              <a:buClrTx/>
              <a:buSzTx/>
              <a:buFontTx/>
              <a:buNone/>
              <a:tabLst/>
              <a:defRPr/>
            </a:pPr>
            <a:r>
              <a:rPr kumimoji="0" lang="fr-FR" sz="7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S 0002_0001$FGFLFF*</a:t>
            </a:r>
            <a:endParaRPr kumimoji="0" lang="fr-FR" sz="12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endParaRPr>
          </a:p>
          <a:p>
            <a:pPr marL="0" marR="0" lvl="0" indent="0" algn="ctr" defTabSz="914400" rtl="0" eaLnBrk="1" fontAlgn="auto" latinLnBrk="0" hangingPunct="1">
              <a:lnSpc>
                <a:spcPct val="150000"/>
              </a:lnSpc>
              <a:spcBef>
                <a:spcPts val="0"/>
              </a:spcBef>
              <a:spcAft>
                <a:spcPts val="0"/>
              </a:spcAft>
              <a:buClrTx/>
              <a:buSzTx/>
              <a:buFontTx/>
              <a:buNone/>
              <a:tabLst/>
              <a:defRPr/>
            </a:pPr>
            <a:r>
              <a:rPr kumimoji="0" lang="fr-FR" sz="7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S 0003_0001$FLFGFI*</a:t>
            </a:r>
            <a:endParaRPr kumimoji="0" lang="fr-FR" sz="12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endParaRPr>
          </a:p>
          <a:p>
            <a:pPr marL="0" marR="0" lvl="0" indent="0" algn="ctr" defTabSz="914400" rtl="0" eaLnBrk="1" fontAlgn="auto" latinLnBrk="0" hangingPunct="1">
              <a:lnSpc>
                <a:spcPct val="150000"/>
              </a:lnSpc>
              <a:spcBef>
                <a:spcPts val="0"/>
              </a:spcBef>
              <a:spcAft>
                <a:spcPts val="0"/>
              </a:spcAft>
              <a:buClrTx/>
              <a:buSzTx/>
              <a:buFontTx/>
              <a:buNone/>
              <a:tabLst/>
              <a:defRPr/>
            </a:pPr>
            <a:r>
              <a:rPr kumimoji="0" lang="fr-FR" sz="7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S 0004_0003$FGFGLFI*</a:t>
            </a:r>
            <a:endParaRPr kumimoji="0" lang="fr-FR" sz="12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endParaRPr>
          </a:p>
          <a:p>
            <a:pPr marL="0" marR="0" lvl="0" indent="0" algn="ctr" defTabSz="914400" rtl="0" eaLnBrk="1" fontAlgn="auto" latinLnBrk="0" hangingPunct="1">
              <a:lnSpc>
                <a:spcPct val="150000"/>
              </a:lnSpc>
              <a:spcBef>
                <a:spcPts val="0"/>
              </a:spcBef>
              <a:spcAft>
                <a:spcPts val="0"/>
              </a:spcAft>
              <a:buClrTx/>
              <a:buSzTx/>
              <a:buFontTx/>
              <a:buNone/>
              <a:tabLst/>
              <a:defRPr/>
            </a:pPr>
            <a:r>
              <a:rPr kumimoji="0" lang="fr-FR" sz="7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 </a:t>
            </a:r>
            <a:endParaRPr kumimoji="0" lang="fr-FR" sz="12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endParaRPr>
          </a:p>
        </p:txBody>
      </p:sp>
      <p:sp>
        <p:nvSpPr>
          <p:cNvPr id="8" name="Zone de texte 192"/>
          <p:cNvSpPr txBox="1"/>
          <p:nvPr/>
        </p:nvSpPr>
        <p:spPr>
          <a:xfrm>
            <a:off x="1026317" y="4262991"/>
            <a:ext cx="4183063" cy="1163637"/>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Estimation de card(CC), card(CD), card(DE)…..  Pour chaque séquence sans considération de Fibonacci à cause de complexité de calcul, on considère que les états I ne peuvent être générés qu’après les états L.</a:t>
            </a:r>
          </a:p>
        </p:txBody>
      </p:sp>
      <mc:AlternateContent xmlns:mc="http://schemas.openxmlformats.org/markup-compatibility/2006" xmlns:a14="http://schemas.microsoft.com/office/drawing/2010/main">
        <mc:Choice Requires="a14">
          <p:sp>
            <p:nvSpPr>
              <p:cNvPr id="9" name="Zone de texte 193"/>
              <p:cNvSpPr txBox="1"/>
              <p:nvPr/>
            </p:nvSpPr>
            <p:spPr>
              <a:xfrm>
                <a:off x="6425009" y="4648366"/>
                <a:ext cx="4244975" cy="131127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Estimation de la probabilité de transition </a:t>
                </a:r>
                <a14:m>
                  <m:oMath xmlns:m="http://schemas.openxmlformats.org/officeDocument/2006/math">
                    <m:r>
                      <a:rPr kumimoji="0" lang="fr-FR" sz="12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𝑃</m:t>
                    </m:r>
                    <m:d>
                      <m:dPr>
                        <m:ctrlPr>
                          <a:rPr kumimoji="0" lang="fr-FR" sz="12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dPr>
                      <m:e>
                        <m:r>
                          <a:rPr kumimoji="0" lang="fr-FR" sz="12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𝐶</m:t>
                        </m:r>
                      </m:e>
                      <m:e>
                        <m:r>
                          <a:rPr kumimoji="0" lang="fr-FR" sz="12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𝐶</m:t>
                        </m:r>
                      </m:e>
                    </m:d>
                    <m:r>
                      <a:rPr kumimoji="0" lang="fr-FR" sz="12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m:t>
                    </m:r>
                    <m:r>
                      <a:rPr kumimoji="0" lang="fr-FR" sz="12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𝑃</m:t>
                    </m:r>
                    <m:d>
                      <m:dPr>
                        <m:ctrlPr>
                          <a:rPr kumimoji="0" lang="fr-FR" sz="12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dPr>
                      <m:e>
                        <m:r>
                          <a:rPr kumimoji="0" lang="fr-FR" sz="12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𝐷</m:t>
                        </m:r>
                      </m:e>
                      <m:e>
                        <m:r>
                          <a:rPr kumimoji="0" lang="fr-FR" sz="12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𝐶</m:t>
                        </m:r>
                      </m:e>
                    </m:d>
                    <m:r>
                      <a:rPr kumimoji="0" lang="fr-FR" sz="12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m:t>
                    </m:r>
                    <m:r>
                      <a:rPr kumimoji="0" lang="fr-FR" sz="12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𝑃</m:t>
                    </m:r>
                    <m:d>
                      <m:dPr>
                        <m:ctrlPr>
                          <a:rPr kumimoji="0" lang="fr-FR" sz="12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dPr>
                      <m:e>
                        <m:r>
                          <a:rPr kumimoji="0" lang="fr-FR" sz="12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𝐸</m:t>
                        </m:r>
                      </m:e>
                      <m:e>
                        <m:r>
                          <a:rPr kumimoji="0" lang="fr-FR" sz="12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𝐷</m:t>
                        </m:r>
                      </m:e>
                    </m:d>
                    <m:r>
                      <a:rPr kumimoji="0" lang="fr-FR" sz="12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m:t>
                    </m:r>
                  </m:oMath>
                </a14:m>
                <a:r>
                  <a:rPr kumimoji="0" lang="fr-FR" sz="1200" b="0" i="0" u="none" strike="noStrike" kern="1200" cap="none" spc="0" normalizeH="0" baseline="0" noProof="0" dirty="0">
                    <a:ln>
                      <a:noFill/>
                    </a:ln>
                    <a:solidFill>
                      <a:prstClr val="black"/>
                    </a:solidFill>
                    <a:effectLst/>
                    <a:uLnTx/>
                    <a:uFillTx/>
                    <a:latin typeface="Calibri" panose="020F0502020204030204"/>
                    <a:ea typeface="Times New Roman" panose="02020603050405020304" pitchFamily="18" charset="0"/>
                    <a:cs typeface="Times New Roman" panose="02020603050405020304" pitchFamily="18" charset="0"/>
                  </a:rPr>
                  <a:t> pour chaque séquence.</a:t>
                </a:r>
                <a:endParaRPr kumimoji="0" lang="fr-FR" sz="12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black"/>
                    </a:solidFill>
                    <a:effectLst/>
                    <a:uLnTx/>
                    <a:uFillTx/>
                    <a:latin typeface="Calibri" panose="020F0502020204030204"/>
                    <a:ea typeface="Times New Roman" panose="02020603050405020304" pitchFamily="18" charset="0"/>
                    <a:cs typeface="Times New Roman" panose="02020603050405020304" pitchFamily="18" charset="0"/>
                  </a:rPr>
                  <a:t>Par une moyenne , nous estimons</a:t>
                </a:r>
                <a14:m>
                  <m:oMath xmlns:m="http://schemas.openxmlformats.org/officeDocument/2006/math">
                    <m:r>
                      <a:rPr kumimoji="0" lang="fr-FR" sz="12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r>
                      <a:rPr kumimoji="0" lang="fr-FR" sz="12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𝑀</m:t>
                    </m:r>
                  </m:oMath>
                </a14:m>
                <a:r>
                  <a:rPr kumimoji="0" lang="fr-FR" sz="1200" b="0" i="0" u="none" strike="noStrike" kern="1200" cap="none" spc="0" normalizeH="0" baseline="0" noProof="0" dirty="0">
                    <a:ln>
                      <a:noFill/>
                    </a:ln>
                    <a:solidFill>
                      <a:prstClr val="black"/>
                    </a:solidFill>
                    <a:effectLst/>
                    <a:uLnTx/>
                    <a:uFillTx/>
                    <a:latin typeface="Calibri" panose="020F0502020204030204"/>
                    <a:ea typeface="Times New Roman" panose="02020603050405020304" pitchFamily="18" charset="0"/>
                    <a:cs typeface="Times New Roman" panose="02020603050405020304" pitchFamily="18" charset="0"/>
                  </a:rPr>
                  <a:t>.</a:t>
                </a:r>
                <a:endParaRPr kumimoji="0" lang="fr-FR" sz="12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black"/>
                    </a:solidFill>
                    <a:effectLst/>
                    <a:uLnTx/>
                    <a:uFillTx/>
                    <a:latin typeface="Calibri" panose="020F0502020204030204"/>
                    <a:ea typeface="Times New Roman" panose="02020603050405020304" pitchFamily="18" charset="0"/>
                    <a:cs typeface="Times New Roman" panose="02020603050405020304" pitchFamily="18" charset="0"/>
                  </a:rPr>
                  <a:t>Puis nous déduisons l’estimation de </a:t>
                </a:r>
                <a14:m>
                  <m:oMath xmlns:m="http://schemas.openxmlformats.org/officeDocument/2006/math">
                    <m:r>
                      <a:rPr kumimoji="0" lang="fr-FR" sz="12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𝐻</m:t>
                    </m:r>
                  </m:oMath>
                </a14:m>
                <a:r>
                  <a:rPr kumimoji="0" lang="fr-FR" sz="1200" b="0" i="0" u="none" strike="noStrike" kern="1200" cap="none" spc="0" normalizeH="0" baseline="0" noProof="0" dirty="0">
                    <a:ln>
                      <a:noFill/>
                    </a:ln>
                    <a:solidFill>
                      <a:prstClr val="black"/>
                    </a:solidFill>
                    <a:effectLst/>
                    <a:uLnTx/>
                    <a:uFillTx/>
                    <a:latin typeface="Calibri" panose="020F0502020204030204"/>
                    <a:ea typeface="Times New Roman" panose="02020603050405020304" pitchFamily="18" charset="0"/>
                    <a:cs typeface="Times New Roman" panose="02020603050405020304" pitchFamily="18" charset="0"/>
                  </a:rPr>
                  <a:t>.</a:t>
                </a:r>
                <a:endParaRPr kumimoji="0" lang="fr-FR" sz="12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endParaRPr>
              </a:p>
            </p:txBody>
          </p:sp>
        </mc:Choice>
        <mc:Fallback xmlns="">
          <p:sp>
            <p:nvSpPr>
              <p:cNvPr id="9" name="Zone de texte 193"/>
              <p:cNvSpPr txBox="1">
                <a:spLocks noRot="1" noChangeAspect="1" noMove="1" noResize="1" noEditPoints="1" noAdjustHandles="1" noChangeArrowheads="1" noChangeShapeType="1" noTextEdit="1"/>
              </p:cNvSpPr>
              <p:nvPr/>
            </p:nvSpPr>
            <p:spPr>
              <a:xfrm>
                <a:off x="6425009" y="4648366"/>
                <a:ext cx="4244975" cy="1311275"/>
              </a:xfrm>
              <a:prstGeom prst="rect">
                <a:avLst/>
              </a:prstGeom>
              <a:blipFill rotWithShape="0">
                <a:blip r:embed="rId3"/>
                <a:stretch>
                  <a:fillRect l="-143"/>
                </a:stretch>
              </a:blipFill>
              <a:ln w="6350">
                <a:solidFill>
                  <a:prstClr val="black"/>
                </a:solidFill>
              </a:ln>
              <a:effectLst/>
            </p:spPr>
            <p:txBody>
              <a:bodyPr/>
              <a:lstStyle/>
              <a:p>
                <a:r>
                  <a:rPr lang="fr-FR">
                    <a:noFill/>
                  </a:rPr>
                  <a:t> </a:t>
                </a:r>
              </a:p>
            </p:txBody>
          </p:sp>
        </mc:Fallback>
      </mc:AlternateContent>
    </p:spTree>
    <p:extLst>
      <p:ext uri="{BB962C8B-B14F-4D97-AF65-F5344CB8AC3E}">
        <p14:creationId xmlns:p14="http://schemas.microsoft.com/office/powerpoint/2010/main" val="22709055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FR" sz="3200" dirty="0"/>
              <a:t>PROVISIONNER LA CROISSANCE ET LE DEVELOPPEMENT </a:t>
            </a:r>
            <a:br>
              <a:rPr lang="fr-FR" sz="3200" dirty="0"/>
            </a:br>
            <a:r>
              <a:rPr lang="fr-FR" sz="3200" dirty="0"/>
              <a:t>ETAPE 1 : CARACTERISATION DE LA STRUCTURE DE PLANTE</a:t>
            </a:r>
          </a:p>
        </p:txBody>
      </p:sp>
      <p:sp>
        <p:nvSpPr>
          <p:cNvPr id="3" name="Espace réservé du contenu 2"/>
          <p:cNvSpPr>
            <a:spLocks noGrp="1"/>
          </p:cNvSpPr>
          <p:nvPr>
            <p:ph idx="1"/>
          </p:nvPr>
        </p:nvSpPr>
        <p:spPr/>
        <p:txBody>
          <a:bodyPr/>
          <a:lstStyle/>
          <a:p>
            <a:r>
              <a:rPr lang="fr-FR" dirty="0"/>
              <a:t>REGLE PROPOSER</a:t>
            </a:r>
          </a:p>
        </p:txBody>
      </p:sp>
      <p:sp>
        <p:nvSpPr>
          <p:cNvPr id="6" name="Espace réservé du numéro de diapositive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10F9B4-E45F-45DE-A182-D2D6DBA25399}"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Rectangle 2"/>
          <p:cNvSpPr>
            <a:spLocks noChangeArrowheads="1"/>
          </p:cNvSpPr>
          <p:nvPr/>
        </p:nvSpPr>
        <p:spPr bwMode="auto">
          <a:xfrm>
            <a:off x="1419367" y="2361061"/>
            <a:ext cx="1776450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5" name="Objet 4"/>
          <p:cNvGraphicFramePr>
            <a:graphicFrameLocks noChangeAspect="1"/>
          </p:cNvGraphicFramePr>
          <p:nvPr>
            <p:extLst/>
          </p:nvPr>
        </p:nvGraphicFramePr>
        <p:xfrm>
          <a:off x="2826137" y="2406780"/>
          <a:ext cx="5745708" cy="4232949"/>
        </p:xfrm>
        <a:graphic>
          <a:graphicData uri="http://schemas.openxmlformats.org/presentationml/2006/ole">
            <mc:AlternateContent xmlns:mc="http://schemas.openxmlformats.org/markup-compatibility/2006">
              <mc:Choice xmlns:v="urn:schemas-microsoft-com:vml" Requires="v">
                <p:oleObj spid="_x0000_s8195" name="Image bitmap" r:id="rId4" imgW="7647619" imgH="5714286" progId="Paint.Picture">
                  <p:embed/>
                </p:oleObj>
              </mc:Choice>
              <mc:Fallback>
                <p:oleObj name="Image bitmap" r:id="rId4" imgW="7647619" imgH="5714286" progId="Paint.Picture">
                  <p:embed/>
                  <p:pic>
                    <p:nvPicPr>
                      <p:cNvPr id="5" name="Obje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26137" y="2406780"/>
                        <a:ext cx="5745708" cy="4232949"/>
                      </a:xfrm>
                      <a:prstGeom prst="rect">
                        <a:avLst/>
                      </a:prstGeom>
                      <a:noFill/>
                    </p:spPr>
                  </p:pic>
                </p:oleObj>
              </mc:Fallback>
            </mc:AlternateContent>
          </a:graphicData>
        </a:graphic>
      </p:graphicFrame>
    </p:spTree>
    <p:extLst>
      <p:ext uri="{BB962C8B-B14F-4D97-AF65-F5344CB8AC3E}">
        <p14:creationId xmlns:p14="http://schemas.microsoft.com/office/powerpoint/2010/main" val="31360224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FR" sz="3200" dirty="0"/>
              <a:t>PROVISIONNER LA CROISSANCE ET LE DEVELOPPEMENT </a:t>
            </a:r>
            <a:br>
              <a:rPr lang="fr-FR" sz="3200" dirty="0"/>
            </a:br>
            <a:r>
              <a:rPr lang="fr-FR" sz="3200" dirty="0"/>
              <a:t>ETAPE 1 : CARACTERISATION DE LA STRUCTURE DE PLANTE</a:t>
            </a:r>
          </a:p>
        </p:txBody>
      </p:sp>
      <p:sp>
        <p:nvSpPr>
          <p:cNvPr id="3" name="Espace réservé du contenu 2"/>
          <p:cNvSpPr>
            <a:spLocks noGrp="1"/>
          </p:cNvSpPr>
          <p:nvPr>
            <p:ph idx="1"/>
          </p:nvPr>
        </p:nvSpPr>
        <p:spPr>
          <a:xfrm>
            <a:off x="838200" y="1825625"/>
            <a:ext cx="11353800" cy="4351338"/>
          </a:xfrm>
        </p:spPr>
        <p:txBody>
          <a:bodyPr/>
          <a:lstStyle/>
          <a:p>
            <a:r>
              <a:rPr lang="fr-FR" dirty="0"/>
              <a:t>REGLE PROPOSER</a:t>
            </a:r>
          </a:p>
        </p:txBody>
      </p:sp>
      <p:sp>
        <p:nvSpPr>
          <p:cNvPr id="5" name="Espace réservé du numéro de diapositive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10F9B4-E45F-45DE-A182-D2D6DBA25399}"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Rectangle 2"/>
          <p:cNvSpPr>
            <a:spLocks noChangeArrowheads="1"/>
          </p:cNvSpPr>
          <p:nvPr/>
        </p:nvSpPr>
        <p:spPr bwMode="auto">
          <a:xfrm>
            <a:off x="1419367" y="2361061"/>
            <a:ext cx="1776450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6" name="Rectangle 5"/>
              <p:cNvSpPr/>
              <p:nvPr/>
            </p:nvSpPr>
            <p:spPr>
              <a:xfrm>
                <a:off x="749392" y="2395547"/>
                <a:ext cx="6635559" cy="4325928"/>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Pour l’exemple de la branche 1 :</a:t>
                </a:r>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Nous notons les fréquences suivantes :</a:t>
                </a:r>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𝑓𝑟𝑒𝑞𝑢𝑒𝑛𝑐𝑒</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𝑋</m:t>
                        </m:r>
                      </m:e>
                    </m:d>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=53</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Nombre entrenœuds ayant deux liaisons</a:t>
                </a:r>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𝑓𝑟𝑒𝑞𝑢𝑒𝑛𝑐𝑒</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𝑌</m:t>
                        </m:r>
                      </m:e>
                    </m:d>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=338</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Nombre entrenœuds n’ayant qu’une liaison.</a:t>
                </a:r>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𝑓𝑟𝑒𝑞𝑢𝑒𝑛𝑐𝑒</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𝐼</m:t>
                        </m:r>
                      </m:e>
                    </m:d>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=1504</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Nombre des inconnues A, B et C.</a:t>
                </a:r>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Nous calculons </a:t>
                </a: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𝐻</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en variant le paramètre c nombre de retard qui sert pour le calcul des cardinaux, et nous choisissons la matrice qui vérifie :</a:t>
                </a:r>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tab pos="228600" algn="l"/>
                    <a:tab pos="5581015" algn="r"/>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f>
                      <m:f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𝐻</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𝐷</m:t>
                            </m:r>
                          </m:e>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m:t>
                            </m:r>
                          </m:e>
                        </m:d>
                      </m:num>
                      <m:den>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𝐻</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m:t>
                            </m:r>
                          </m:e>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𝐷</m:t>
                            </m:r>
                          </m:e>
                        </m:d>
                      </m:den>
                    </m:f>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𝑓𝑟𝑒𝑞𝑢𝑒𝑛𝑐𝑒</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𝑌</m:t>
                            </m:r>
                          </m:e>
                        </m:d>
                      </m:num>
                      <m:den>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𝑓𝑟𝑒𝑞𝑢𝑒𝑛𝑐𝑒</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𝑋</m:t>
                            </m:r>
                          </m:e>
                        </m:d>
                      </m:den>
                    </m:f>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𝑓𝑟𝑒𝑞𝑢𝑒𝑛𝑐𝑒</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𝐷</m:t>
                            </m:r>
                          </m:e>
                        </m:d>
                      </m:num>
                      <m:den>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𝑓𝑟𝑒𝑞𝑢𝑒𝑛𝑐𝑒</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m:t>
                            </m:r>
                          </m:e>
                        </m:d>
                      </m:den>
                    </m:f>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338</m:t>
                        </m:r>
                      </m:num>
                      <m:den>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53</m:t>
                        </m:r>
                      </m:den>
                    </m:f>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=7.32 </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(2.158)</m:t>
                    </m:r>
                  </m:oMath>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On choisit 10% le pourcentage des retards par rapport aux inconnues, et l’on trouve :</a:t>
                </a:r>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tab pos="228600" algn="l"/>
                    <a:tab pos="5581015" algn="r"/>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𝐻</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2"/>
                                  <m:mcJc m:val="center"/>
                                </m:mcPr>
                              </m:mc>
                            </m:mcs>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mPr>
                          <m:mr>
                            <m:e>
                              <m:m>
                                <m:mPr>
                                  <m:mcs>
                                    <m:mc>
                                      <m:mcPr>
                                        <m:count m:val="2"/>
                                        <m:mcJc m:val="center"/>
                                      </m:mcPr>
                                    </m:mc>
                                  </m:mcs>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mPr>
                                <m:m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0.02</m:t>
                                    </m:r>
                                  </m:e>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0.19</m:t>
                                    </m:r>
                                  </m:e>
                                </m:mr>
                                <m:m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0.05</m:t>
                                    </m:r>
                                  </m:e>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0.21</m:t>
                                    </m:r>
                                  </m:e>
                                </m:mr>
                              </m:m>
                            </m:e>
                            <m:e>
                              <m:m>
                                <m:mPr>
                                  <m:mcs>
                                    <m:mc>
                                      <m:mcPr>
                                        <m:count m:val="2"/>
                                        <m:mcJc m:val="center"/>
                                      </m:mcPr>
                                    </m:mc>
                                  </m:mcs>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mPr>
                                <m:m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0.71</m:t>
                                    </m:r>
                                  </m:e>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0.08</m:t>
                                    </m:r>
                                  </m:e>
                                </m:mr>
                                <m:m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0.67</m:t>
                                    </m:r>
                                  </m:e>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0.07</m:t>
                                    </m:r>
                                  </m:e>
                                </m:mr>
                              </m:m>
                            </m:e>
                          </m:mr>
                          <m:mr>
                            <m:e>
                              <m:m>
                                <m:mPr>
                                  <m:mcs>
                                    <m:mc>
                                      <m:mcPr>
                                        <m:count m:val="2"/>
                                        <m:mcJc m:val="center"/>
                                      </m:mcPr>
                                    </m:mc>
                                  </m:mcs>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mPr>
                                <m:m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0.02</m:t>
                                    </m:r>
                                  </m:e>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0.18</m:t>
                                    </m:r>
                                  </m:e>
                                </m:mr>
                                <m:m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m:t>
                                    </m:r>
                                  </m:e>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0.16</m:t>
                                    </m:r>
                                  </m:e>
                                </m:mr>
                              </m:m>
                            </m:e>
                            <m:e>
                              <m:m>
                                <m:mPr>
                                  <m:mcs>
                                    <m:mc>
                                      <m:mcPr>
                                        <m:count m:val="2"/>
                                        <m:mcJc m:val="center"/>
                                      </m:mcPr>
                                    </m:mc>
                                  </m:mcs>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mPr>
                                <m:m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0.71</m:t>
                                    </m:r>
                                  </m:e>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0.099</m:t>
                                    </m:r>
                                  </m:e>
                                </m:mr>
                                <m:m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0.8</m:t>
                                    </m:r>
                                  </m:e>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0.04</m:t>
                                    </m:r>
                                  </m:e>
                                </m:mr>
                              </m:m>
                            </m:e>
                          </m:mr>
                        </m:m>
                      </m:e>
                    </m:d>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14:m>
                  <m:oMath xmlns:m="http://schemas.openxmlformats.org/officeDocument/2006/math">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(2.159)</m:t>
                    </m:r>
                  </m:oMath>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6" name="Rectangle 5"/>
              <p:cNvSpPr>
                <a:spLocks noRot="1" noChangeAspect="1" noMove="1" noResize="1" noEditPoints="1" noAdjustHandles="1" noChangeArrowheads="1" noChangeShapeType="1" noTextEdit="1"/>
              </p:cNvSpPr>
              <p:nvPr/>
            </p:nvSpPr>
            <p:spPr>
              <a:xfrm>
                <a:off x="749392" y="2395547"/>
                <a:ext cx="6635559" cy="4325928"/>
              </a:xfrm>
              <a:prstGeom prst="rect">
                <a:avLst/>
              </a:prstGeom>
              <a:blipFill rotWithShape="0">
                <a:blip r:embed="rId3"/>
                <a:stretch>
                  <a:fillRect l="-827" t="-845" r="-735"/>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7793501" y="1587711"/>
                <a:ext cx="4141465" cy="4929298"/>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tab pos="3614420" algn="l"/>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Et utilisant les équations </a:t>
                </a: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(2.96) et (2.97) :</a:t>
                </a:r>
              </a:p>
              <a:p>
                <a:pPr marL="0" marR="0" lvl="0" indent="0" algn="just" defTabSz="914400" rtl="0" eaLnBrk="1" fontAlgn="auto" latinLnBrk="0" hangingPunct="1">
                  <a:lnSpc>
                    <a:spcPct val="100000"/>
                  </a:lnSpc>
                  <a:spcBef>
                    <a:spcPts val="0"/>
                  </a:spcBef>
                  <a:spcAft>
                    <a:spcPts val="0"/>
                  </a:spcAft>
                  <a:buClrTx/>
                  <a:buSzTx/>
                  <a:buFontTx/>
                  <a:buNone/>
                  <a:tabLst>
                    <a:tab pos="228600" algn="l"/>
                    <a:tab pos="5581015" algn="r"/>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69</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𝐴</m:t>
                        </m:r>
                      </m:e>
                    </m:d>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𝜀</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69</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=0.723=</m:t>
                    </m:r>
                    <m:f>
                      <m:f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𝑔</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69</m:t>
                            </m:r>
                          </m:sub>
                        </m:sSub>
                      </m:num>
                      <m:den>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𝑔</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69</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𝑓</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69</m:t>
                            </m:r>
                          </m:sub>
                        </m:sSub>
                      </m:den>
                    </m:f>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𝑔</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69</m:t>
                            </m:r>
                          </m:sub>
                        </m:sSub>
                      </m:num>
                      <m:den>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55</m:t>
                        </m:r>
                      </m:den>
                    </m:f>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a14:m>
                <a:r>
                  <a:rPr kumimoji="0" lang="fr-FR" sz="1800" b="0" i="1" u="none" strike="noStrike" kern="1200" cap="none" spc="0" normalizeH="0" baseline="0" noProof="0" dirty="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2.160</m:t>
                        </m:r>
                      </m:e>
                    </m:d>
                  </m:oMath>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tab pos="3614420" algn="l"/>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55 est le nombre de </a:t>
                </a:r>
                <a:r>
                  <a:rPr kumimoji="0" lang="fr-FR" sz="1800" b="0" i="0" u="none" strike="noStrike" kern="1200" cap="none" spc="0" normalizeH="0" baseline="0" noProof="0" dirty="0" err="1">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Fibonacci</a:t>
                </a: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supérieur le plus près de 54 nombre de séquence visualiser.</a:t>
                </a:r>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tab pos="3614420" algn="l"/>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On estime </a:t>
                </a:r>
                <a14:m>
                  <m:oMath xmlns:m="http://schemas.openxmlformats.org/officeDocument/2006/math">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𝑔</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69</m:t>
                        </m:r>
                      </m:sub>
                    </m:sSub>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par sa partie entière donc :</a:t>
                </a:r>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tab pos="3614420" algn="l"/>
                  </a:tabLst>
                  <a:defRPr/>
                </a:pPr>
                <a14:m>
                  <m:oMathPara xmlns:m="http://schemas.openxmlformats.org/officeDocument/2006/math">
                    <m:oMathParaPr>
                      <m:jc m:val="centerGroup"/>
                    </m:oMathParaPr>
                    <m:oMath xmlns:m="http://schemas.openxmlformats.org/officeDocument/2006/math">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𝑔</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69</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=40 </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𝑒𝑡</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𝑓</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69</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=15</m:t>
                      </m:r>
                    </m:oMath>
                  </m:oMathPara>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tab pos="3614420" algn="l"/>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On cherche les probabilités initiales du système à la 70 </a:t>
                </a:r>
                <a:r>
                  <a:rPr kumimoji="0" lang="fr-FR" sz="1800" b="0" i="0" u="none" strike="noStrike" kern="1200" cap="none" spc="0" normalizeH="0" baseline="0" noProof="0" dirty="0" err="1">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éme</a:t>
                </a: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itération :</a:t>
                </a:r>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tab pos="228600" algn="l"/>
                    <a:tab pos="5581015" algn="r"/>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h</m:t>
                            </m:r>
                          </m:e>
                          <m: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70</m:t>
                            </m:r>
                          </m:sub>
                        </m:s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h</m:t>
                        </m:r>
                      </m:e>
                      <m:sub>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sSup>
                      <m:sSup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p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𝐻</m:t>
                        </m:r>
                      </m:e>
                      <m:sup>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69</m:t>
                        </m:r>
                      </m:sup>
                    </m:sSup>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0.02,0.19,0.71, 0.08</m:t>
                        </m:r>
                      </m:e>
                    </m:d>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(2.161)</m:t>
                    </m:r>
                  </m:oMath>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tab pos="3614420" algn="l"/>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Nous choisissons les 15 premières séquences parmi les 54 qui ont des Etats non observables  moins importants et l’on place les organes f susceptibles de croitre à la fin.</a:t>
                </a:r>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7" name="Rectangle 6"/>
              <p:cNvSpPr>
                <a:spLocks noRot="1" noChangeAspect="1" noMove="1" noResize="1" noEditPoints="1" noAdjustHandles="1" noChangeArrowheads="1" noChangeShapeType="1" noTextEdit="1"/>
              </p:cNvSpPr>
              <p:nvPr/>
            </p:nvSpPr>
            <p:spPr>
              <a:xfrm>
                <a:off x="7793501" y="1587711"/>
                <a:ext cx="4141465" cy="4929298"/>
              </a:xfrm>
              <a:prstGeom prst="rect">
                <a:avLst/>
              </a:prstGeom>
              <a:blipFill rotWithShape="0">
                <a:blip r:embed="rId4"/>
                <a:stretch>
                  <a:fillRect l="-1176" t="-618" r="-1176" b="-989"/>
                </a:stretch>
              </a:blipFill>
            </p:spPr>
            <p:txBody>
              <a:bodyPr/>
              <a:lstStyle/>
              <a:p>
                <a:r>
                  <a:rPr lang="fr-FR">
                    <a:noFill/>
                  </a:rPr>
                  <a:t> </a:t>
                </a:r>
              </a:p>
            </p:txBody>
          </p:sp>
        </mc:Fallback>
      </mc:AlternateContent>
    </p:spTree>
    <p:extLst>
      <p:ext uri="{BB962C8B-B14F-4D97-AF65-F5344CB8AC3E}">
        <p14:creationId xmlns:p14="http://schemas.microsoft.com/office/powerpoint/2010/main" val="40356107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FR" sz="3200" dirty="0"/>
              <a:t>PROVISIONNER LA CROISSANCE ET LE DEVELOPPEMENT </a:t>
            </a:r>
            <a:br>
              <a:rPr lang="fr-FR" sz="3200" dirty="0"/>
            </a:br>
            <a:r>
              <a:rPr lang="fr-FR" sz="3200" dirty="0"/>
              <a:t>ETAPE 1 : CARACTERISATION DE LA STRUCTURE DE PLANTE</a:t>
            </a:r>
          </a:p>
        </p:txBody>
      </p:sp>
      <p:sp>
        <p:nvSpPr>
          <p:cNvPr id="3" name="Espace réservé du contenu 2"/>
          <p:cNvSpPr>
            <a:spLocks noGrp="1"/>
          </p:cNvSpPr>
          <p:nvPr>
            <p:ph idx="1"/>
          </p:nvPr>
        </p:nvSpPr>
        <p:spPr>
          <a:xfrm>
            <a:off x="838200" y="1825625"/>
            <a:ext cx="11353800" cy="4351338"/>
          </a:xfrm>
        </p:spPr>
        <p:txBody>
          <a:bodyPr/>
          <a:lstStyle/>
          <a:p>
            <a:r>
              <a:rPr lang="fr-FR" dirty="0"/>
              <a:t>REGLE PROPOSER</a:t>
            </a:r>
          </a:p>
        </p:txBody>
      </p:sp>
      <p:sp>
        <p:nvSpPr>
          <p:cNvPr id="6" name="Espace réservé du numéro de diapositive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10F9B4-E45F-45DE-A182-D2D6DBA25399}"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Rectangle 2"/>
          <p:cNvSpPr>
            <a:spLocks noChangeArrowheads="1"/>
          </p:cNvSpPr>
          <p:nvPr/>
        </p:nvSpPr>
        <p:spPr bwMode="auto">
          <a:xfrm>
            <a:off x="1419367" y="2361061"/>
            <a:ext cx="17764508"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5" name="Rectangle 4"/>
              <p:cNvSpPr/>
              <p:nvPr/>
            </p:nvSpPr>
            <p:spPr>
              <a:xfrm>
                <a:off x="838200" y="2794378"/>
                <a:ext cx="6096000" cy="2994987"/>
              </a:xfrm>
              <a:prstGeom prst="rect">
                <a:avLst/>
              </a:prstGeom>
            </p:spPr>
            <p:txBody>
              <a:bodyPr>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Pour l’exemple de la branche 2 :</a:t>
                </a:r>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𝑓𝑟𝑒𝑞𝑢𝑒𝑛𝑐𝑒</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𝑋</m:t>
                        </m:r>
                      </m:e>
                    </m:d>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=84</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Nombre entrenœuds ayant deux liaisons</a:t>
                </a:r>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𝑓𝑟𝑒𝑞𝑢𝑒𝑛𝑐𝑒</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𝑌</m:t>
                        </m:r>
                      </m:e>
                    </m:d>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=612</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Nombre entrenœuds n’ayant qu’une liaison.</a:t>
                </a:r>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𝑓𝑟𝑒𝑞𝑢𝑒𝑛𝑐𝑒</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𝐼</m:t>
                        </m:r>
                      </m:e>
                    </m:d>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=3576</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Nombre des inconnues A, B et C.</a:t>
                </a:r>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On choisit 10% le pourcentage des retards par rapport aux inconnues, et l’on trouve :</a:t>
                </a:r>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tab pos="228600" algn="l"/>
                    <a:tab pos="5581015" algn="r"/>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𝐻</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2"/>
                                  <m:mcJc m:val="center"/>
                                </m:mcPr>
                              </m:mc>
                            </m:mcs>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mPr>
                          <m:mr>
                            <m:e>
                              <m:m>
                                <m:mPr>
                                  <m:mcs>
                                    <m:mc>
                                      <m:mcPr>
                                        <m:count m:val="2"/>
                                        <m:mcJc m:val="center"/>
                                      </m:mcPr>
                                    </m:mc>
                                  </m:mcs>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mPr>
                                <m:m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0.01</m:t>
                                    </m:r>
                                  </m:e>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0.19</m:t>
                                    </m:r>
                                  </m:e>
                                </m:mr>
                                <m:m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0.03</m:t>
                                    </m:r>
                                  </m:e>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0.19</m:t>
                                    </m:r>
                                  </m:e>
                                </m:mr>
                              </m:m>
                            </m:e>
                            <m:e>
                              <m:m>
                                <m:mPr>
                                  <m:mcs>
                                    <m:mc>
                                      <m:mcPr>
                                        <m:count m:val="2"/>
                                        <m:mcJc m:val="center"/>
                                      </m:mcPr>
                                    </m:mc>
                                  </m:mcs>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mPr>
                                <m:m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0.66</m:t>
                                    </m:r>
                                  </m:e>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0.14</m:t>
                                    </m:r>
                                  </m:e>
                                </m:mr>
                                <m:m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0.64</m:t>
                                    </m:r>
                                  </m:e>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0.13</m:t>
                                    </m:r>
                                  </m:e>
                                </m:mr>
                              </m:m>
                            </m:e>
                          </m:mr>
                          <m:mr>
                            <m:e>
                              <m:m>
                                <m:mPr>
                                  <m:mcs>
                                    <m:mc>
                                      <m:mcPr>
                                        <m:count m:val="2"/>
                                        <m:mcJc m:val="center"/>
                                      </m:mcPr>
                                    </m:mc>
                                  </m:mcs>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mPr>
                                <m:m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0.01</m:t>
                                    </m:r>
                                  </m:e>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0.19</m:t>
                                    </m:r>
                                  </m:e>
                                </m:mr>
                                <m:m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m:t>
                                    </m:r>
                                  </m:e>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0.19</m:t>
                                    </m:r>
                                  </m:e>
                                </m:mr>
                              </m:m>
                            </m:e>
                            <m:e>
                              <m:m>
                                <m:mPr>
                                  <m:mcs>
                                    <m:mc>
                                      <m:mcPr>
                                        <m:count m:val="2"/>
                                        <m:mcJc m:val="center"/>
                                      </m:mcPr>
                                    </m:mc>
                                  </m:mcs>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mPr>
                                <m:m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0.63</m:t>
                                    </m:r>
                                  </m:e>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0.17</m:t>
                                    </m:r>
                                  </m:e>
                                </m:mr>
                                <m:m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0.80</m:t>
                                    </m:r>
                                  </m:e>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0.01</m:t>
                                    </m:r>
                                  </m:e>
                                </m:mr>
                              </m:m>
                            </m:e>
                          </m:mr>
                        </m:m>
                      </m:e>
                    </m:d>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(2.162)</m:t>
                    </m:r>
                  </m:oMath>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838200" y="2794378"/>
                <a:ext cx="6096000" cy="2994987"/>
              </a:xfrm>
              <a:prstGeom prst="rect">
                <a:avLst/>
              </a:prstGeom>
              <a:blipFill rotWithShape="0">
                <a:blip r:embed="rId3"/>
                <a:stretch>
                  <a:fillRect l="-900" t="-1016" r="-80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7191233" y="2213662"/>
                <a:ext cx="5000767" cy="4098238"/>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tab pos="3614420" algn="l"/>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Et</a:t>
                </a:r>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tab pos="228600" algn="l"/>
                    <a:tab pos="5581015" algn="r"/>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𝑃</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99</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𝐴</m:t>
                        </m:r>
                      </m:e>
                    </m:d>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𝜀</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99</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=0.683=</m:t>
                    </m:r>
                    <m:f>
                      <m:f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𝑔</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99</m:t>
                            </m:r>
                          </m:sub>
                        </m:sSub>
                      </m:num>
                      <m:den>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𝑔</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99</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𝑓</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99</m:t>
                            </m:r>
                          </m:sub>
                        </m:sSub>
                      </m:den>
                    </m:f>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𝑔</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99</m:t>
                            </m:r>
                          </m:sub>
                        </m:sSub>
                      </m:num>
                      <m:den>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89</m:t>
                        </m:r>
                      </m:den>
                    </m:f>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(2.163)</m:t>
                    </m:r>
                  </m:oMath>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tab pos="3614420" algn="l"/>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89 est le nombre de </a:t>
                </a:r>
                <a:r>
                  <a:rPr kumimoji="0" lang="fr-FR" sz="1800" b="0" i="0" u="none" strike="noStrike" kern="1200" cap="none" spc="0" normalizeH="0" baseline="0" noProof="0" dirty="0" err="1">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Fibonacci</a:t>
                </a: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supérieur le plus près de 84 nombre de séquence visualiser.</a:t>
                </a:r>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tab pos="3614420" algn="l"/>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On estime </a:t>
                </a:r>
                <a14:m>
                  <m:oMath xmlns:m="http://schemas.openxmlformats.org/officeDocument/2006/math">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𝑔</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99</m:t>
                        </m:r>
                      </m:sub>
                    </m:sSub>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par sa partie entière donc :</a:t>
                </a:r>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tab pos="3614420" algn="l"/>
                  </a:tabLst>
                  <a:defRPr/>
                </a:pPr>
                <a14:m>
                  <m:oMathPara xmlns:m="http://schemas.openxmlformats.org/officeDocument/2006/math">
                    <m:oMathParaPr>
                      <m:jc m:val="centerGroup"/>
                    </m:oMathParaPr>
                    <m:oMath xmlns:m="http://schemas.openxmlformats.org/officeDocument/2006/math">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𝑔</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99</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=61 </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𝑒𝑡</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𝑓</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99</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=28</m:t>
                      </m:r>
                    </m:oMath>
                  </m:oMathPara>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tab pos="3614420" algn="l"/>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On cherche les probabilités initiales du système à la 100 </a:t>
                </a:r>
                <a:r>
                  <a:rPr kumimoji="0" lang="fr-FR" sz="1800" b="0" i="0" u="none" strike="noStrike" kern="1200" cap="none" spc="0" normalizeH="0" baseline="0" noProof="0" dirty="0" err="1">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éme</a:t>
                </a: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itération :</a:t>
                </a:r>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tab pos="228600" algn="l"/>
                    <a:tab pos="5581015" algn="r"/>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h</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100</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h</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sSup>
                      <m:sSup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p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𝐻</m:t>
                        </m:r>
                      </m:e>
                      <m:sup>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99</m:t>
                        </m:r>
                      </m:sup>
                    </m:sSup>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0.01, 0.19,0.66, 0.14</m:t>
                        </m:r>
                      </m:e>
                    </m:d>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(2.164)</m:t>
                    </m:r>
                  </m:oMath>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tab pos="3614420" algn="l"/>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Nous choisissons les 28 premières séquences parmi les 84 qui ont des Etat non observables moins importants et l’on place les organes f susceptibles de croitre à la fin.</a:t>
                </a:r>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8" name="Rectangle 7"/>
              <p:cNvSpPr>
                <a:spLocks noRot="1" noChangeAspect="1" noMove="1" noResize="1" noEditPoints="1" noAdjustHandles="1" noChangeArrowheads="1" noChangeShapeType="1" noTextEdit="1"/>
              </p:cNvSpPr>
              <p:nvPr/>
            </p:nvSpPr>
            <p:spPr>
              <a:xfrm>
                <a:off x="7191233" y="2213662"/>
                <a:ext cx="5000767" cy="4098238"/>
              </a:xfrm>
              <a:prstGeom prst="rect">
                <a:avLst/>
              </a:prstGeom>
              <a:blipFill rotWithShape="0">
                <a:blip r:embed="rId4"/>
                <a:stretch>
                  <a:fillRect l="-1098" t="-744" r="-976" b="-1488"/>
                </a:stretch>
              </a:blipFill>
            </p:spPr>
            <p:txBody>
              <a:bodyPr/>
              <a:lstStyle/>
              <a:p>
                <a:r>
                  <a:rPr lang="fr-FR">
                    <a:noFill/>
                  </a:rPr>
                  <a:t> </a:t>
                </a:r>
              </a:p>
            </p:txBody>
          </p:sp>
        </mc:Fallback>
      </mc:AlternateContent>
    </p:spTree>
    <p:extLst>
      <p:ext uri="{BB962C8B-B14F-4D97-AF65-F5344CB8AC3E}">
        <p14:creationId xmlns:p14="http://schemas.microsoft.com/office/powerpoint/2010/main" val="17929700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FR" sz="3200" dirty="0"/>
              <a:t>PROVISIONNER LA CROISSANCE ET LE DEVELOPPEMENT </a:t>
            </a:r>
            <a:br>
              <a:rPr lang="fr-FR" sz="3200" dirty="0"/>
            </a:br>
            <a:r>
              <a:rPr lang="fr-FR" sz="3200" dirty="0"/>
              <a:t>ETAPE 2 : CARACTERISATION DE LA GEOMETRIE DE PLANTE</a:t>
            </a:r>
          </a:p>
        </p:txBody>
      </p:sp>
      <p:sp>
        <p:nvSpPr>
          <p:cNvPr id="3" name="Espace réservé du contenu 2"/>
          <p:cNvSpPr>
            <a:spLocks noGrp="1"/>
          </p:cNvSpPr>
          <p:nvPr>
            <p:ph idx="1"/>
          </p:nvPr>
        </p:nvSpPr>
        <p:spPr/>
        <p:txBody>
          <a:bodyPr/>
          <a:lstStyle/>
          <a:p>
            <a:r>
              <a:rPr lang="fr-FR" dirty="0"/>
              <a:t>SIGMOIDE</a:t>
            </a:r>
          </a:p>
        </p:txBody>
      </p:sp>
      <p:sp>
        <p:nvSpPr>
          <p:cNvPr id="5" name="Espace réservé du numéro de diapositive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10F9B4-E45F-45DE-A182-D2D6DBA25399}"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4" name="Rectangle 3"/>
              <p:cNvSpPr/>
              <p:nvPr/>
            </p:nvSpPr>
            <p:spPr>
              <a:xfrm>
                <a:off x="1301087" y="2805909"/>
                <a:ext cx="6096000" cy="2146934"/>
              </a:xfrm>
              <a:prstGeom prst="rect">
                <a:avLst/>
              </a:prstGeom>
            </p:spPr>
            <p:txBody>
              <a:bodyPr>
                <a:spAutoFit/>
              </a:bodyPr>
              <a:lstStyle/>
              <a:p>
                <a:pPr marL="0" marR="0" lvl="0" indent="0" algn="just" defTabSz="914400" rtl="0" eaLnBrk="1" fontAlgn="auto" latinLnBrk="0" hangingPunct="1">
                  <a:lnSpc>
                    <a:spcPct val="150000"/>
                  </a:lnSpc>
                  <a:spcBef>
                    <a:spcPts val="0"/>
                  </a:spcBef>
                  <a:spcAft>
                    <a:spcPts val="0"/>
                  </a:spcAft>
                  <a:buClrTx/>
                  <a:buSzTx/>
                  <a:buFontTx/>
                  <a:buNone/>
                  <a:tabLst>
                    <a:tab pos="228600" algn="l"/>
                    <a:tab pos="5581015" algn="r"/>
                  </a:tabLst>
                  <a:defRPr/>
                </a:pP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𝐿𝑜𝑛𝑔</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𝑡</m:t>
                        </m:r>
                      </m:e>
                    </m:d>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𝐾</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𝑙𝑜𝑛𝑔</m:t>
                            </m:r>
                          </m:sub>
                        </m:sSub>
                      </m:num>
                      <m:den>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𝑎</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𝑙𝑜𝑛𝑔</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𝐸𝑋𝑃</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𝑟</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𝑙𝑜𝑛𝑔</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𝑡</m:t>
                            </m:r>
                          </m:e>
                        </m:d>
                      </m:den>
                    </m:f>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𝑒𝑟𝑟𝑒𝑢𝑟𝑙𝑜𝑛𝑔</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(2.168)</m:t>
                    </m:r>
                  </m:oMath>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tab pos="228600" algn="l"/>
                    <a:tab pos="5581015" algn="r"/>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𝑅𝑏</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𝑡</m:t>
                        </m:r>
                      </m:e>
                    </m:d>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𝐸𝑝𝑏</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𝑡</m:t>
                            </m:r>
                          </m:e>
                        </m:d>
                      </m:num>
                      <m:den>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m:t>
                        </m:r>
                      </m:den>
                    </m:f>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𝐾</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𝑅𝑏</m:t>
                            </m:r>
                          </m:sub>
                        </m:sSub>
                      </m:num>
                      <m:den>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𝑎</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𝑅𝑏</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𝐸𝑋𝑃</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𝑟</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𝑅𝑏</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𝑡</m:t>
                            </m:r>
                          </m:e>
                        </m:d>
                      </m:den>
                    </m:f>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𝑒𝑟𝑟𝑒𝑢𝑟𝑅𝑏</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(2.169)</m:t>
                    </m:r>
                  </m:oMath>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tab pos="228600" algn="l"/>
                    <a:tab pos="5581015" algn="r"/>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𝑅𝑠</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𝑡</m:t>
                        </m:r>
                      </m:e>
                    </m:d>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𝐸𝑝𝑠</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𝑡</m:t>
                            </m:r>
                          </m:e>
                        </m:d>
                      </m:num>
                      <m:den>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m:t>
                        </m:r>
                      </m:den>
                    </m:f>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𝐾</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𝑅𝑠</m:t>
                            </m:r>
                          </m:sub>
                        </m:sSub>
                      </m:num>
                      <m:den>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𝑎</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𝑅𝑠</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𝐸𝑋𝑃</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𝑟</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𝑅𝑠</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𝑡</m:t>
                            </m:r>
                          </m:e>
                        </m:d>
                      </m:den>
                    </m:f>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𝑒𝑟𝑟𝑒𝑢𝑟𝑅𝑠</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(2.170)</m:t>
                    </m:r>
                  </m:oMath>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1301087" y="2805909"/>
                <a:ext cx="6096000" cy="2146934"/>
              </a:xfrm>
              <a:prstGeom prst="rect">
                <a:avLst/>
              </a:prstGeom>
              <a:blipFill rotWithShape="0">
                <a:blip r:embed="rId3"/>
                <a:stretch>
                  <a:fillRect l="-200"/>
                </a:stretch>
              </a:blipFill>
            </p:spPr>
            <p:txBody>
              <a:bodyPr/>
              <a:lstStyle/>
              <a:p>
                <a:r>
                  <a:rPr lang="fr-FR">
                    <a:noFill/>
                  </a:rPr>
                  <a:t> </a:t>
                </a:r>
              </a:p>
            </p:txBody>
          </p:sp>
        </mc:Fallback>
      </mc:AlternateContent>
    </p:spTree>
    <p:extLst>
      <p:ext uri="{BB962C8B-B14F-4D97-AF65-F5344CB8AC3E}">
        <p14:creationId xmlns:p14="http://schemas.microsoft.com/office/powerpoint/2010/main" val="36102164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FR" sz="3200" dirty="0"/>
              <a:t>PROVISIONNER LA CROISSANCE ET LE DEVELOPPEMENT </a:t>
            </a:r>
            <a:br>
              <a:rPr lang="fr-FR" sz="3200" dirty="0"/>
            </a:br>
            <a:r>
              <a:rPr lang="fr-FR" sz="3200" dirty="0"/>
              <a:t>ETAPE 2 : CARACTERISATION DE LA GEOMETRIE DE PLANTE</a:t>
            </a:r>
          </a:p>
        </p:txBody>
      </p:sp>
      <p:sp>
        <p:nvSpPr>
          <p:cNvPr id="3" name="Espace réservé du contenu 2"/>
          <p:cNvSpPr>
            <a:spLocks noGrp="1"/>
          </p:cNvSpPr>
          <p:nvPr>
            <p:ph idx="1"/>
          </p:nvPr>
        </p:nvSpPr>
        <p:spPr/>
        <p:txBody>
          <a:bodyPr/>
          <a:lstStyle/>
          <a:p>
            <a:r>
              <a:rPr lang="fr-FR" dirty="0"/>
              <a:t>SIGMOIDE</a:t>
            </a:r>
          </a:p>
        </p:txBody>
      </p:sp>
      <p:sp>
        <p:nvSpPr>
          <p:cNvPr id="6" name="Espace réservé du numéro de diapositive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10F9B4-E45F-45DE-A182-D2D6DBA25399}"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4" name="Rectangle 3"/>
              <p:cNvSpPr/>
              <p:nvPr/>
            </p:nvSpPr>
            <p:spPr>
              <a:xfrm>
                <a:off x="1232848" y="2550592"/>
                <a:ext cx="6096000" cy="3258071"/>
              </a:xfrm>
              <a:prstGeom prst="rect">
                <a:avLst/>
              </a:prstGeom>
            </p:spPr>
            <p:txBody>
              <a:bodyPr>
                <a:spAutoFit/>
              </a:bodyPr>
              <a:lstStyle/>
              <a:p>
                <a:pPr marL="0" marR="0" lvl="0" indent="0" algn="just" defTabSz="914400" rtl="0" eaLnBrk="1" fontAlgn="auto" latinLnBrk="0" hangingPunct="1">
                  <a:lnSpc>
                    <a:spcPct val="150000"/>
                  </a:lnSpc>
                  <a:spcBef>
                    <a:spcPts val="0"/>
                  </a:spcBef>
                  <a:spcAft>
                    <a:spcPts val="0"/>
                  </a:spcAft>
                  <a:buClrTx/>
                  <a:buSzTx/>
                  <a:buFontTx/>
                  <a:buNone/>
                  <a:tabLst>
                    <a:tab pos="228600" algn="l"/>
                    <a:tab pos="5581015" algn="r"/>
                  </a:tabLst>
                  <a:defRPr/>
                </a:pP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𝑠𝑖𝑔𝑚𝑜𝑖𝑑𝑒</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𝑡</m:t>
                        </m:r>
                      </m:e>
                    </m:d>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𝐾</m:t>
                        </m:r>
                      </m:num>
                      <m:den>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𝑎</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unc>
                          <m:func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exp</m:t>
                            </m:r>
                          </m:fName>
                          <m:e>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𝑟</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𝑡</m:t>
                                </m:r>
                              </m:e>
                            </m:d>
                          </m:e>
                        </m:func>
                      </m:den>
                    </m:f>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(2.165)</m:t>
                    </m:r>
                  </m:oMath>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Afin d’estimer les paramètres de la fonction sigmoïde, </a:t>
                </a: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on utilise la fonction </a:t>
                </a:r>
                <a:r>
                  <a:rPr kumimoji="0" lang="fr-FR" sz="1800" b="0" i="0" u="none" strike="noStrike" kern="1200" cap="none" spc="0" normalizeH="0" baseline="0" noProof="0" dirty="0" err="1">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logit</a:t>
                </a: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tab pos="228600" algn="l"/>
                    <a:tab pos="5581015" algn="r"/>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𝐿𝑜𝑔𝑖𝑡</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𝑦</m:t>
                        </m:r>
                      </m:e>
                    </m:d>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unc>
                      <m:func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ln</m:t>
                        </m:r>
                      </m:fName>
                      <m:e>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f>
                              <m:f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𝑦</m:t>
                                </m:r>
                              </m:num>
                              <m:den>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𝑦</m:t>
                                </m:r>
                              </m:den>
                            </m:f>
                          </m:e>
                        </m:d>
                      </m:e>
                    </m:func>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(2.166)</m:t>
                    </m:r>
                  </m:oMath>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La fonction </a:t>
                </a:r>
                <a:r>
                  <a:rPr kumimoji="0" lang="fr-FR" sz="1800" b="0" i="0" u="none" strike="noStrike" kern="1200" cap="none" spc="0" normalizeH="0" baseline="0" noProof="0" dirty="0" err="1">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logit</a:t>
                </a: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appliquer à  </a:t>
                </a:r>
                <a14:m>
                  <m:oMath xmlns:m="http://schemas.openxmlformats.org/officeDocument/2006/math">
                    <m:f>
                      <m:f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fPr>
                      <m:num>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𝑠𝑖𝑔𝑚𝑜𝑖𝑑𝑒</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𝑡</m:t>
                            </m:r>
                          </m:e>
                        </m:d>
                      </m:num>
                      <m:den>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𝐾</m:t>
                        </m:r>
                      </m:den>
                    </m:f>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vérifie bien :</a:t>
                </a:r>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𝐿𝑜𝑔𝑖𝑡</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dPr>
                      <m:e>
                        <m:f>
                          <m:f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fPr>
                          <m:num>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𝑠𝑖𝑔𝑚𝑜𝑖𝑑𝑒</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𝑡</m:t>
                                </m:r>
                              </m:e>
                            </m:d>
                          </m:num>
                          <m:den>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𝐾</m:t>
                            </m:r>
                          </m:den>
                        </m:f>
                      </m:e>
                    </m:d>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𝑟</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𝑡</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unc>
                      <m:func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funcPr>
                      <m:fName>
                        <m:r>
                          <m:rPr>
                            <m:sty m:val="p"/>
                          </m:rP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ln</m:t>
                        </m:r>
                      </m:fName>
                      <m:e>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𝑎</m:t>
                            </m:r>
                          </m:e>
                        </m:d>
                      </m:e>
                    </m:func>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a14:m>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4" name="Rectangle 3"/>
              <p:cNvSpPr>
                <a:spLocks noRot="1" noChangeAspect="1" noMove="1" noResize="1" noEditPoints="1" noAdjustHandles="1" noChangeArrowheads="1" noChangeShapeType="1" noTextEdit="1"/>
              </p:cNvSpPr>
              <p:nvPr/>
            </p:nvSpPr>
            <p:spPr>
              <a:xfrm>
                <a:off x="1232848" y="2550592"/>
                <a:ext cx="6096000" cy="3258071"/>
              </a:xfrm>
              <a:prstGeom prst="rect">
                <a:avLst/>
              </a:prstGeom>
              <a:blipFill rotWithShape="0">
                <a:blip r:embed="rId3"/>
                <a:stretch>
                  <a:fillRect l="-800" r="-900"/>
                </a:stretch>
              </a:blipFill>
            </p:spPr>
            <p:txBody>
              <a:bodyPr/>
              <a:lstStyle/>
              <a:p>
                <a:r>
                  <a:rPr lang="fr-FR">
                    <a:noFill/>
                  </a:rPr>
                  <a:t> </a:t>
                </a:r>
              </a:p>
            </p:txBody>
          </p:sp>
        </mc:Fallback>
      </mc:AlternateContent>
      <p:sp>
        <p:nvSpPr>
          <p:cNvPr id="5" name="Rectangle 4"/>
          <p:cNvSpPr/>
          <p:nvPr/>
        </p:nvSpPr>
        <p:spPr>
          <a:xfrm>
            <a:off x="7614882" y="2760643"/>
            <a:ext cx="4133566" cy="3416320"/>
          </a:xfrm>
          <a:prstGeom prst="rect">
            <a:avLst/>
          </a:prstGeom>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D’après cela on divise les nuages d’échantillonnages qu’on estime à une fonction sigmoïde par K et on applique un </a:t>
            </a:r>
            <a:r>
              <a:rPr kumimoji="0" lang="fr-FR" sz="1800" b="0"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logit</a:t>
            </a: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On fixe K pour une valeur  maximisant la corrélation avec la droite linéarisé du </a:t>
            </a:r>
            <a:r>
              <a:rPr kumimoji="0" lang="fr-FR" sz="1800" b="0"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logit</a:t>
            </a: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calculé puis on déduit r et a par les coefficients de la droite.</a:t>
            </a:r>
          </a:p>
        </p:txBody>
      </p:sp>
    </p:spTree>
    <p:extLst>
      <p:ext uri="{BB962C8B-B14F-4D97-AF65-F5344CB8AC3E}">
        <p14:creationId xmlns:p14="http://schemas.microsoft.com/office/powerpoint/2010/main" val="22533143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FR" sz="3200" dirty="0"/>
              <a:t>PROVISIONNER LA CROISSANCE ET LE DEVELOPPEMENT </a:t>
            </a:r>
            <a:br>
              <a:rPr lang="fr-FR" sz="3200" dirty="0"/>
            </a:br>
            <a:r>
              <a:rPr lang="fr-FR" sz="3200" dirty="0"/>
              <a:t>ETAPE 2 : CARACTERISATION DE LA GEOMETRIE DE PLANTE</a:t>
            </a:r>
          </a:p>
        </p:txBody>
      </p:sp>
      <p:sp>
        <p:nvSpPr>
          <p:cNvPr id="3" name="Espace réservé du contenu 2"/>
          <p:cNvSpPr>
            <a:spLocks noGrp="1"/>
          </p:cNvSpPr>
          <p:nvPr>
            <p:ph idx="1"/>
          </p:nvPr>
        </p:nvSpPr>
        <p:spPr/>
        <p:txBody>
          <a:bodyPr/>
          <a:lstStyle/>
          <a:p>
            <a:r>
              <a:rPr lang="fr-FR" dirty="0"/>
              <a:t>Moyennes de longueur </a:t>
            </a:r>
          </a:p>
        </p:txBody>
      </p:sp>
      <p:sp>
        <p:nvSpPr>
          <p:cNvPr id="7" name="Espace réservé du numéro de diapositive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10F9B4-E45F-45DE-A182-D2D6DBA25399}"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4" name="Graphique 3"/>
          <p:cNvGraphicFramePr/>
          <p:nvPr>
            <p:extLst/>
          </p:nvPr>
        </p:nvGraphicFramePr>
        <p:xfrm>
          <a:off x="684663" y="2466833"/>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Graphique 4"/>
          <p:cNvGraphicFramePr/>
          <p:nvPr>
            <p:extLst/>
          </p:nvPr>
        </p:nvGraphicFramePr>
        <p:xfrm>
          <a:off x="5576817" y="1984593"/>
          <a:ext cx="5105400" cy="3462020"/>
        </p:xfrm>
        <a:graphic>
          <a:graphicData uri="http://schemas.openxmlformats.org/drawingml/2006/chart">
            <c:chart xmlns:c="http://schemas.openxmlformats.org/drawingml/2006/chart" xmlns:r="http://schemas.openxmlformats.org/officeDocument/2006/relationships" r:id="rId4"/>
          </a:graphicData>
        </a:graphic>
      </p:graphicFrame>
      <mc:AlternateContent xmlns:mc="http://schemas.openxmlformats.org/markup-compatibility/2006" xmlns:a14="http://schemas.microsoft.com/office/drawing/2010/main">
        <mc:Choice Requires="a14">
          <p:sp>
            <p:nvSpPr>
              <p:cNvPr id="6" name="Rectangle 5"/>
              <p:cNvSpPr/>
              <p:nvPr/>
            </p:nvSpPr>
            <p:spPr>
              <a:xfrm>
                <a:off x="2365612" y="5369936"/>
                <a:ext cx="6096000" cy="1140505"/>
              </a:xfrm>
              <a:prstGeom prst="rect">
                <a:avLst/>
              </a:prstGeom>
            </p:spPr>
            <p:txBody>
              <a:bodyPr>
                <a:spAutoFit/>
              </a:bodyPr>
              <a:lstStyle/>
              <a:p>
                <a:pPr marL="0" marR="0" lvl="0" indent="0" algn="just" defTabSz="914400" rtl="0" eaLnBrk="1" fontAlgn="auto" latinLnBrk="0" hangingPunct="1">
                  <a:lnSpc>
                    <a:spcPct val="150000"/>
                  </a:lnSpc>
                  <a:spcBef>
                    <a:spcPts val="0"/>
                  </a:spcBef>
                  <a:spcAft>
                    <a:spcPts val="0"/>
                  </a:spcAft>
                  <a:buClrTx/>
                  <a:buSzTx/>
                  <a:buFontTx/>
                  <a:buNone/>
                  <a:tabLst>
                    <a:tab pos="228600" algn="l"/>
                    <a:tab pos="5581015" algn="r"/>
                  </a:tabLst>
                  <a:defRPr/>
                </a:pP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𝐿𝑜𝑛𝑔</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𝑡</m:t>
                        </m:r>
                      </m:e>
                    </m:d>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8</m:t>
                        </m:r>
                      </m:num>
                      <m:den>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1+7.85</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𝐸𝑋𝑃</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0.0075</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𝑡</m:t>
                            </m:r>
                          </m:e>
                        </m:d>
                      </m:den>
                    </m:f>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𝑒𝑟𝑟𝑒𝑢𝑟𝑙𝑜𝑛𝑔</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(2.178)</m:t>
                    </m:r>
                  </m:oMath>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tab pos="228600" algn="l"/>
                    <a:tab pos="5581015" algn="r"/>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et on vérifie bien que </a:t>
                </a: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𝑒𝑟𝑟𝑒𝑢𝑟𝑙𝑜𝑛𝑔</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𝑁</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(0,0.34)</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(2.179)</m:t>
                    </m:r>
                  </m:oMath>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6" name="Rectangle 5"/>
              <p:cNvSpPr>
                <a:spLocks noRot="1" noChangeAspect="1" noMove="1" noResize="1" noEditPoints="1" noAdjustHandles="1" noChangeArrowheads="1" noChangeShapeType="1" noTextEdit="1"/>
              </p:cNvSpPr>
              <p:nvPr/>
            </p:nvSpPr>
            <p:spPr>
              <a:xfrm>
                <a:off x="2365612" y="5369936"/>
                <a:ext cx="6096000" cy="1140505"/>
              </a:xfrm>
              <a:prstGeom prst="rect">
                <a:avLst/>
              </a:prstGeom>
              <a:blipFill rotWithShape="0">
                <a:blip r:embed="rId5"/>
                <a:stretch>
                  <a:fillRect l="-200" b="-3743"/>
                </a:stretch>
              </a:blipFill>
            </p:spPr>
            <p:txBody>
              <a:bodyPr/>
              <a:lstStyle/>
              <a:p>
                <a:r>
                  <a:rPr lang="fr-FR">
                    <a:noFill/>
                  </a:rPr>
                  <a:t> </a:t>
                </a:r>
              </a:p>
            </p:txBody>
          </p:sp>
        </mc:Fallback>
      </mc:AlternateContent>
    </p:spTree>
    <p:extLst>
      <p:ext uri="{BB962C8B-B14F-4D97-AF65-F5344CB8AC3E}">
        <p14:creationId xmlns:p14="http://schemas.microsoft.com/office/powerpoint/2010/main" val="2030306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FR" sz="3200" dirty="0"/>
              <a:t>PROVISIONNER LA CROISSANCE ET LE DEVELOPPEMENT </a:t>
            </a:r>
            <a:br>
              <a:rPr lang="fr-FR" sz="3200" dirty="0"/>
            </a:br>
            <a:r>
              <a:rPr lang="fr-FR" sz="3200" dirty="0"/>
              <a:t>ETAPE 2 : CARACTERISATION DE LA GEOMETRIE DE PLANTE</a:t>
            </a:r>
          </a:p>
        </p:txBody>
      </p:sp>
      <p:sp>
        <p:nvSpPr>
          <p:cNvPr id="3" name="Espace réservé du contenu 2"/>
          <p:cNvSpPr>
            <a:spLocks noGrp="1"/>
          </p:cNvSpPr>
          <p:nvPr>
            <p:ph idx="1"/>
          </p:nvPr>
        </p:nvSpPr>
        <p:spPr/>
        <p:txBody>
          <a:bodyPr/>
          <a:lstStyle/>
          <a:p>
            <a:r>
              <a:rPr lang="fr-FR" dirty="0"/>
              <a:t>Rayon Bas</a:t>
            </a:r>
          </a:p>
        </p:txBody>
      </p:sp>
      <p:sp>
        <p:nvSpPr>
          <p:cNvPr id="7" name="Espace réservé du numéro de diapositive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10F9B4-E45F-45DE-A182-D2D6DBA25399}"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4" name="Graphique 3"/>
          <p:cNvGraphicFramePr/>
          <p:nvPr>
            <p:extLst/>
          </p:nvPr>
        </p:nvGraphicFramePr>
        <p:xfrm>
          <a:off x="971265" y="2384947"/>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Graphique 4"/>
          <p:cNvGraphicFramePr/>
          <p:nvPr>
            <p:extLst/>
          </p:nvPr>
        </p:nvGraphicFramePr>
        <p:xfrm>
          <a:off x="6095431" y="2169084"/>
          <a:ext cx="5105400" cy="2956560"/>
        </p:xfrm>
        <a:graphic>
          <a:graphicData uri="http://schemas.openxmlformats.org/drawingml/2006/chart">
            <c:chart xmlns:c="http://schemas.openxmlformats.org/drawingml/2006/chart" xmlns:r="http://schemas.openxmlformats.org/officeDocument/2006/relationships" r:id="rId4"/>
          </a:graphicData>
        </a:graphic>
      </p:graphicFrame>
      <mc:AlternateContent xmlns:mc="http://schemas.openxmlformats.org/markup-compatibility/2006" xmlns:a14="http://schemas.microsoft.com/office/drawing/2010/main">
        <mc:Choice Requires="a14">
          <p:sp>
            <p:nvSpPr>
              <p:cNvPr id="6" name="Rectangle 5"/>
              <p:cNvSpPr/>
              <p:nvPr/>
            </p:nvSpPr>
            <p:spPr>
              <a:xfrm>
                <a:off x="2624919" y="5315345"/>
                <a:ext cx="6096000" cy="1140505"/>
              </a:xfrm>
              <a:prstGeom prst="rect">
                <a:avLst/>
              </a:prstGeom>
            </p:spPr>
            <p:txBody>
              <a:bodyPr>
                <a:spAutoFit/>
              </a:bodyPr>
              <a:lstStyle/>
              <a:p>
                <a:pPr marL="0" marR="0" lvl="0" indent="0" algn="just" defTabSz="914400" rtl="0" eaLnBrk="1" fontAlgn="auto" latinLnBrk="0" hangingPunct="1">
                  <a:lnSpc>
                    <a:spcPct val="150000"/>
                  </a:lnSpc>
                  <a:spcBef>
                    <a:spcPts val="0"/>
                  </a:spcBef>
                  <a:spcAft>
                    <a:spcPts val="0"/>
                  </a:spcAft>
                  <a:buClrTx/>
                  <a:buSzTx/>
                  <a:buFontTx/>
                  <a:buNone/>
                  <a:tabLst>
                    <a:tab pos="228600" algn="l"/>
                    <a:tab pos="5581015" algn="r"/>
                  </a:tabLst>
                  <a:defRPr/>
                </a:pP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𝑅𝑏</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𝑡</m:t>
                        </m:r>
                      </m:e>
                    </m:d>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1.9</m:t>
                        </m:r>
                      </m:num>
                      <m:den>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1+25.02</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𝐸𝑋𝑃</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0.0338</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𝑡</m:t>
                            </m:r>
                          </m:e>
                        </m:d>
                      </m:den>
                    </m:f>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𝑒𝑟𝑟𝑒𝑢𝑟𝑅𝑏</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(2.180)</m:t>
                    </m:r>
                  </m:oMath>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tab pos="228600" algn="l"/>
                    <a:tab pos="5581015" algn="r"/>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et on vérifie bien que </a:t>
                </a: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𝑒𝑟𝑟𝑒𝑢𝑟𝑅𝑏</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𝑁</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(0,0.07)</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(2.181)</m:t>
                    </m:r>
                  </m:oMath>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6" name="Rectangle 5"/>
              <p:cNvSpPr>
                <a:spLocks noRot="1" noChangeAspect="1" noMove="1" noResize="1" noEditPoints="1" noAdjustHandles="1" noChangeArrowheads="1" noChangeShapeType="1" noTextEdit="1"/>
              </p:cNvSpPr>
              <p:nvPr/>
            </p:nvSpPr>
            <p:spPr>
              <a:xfrm>
                <a:off x="2624919" y="5315345"/>
                <a:ext cx="6096000" cy="1140505"/>
              </a:xfrm>
              <a:prstGeom prst="rect">
                <a:avLst/>
              </a:prstGeom>
              <a:blipFill rotWithShape="0">
                <a:blip r:embed="rId5"/>
                <a:stretch>
                  <a:fillRect b="-3743"/>
                </a:stretch>
              </a:blipFill>
            </p:spPr>
            <p:txBody>
              <a:bodyPr/>
              <a:lstStyle/>
              <a:p>
                <a:r>
                  <a:rPr lang="fr-FR">
                    <a:noFill/>
                  </a:rPr>
                  <a:t> </a:t>
                </a:r>
              </a:p>
            </p:txBody>
          </p:sp>
        </mc:Fallback>
      </mc:AlternateContent>
    </p:spTree>
    <p:extLst>
      <p:ext uri="{BB962C8B-B14F-4D97-AF65-F5344CB8AC3E}">
        <p14:creationId xmlns:p14="http://schemas.microsoft.com/office/powerpoint/2010/main" val="6532309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FR" sz="3200" dirty="0"/>
              <a:t>PROVISIONNER LA CROISSANCE ET LE DEVELOPPEMENT </a:t>
            </a:r>
            <a:br>
              <a:rPr lang="fr-FR" sz="3200" dirty="0"/>
            </a:br>
            <a:r>
              <a:rPr lang="fr-FR" sz="3200" dirty="0"/>
              <a:t>ETAPE 2 : CARACTERISATION DE LA GEOMETRIE DE PLANTE</a:t>
            </a:r>
          </a:p>
        </p:txBody>
      </p:sp>
      <p:sp>
        <p:nvSpPr>
          <p:cNvPr id="3" name="Espace réservé du contenu 2"/>
          <p:cNvSpPr>
            <a:spLocks noGrp="1"/>
          </p:cNvSpPr>
          <p:nvPr>
            <p:ph idx="1"/>
          </p:nvPr>
        </p:nvSpPr>
        <p:spPr/>
        <p:txBody>
          <a:bodyPr/>
          <a:lstStyle/>
          <a:p>
            <a:r>
              <a:rPr lang="fr-FR" dirty="0"/>
              <a:t>Rayon Haut </a:t>
            </a:r>
          </a:p>
        </p:txBody>
      </p:sp>
      <p:sp>
        <p:nvSpPr>
          <p:cNvPr id="7" name="Espace réservé du numéro de diapositive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10F9B4-E45F-45DE-A182-D2D6DBA25399}"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4" name="Graphique 3"/>
          <p:cNvGraphicFramePr/>
          <p:nvPr>
            <p:extLst/>
          </p:nvPr>
        </p:nvGraphicFramePr>
        <p:xfrm>
          <a:off x="1012209" y="2439538"/>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Graphique 4"/>
          <p:cNvGraphicFramePr/>
          <p:nvPr>
            <p:extLst/>
          </p:nvPr>
        </p:nvGraphicFramePr>
        <p:xfrm>
          <a:off x="6109079" y="1825625"/>
          <a:ext cx="5105400" cy="3462020"/>
        </p:xfrm>
        <a:graphic>
          <a:graphicData uri="http://schemas.openxmlformats.org/drawingml/2006/chart">
            <c:chart xmlns:c="http://schemas.openxmlformats.org/drawingml/2006/chart" xmlns:r="http://schemas.openxmlformats.org/officeDocument/2006/relationships" r:id="rId4"/>
          </a:graphicData>
        </a:graphic>
      </p:graphicFrame>
      <mc:AlternateContent xmlns:mc="http://schemas.openxmlformats.org/markup-compatibility/2006" xmlns:a14="http://schemas.microsoft.com/office/drawing/2010/main">
        <mc:Choice Requires="a14">
          <p:sp>
            <p:nvSpPr>
              <p:cNvPr id="6" name="Rectangle 5"/>
              <p:cNvSpPr/>
              <p:nvPr/>
            </p:nvSpPr>
            <p:spPr>
              <a:xfrm>
                <a:off x="2665863" y="5315345"/>
                <a:ext cx="6096000" cy="1140505"/>
              </a:xfrm>
              <a:prstGeom prst="rect">
                <a:avLst/>
              </a:prstGeom>
            </p:spPr>
            <p:txBody>
              <a:bodyPr>
                <a:spAutoFit/>
              </a:bodyPr>
              <a:lstStyle/>
              <a:p>
                <a:pPr marL="0" marR="0" lvl="0" indent="0" algn="just" defTabSz="914400" rtl="0" eaLnBrk="1" fontAlgn="auto" latinLnBrk="0" hangingPunct="1">
                  <a:lnSpc>
                    <a:spcPct val="150000"/>
                  </a:lnSpc>
                  <a:spcBef>
                    <a:spcPts val="0"/>
                  </a:spcBef>
                  <a:spcAft>
                    <a:spcPts val="0"/>
                  </a:spcAft>
                  <a:buClrTx/>
                  <a:buSzTx/>
                  <a:buFontTx/>
                  <a:buNone/>
                  <a:tabLst>
                    <a:tab pos="228600" algn="l"/>
                    <a:tab pos="5581015" algn="r"/>
                  </a:tabLst>
                  <a:defRPr/>
                </a:pP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𝑅𝑠</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𝑡</m:t>
                        </m:r>
                      </m:e>
                    </m:d>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1.3</m:t>
                        </m:r>
                      </m:num>
                      <m:den>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1+18.89</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𝐸𝑋𝑃</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0.0385</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𝑡</m:t>
                            </m:r>
                          </m:e>
                        </m:d>
                      </m:den>
                    </m:f>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𝑒𝑟𝑟𝑒𝑢𝑟𝑅𝑠</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(2.182)</m:t>
                    </m:r>
                  </m:oMath>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tab pos="228600" algn="l"/>
                    <a:tab pos="5581015" algn="r"/>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et on vérifie bien que</a:t>
                </a:r>
                <a:r>
                  <a:rPr kumimoji="0" lang="fr-FR" sz="1800" b="0" i="1" u="none" strike="noStrike" kern="1200" cap="none" spc="0" normalizeH="0" baseline="0" noProof="0" dirty="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𝑒𝑟𝑟𝑒𝑢𝑟𝑅𝑠</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𝑁</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(0,0.06)</m:t>
                    </m:r>
                  </m:oMath>
                </a14:m>
                <a:r>
                  <a:rPr kumimoji="0" lang="fr-FR" sz="1800" b="0" i="1" u="none" strike="noStrike" kern="1200" cap="none" spc="0" normalizeH="0" baseline="0" noProof="0" dirty="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(2.183)</m:t>
                    </m:r>
                  </m:oMath>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6" name="Rectangle 5"/>
              <p:cNvSpPr>
                <a:spLocks noRot="1" noChangeAspect="1" noMove="1" noResize="1" noEditPoints="1" noAdjustHandles="1" noChangeArrowheads="1" noChangeShapeType="1" noTextEdit="1"/>
              </p:cNvSpPr>
              <p:nvPr/>
            </p:nvSpPr>
            <p:spPr>
              <a:xfrm>
                <a:off x="2665863" y="5315345"/>
                <a:ext cx="6096000" cy="1140505"/>
              </a:xfrm>
              <a:prstGeom prst="rect">
                <a:avLst/>
              </a:prstGeom>
              <a:blipFill rotWithShape="0">
                <a:blip r:embed="rId5"/>
                <a:stretch>
                  <a:fillRect b="-3743"/>
                </a:stretch>
              </a:blipFill>
            </p:spPr>
            <p:txBody>
              <a:bodyPr/>
              <a:lstStyle/>
              <a:p>
                <a:r>
                  <a:rPr lang="fr-FR">
                    <a:noFill/>
                  </a:rPr>
                  <a:t> </a:t>
                </a:r>
              </a:p>
            </p:txBody>
          </p:sp>
        </mc:Fallback>
      </mc:AlternateContent>
    </p:spTree>
    <p:extLst>
      <p:ext uri="{BB962C8B-B14F-4D97-AF65-F5344CB8AC3E}">
        <p14:creationId xmlns:p14="http://schemas.microsoft.com/office/powerpoint/2010/main" val="2466229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FR" sz="3200" dirty="0"/>
              <a:t>PROVISIONNER LA CROISSANCE ET LE DEVELOPPEMENT </a:t>
            </a:r>
            <a:br>
              <a:rPr lang="fr-FR" sz="3200" dirty="0"/>
            </a:br>
            <a:r>
              <a:rPr lang="fr-FR" sz="3200" dirty="0"/>
              <a:t>ETAPE 2 : CARACTERISATION DE LA GEOMETRIE DE PLANTE</a:t>
            </a:r>
          </a:p>
        </p:txBody>
      </p:sp>
      <p:sp>
        <p:nvSpPr>
          <p:cNvPr id="3" name="Espace réservé du contenu 2"/>
          <p:cNvSpPr>
            <a:spLocks noGrp="1"/>
          </p:cNvSpPr>
          <p:nvPr>
            <p:ph idx="1"/>
          </p:nvPr>
        </p:nvSpPr>
        <p:spPr/>
        <p:txBody>
          <a:bodyPr/>
          <a:lstStyle/>
          <a:p>
            <a:r>
              <a:rPr lang="fr-FR" dirty="0"/>
              <a:t>Angle moyen de Branchement </a:t>
            </a:r>
          </a:p>
        </p:txBody>
      </p:sp>
      <p:sp>
        <p:nvSpPr>
          <p:cNvPr id="8" name="Espace réservé du numéro de diapositive 7"/>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10F9B4-E45F-45DE-A182-D2D6DBA25399}"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4" name="Graphique 3"/>
          <p:cNvGraphicFramePr/>
          <p:nvPr>
            <p:extLst/>
          </p:nvPr>
        </p:nvGraphicFramePr>
        <p:xfrm>
          <a:off x="3714465" y="2190465"/>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Graphique 4"/>
          <p:cNvGraphicFramePr/>
          <p:nvPr>
            <p:extLst/>
          </p:nvPr>
        </p:nvGraphicFramePr>
        <p:xfrm>
          <a:off x="8035973" y="4009150"/>
          <a:ext cx="4033197" cy="275331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Graphique 5"/>
          <p:cNvGraphicFramePr/>
          <p:nvPr>
            <p:extLst/>
          </p:nvPr>
        </p:nvGraphicFramePr>
        <p:xfrm>
          <a:off x="627798" y="3807725"/>
          <a:ext cx="3713896" cy="2694438"/>
        </p:xfrm>
        <a:graphic>
          <a:graphicData uri="http://schemas.openxmlformats.org/drawingml/2006/chart">
            <c:chart xmlns:c="http://schemas.openxmlformats.org/drawingml/2006/chart" xmlns:r="http://schemas.openxmlformats.org/officeDocument/2006/relationships" r:id="rId5"/>
          </a:graphicData>
        </a:graphic>
      </p:graphicFrame>
      <mc:AlternateContent xmlns:mc="http://schemas.openxmlformats.org/markup-compatibility/2006" xmlns:a14="http://schemas.microsoft.com/office/drawing/2010/main">
        <mc:Choice Requires="a14">
          <p:sp>
            <p:nvSpPr>
              <p:cNvPr id="7" name="Rectangle 6"/>
              <p:cNvSpPr/>
              <p:nvPr/>
            </p:nvSpPr>
            <p:spPr>
              <a:xfrm>
                <a:off x="6205711" y="1825625"/>
                <a:ext cx="5567230"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On vérifie bien que </a:t>
                </a: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𝐴𝑁𝐺𝐿𝐸𝐵𝑅𝐴𝑁𝐶𝐻𝐸𝑀𝐸𝑁𝑇</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𝑁</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mn-cs"/>
                          </a:rPr>
                        </m:ctrlPr>
                      </m:dP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38,22</m:t>
                        </m:r>
                      </m:e>
                    </m:d>
                  </m:oMath>
                </a14:m>
                <a:endParaRPr kumimoji="0" lang="fr-FR"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7" name="Rectangle 6"/>
              <p:cNvSpPr>
                <a:spLocks noRot="1" noChangeAspect="1" noMove="1" noResize="1" noEditPoints="1" noAdjustHandles="1" noChangeArrowheads="1" noChangeShapeType="1" noTextEdit="1"/>
              </p:cNvSpPr>
              <p:nvPr/>
            </p:nvSpPr>
            <p:spPr>
              <a:xfrm>
                <a:off x="6205711" y="1825625"/>
                <a:ext cx="5567230" cy="369332"/>
              </a:xfrm>
              <a:prstGeom prst="rect">
                <a:avLst/>
              </a:prstGeom>
              <a:blipFill rotWithShape="0">
                <a:blip r:embed="rId6"/>
                <a:stretch>
                  <a:fillRect l="-986" t="-8197" b="-24590"/>
                </a:stretch>
              </a:blipFill>
            </p:spPr>
            <p:txBody>
              <a:bodyPr/>
              <a:lstStyle/>
              <a:p>
                <a:r>
                  <a:rPr lang="fr-FR">
                    <a:noFill/>
                  </a:rPr>
                  <a:t> </a:t>
                </a:r>
              </a:p>
            </p:txBody>
          </p:sp>
        </mc:Fallback>
      </mc:AlternateContent>
    </p:spTree>
    <p:extLst>
      <p:ext uri="{BB962C8B-B14F-4D97-AF65-F5344CB8AC3E}">
        <p14:creationId xmlns:p14="http://schemas.microsoft.com/office/powerpoint/2010/main" val="8866021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FR" sz="3200" dirty="0"/>
              <a:t>PROVISIONNER LA CROISSANCE ET LE DEVELOPPEMENT </a:t>
            </a:r>
            <a:br>
              <a:rPr lang="fr-FR" sz="3200" dirty="0"/>
            </a:br>
            <a:r>
              <a:rPr lang="fr-FR" sz="3200" dirty="0"/>
              <a:t>ETAPE 2 : CARACTERISATION DE LA GEOMETRIE DE PLANTE</a:t>
            </a:r>
          </a:p>
        </p:txBody>
      </p:sp>
      <p:sp>
        <p:nvSpPr>
          <p:cNvPr id="3" name="Espace réservé du contenu 2"/>
          <p:cNvSpPr>
            <a:spLocks noGrp="1"/>
          </p:cNvSpPr>
          <p:nvPr>
            <p:ph idx="1"/>
          </p:nvPr>
        </p:nvSpPr>
        <p:spPr/>
        <p:txBody>
          <a:bodyPr/>
          <a:lstStyle/>
          <a:p>
            <a:r>
              <a:rPr lang="fr-FR" dirty="0"/>
              <a:t>Angle moyen de phyllotaxie cumulé et fixe</a:t>
            </a:r>
          </a:p>
        </p:txBody>
      </p:sp>
      <p:sp>
        <p:nvSpPr>
          <p:cNvPr id="8" name="Espace réservé du numéro de diapositive 7"/>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10F9B4-E45F-45DE-A182-D2D6DBA25399}"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4" name="Graphique 3"/>
          <p:cNvGraphicFramePr/>
          <p:nvPr>
            <p:extLst/>
          </p:nvPr>
        </p:nvGraphicFramePr>
        <p:xfrm>
          <a:off x="7759107" y="1269241"/>
          <a:ext cx="4432893" cy="294791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Graphique 4"/>
          <p:cNvGraphicFramePr/>
          <p:nvPr>
            <p:extLst/>
          </p:nvPr>
        </p:nvGraphicFramePr>
        <p:xfrm>
          <a:off x="7705300" y="3956851"/>
          <a:ext cx="4358185" cy="294617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Graphique 5"/>
          <p:cNvGraphicFramePr/>
          <p:nvPr>
            <p:extLst/>
          </p:nvPr>
        </p:nvGraphicFramePr>
        <p:xfrm>
          <a:off x="3194713" y="4140035"/>
          <a:ext cx="4572000" cy="2576195"/>
        </p:xfrm>
        <a:graphic>
          <a:graphicData uri="http://schemas.openxmlformats.org/drawingml/2006/chart">
            <c:chart xmlns:c="http://schemas.openxmlformats.org/drawingml/2006/chart" xmlns:r="http://schemas.openxmlformats.org/officeDocument/2006/relationships" r:id="rId5"/>
          </a:graphicData>
        </a:graphic>
      </p:graphicFrame>
      <mc:AlternateContent xmlns:mc="http://schemas.openxmlformats.org/markup-compatibility/2006" xmlns:a14="http://schemas.microsoft.com/office/drawing/2010/main">
        <mc:Choice Requires="a14">
          <p:sp>
            <p:nvSpPr>
              <p:cNvPr id="7" name="Rectangle 6"/>
              <p:cNvSpPr/>
              <p:nvPr/>
            </p:nvSpPr>
            <p:spPr>
              <a:xfrm>
                <a:off x="128515" y="2229955"/>
                <a:ext cx="8101085" cy="2223301"/>
              </a:xfrm>
              <a:prstGeom prst="rect">
                <a:avLst/>
              </a:prstGeom>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𝑎𝑛𝑔𝑙𝑒𝑝h𝑦𝑙𝑙𝑜𝑐𝑢𝑚𝑢𝑙</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é</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e>
                          </m:d>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𝛼</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𝑒𝑟𝑟𝑒𝑢𝑟𝑎𝑛𝑔𝑝h𝑦𝑙𝑙𝑜</m:t>
                              </m:r>
                            </m:e>
                          </m:d>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𝛼</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m:t>
                              </m:r>
                            </m:sub>
                          </m:sSub>
                        </m:e>
                      </m:d>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𝑚𝑜𝑑𝑢𝑙𝑜</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360</m:t>
                          </m:r>
                        </m:e>
                      </m:d>
                    </m:oMath>
                  </m:oMathPara>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tab pos="228600" algn="l"/>
                    <a:tab pos="5581015" algn="r"/>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𝑎𝑛𝑔𝑙𝑒𝑝h𝑦𝑙𝑙𝑜𝑓𝑖𝑥𝑒</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𝑎𝑛𝑔𝑙𝑒𝑝h𝑦𝑙𝑙𝑜𝑐𝑢𝑚𝑢𝑙</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é</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e>
                    </m:d>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𝑎𝑛𝑔𝑙𝑒𝑝h𝑦𝑙𝑙𝑜𝑐𝑢𝑚𝑢𝑙</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é</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𝑛</m:t>
                        </m:r>
                      </m:e>
                    </m:d>
                  </m:oMath>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tab pos="228600" algn="l"/>
                    <a:tab pos="5581015" algn="r"/>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=138+</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𝑒𝑟𝑟𝑒𝑢𝑟𝑎𝑛𝑔𝑝h𝑦𝑙𝑙𝑜</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(2.189)</m:t>
                    </m:r>
                  </m:oMath>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tab pos="228600" algn="l"/>
                    <a:tab pos="5581015" algn="r"/>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avec </a:t>
                </a: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𝑒𝑟𝑟𝑒𝑢𝑟𝑎𝑛𝑔𝑝h𝑦𝑙𝑙𝑜</m:t>
                    </m:r>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𝑁</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0,4</m:t>
                        </m:r>
                      </m:e>
                    </m:d>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(2.190)</m:t>
                    </m:r>
                  </m:oMath>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L’angle gérer par « @ » dans L-system.</a:t>
                </a:r>
              </a:p>
            </p:txBody>
          </p:sp>
        </mc:Choice>
        <mc:Fallback xmlns="">
          <p:sp>
            <p:nvSpPr>
              <p:cNvPr id="7" name="Rectangle 6"/>
              <p:cNvSpPr>
                <a:spLocks noRot="1" noChangeAspect="1" noMove="1" noResize="1" noEditPoints="1" noAdjustHandles="1" noChangeArrowheads="1" noChangeShapeType="1" noTextEdit="1"/>
              </p:cNvSpPr>
              <p:nvPr/>
            </p:nvSpPr>
            <p:spPr>
              <a:xfrm>
                <a:off x="128515" y="2229955"/>
                <a:ext cx="8101085" cy="2223301"/>
              </a:xfrm>
              <a:prstGeom prst="rect">
                <a:avLst/>
              </a:prstGeom>
              <a:blipFill rotWithShape="0">
                <a:blip r:embed="rId6"/>
                <a:stretch>
                  <a:fillRect l="-602" b="-1370"/>
                </a:stretch>
              </a:blipFill>
            </p:spPr>
            <p:txBody>
              <a:bodyPr/>
              <a:lstStyle/>
              <a:p>
                <a:r>
                  <a:rPr lang="fr-FR">
                    <a:noFill/>
                  </a:rPr>
                  <a:t> </a:t>
                </a:r>
              </a:p>
            </p:txBody>
          </p:sp>
        </mc:Fallback>
      </mc:AlternateContent>
    </p:spTree>
    <p:extLst>
      <p:ext uri="{BB962C8B-B14F-4D97-AF65-F5344CB8AC3E}">
        <p14:creationId xmlns:p14="http://schemas.microsoft.com/office/powerpoint/2010/main" val="42069640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FR" sz="3200" dirty="0"/>
              <a:t>PROVISIONNER LA CROISSANCE ET LE DEVELOPPEMENT </a:t>
            </a:r>
            <a:br>
              <a:rPr lang="fr-FR" sz="3200" dirty="0"/>
            </a:br>
            <a:r>
              <a:rPr lang="fr-FR" sz="3200" dirty="0"/>
              <a:t>ETAPE 2 : CARACTERISATION DE LA GEOMETRIE DE PLANTE</a:t>
            </a:r>
          </a:p>
        </p:txBody>
      </p:sp>
      <p:sp>
        <p:nvSpPr>
          <p:cNvPr id="3" name="Espace réservé du contenu 2"/>
          <p:cNvSpPr>
            <a:spLocks noGrp="1"/>
          </p:cNvSpPr>
          <p:nvPr>
            <p:ph idx="1"/>
          </p:nvPr>
        </p:nvSpPr>
        <p:spPr/>
        <p:txBody>
          <a:bodyPr/>
          <a:lstStyle/>
          <a:p>
            <a:r>
              <a:rPr lang="fr-FR" dirty="0"/>
              <a:t>Croissance géométrique</a:t>
            </a:r>
          </a:p>
        </p:txBody>
      </p:sp>
      <p:sp>
        <p:nvSpPr>
          <p:cNvPr id="9" name="Espace réservé du numéro de diapositive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10F9B4-E45F-45DE-A182-D2D6DBA25399}"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Rectangle 2"/>
          <p:cNvSpPr>
            <a:spLocks noChangeArrowheads="1"/>
          </p:cNvSpPr>
          <p:nvPr/>
        </p:nvSpPr>
        <p:spPr bwMode="auto">
          <a:xfrm flipV="1">
            <a:off x="1678674" y="2906972"/>
            <a:ext cx="2191881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5" name="Objet 4"/>
          <p:cNvGraphicFramePr>
            <a:graphicFrameLocks noChangeAspect="1"/>
          </p:cNvGraphicFramePr>
          <p:nvPr>
            <p:extLst/>
          </p:nvPr>
        </p:nvGraphicFramePr>
        <p:xfrm>
          <a:off x="0" y="2544603"/>
          <a:ext cx="3630304" cy="3767297"/>
        </p:xfrm>
        <a:graphic>
          <a:graphicData uri="http://schemas.openxmlformats.org/presentationml/2006/ole">
            <mc:AlternateContent xmlns:mc="http://schemas.openxmlformats.org/markup-compatibility/2006">
              <mc:Choice xmlns:v="urn:schemas-microsoft-com:vml" Requires="v">
                <p:oleObj spid="_x0000_s9220" name="Image bitmap" r:id="rId4" imgW="2019048" imgH="2095793" progId="Paint.Picture">
                  <p:embed/>
                </p:oleObj>
              </mc:Choice>
              <mc:Fallback>
                <p:oleObj name="Image bitmap" r:id="rId4" imgW="2019048" imgH="2095793" progId="Paint.Picture">
                  <p:embed/>
                  <p:pic>
                    <p:nvPicPr>
                      <p:cNvPr id="5" name="Obje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2544603"/>
                        <a:ext cx="3630304" cy="3767297"/>
                      </a:xfrm>
                      <a:prstGeom prst="rect">
                        <a:avLst/>
                      </a:prstGeom>
                      <a:noFill/>
                    </p:spPr>
                  </p:pic>
                </p:oleObj>
              </mc:Fallback>
            </mc:AlternateContent>
          </a:graphicData>
        </a:graphic>
      </p:graphicFrame>
      <p:pic>
        <p:nvPicPr>
          <p:cNvPr id="6" name="Image 5" descr="C:\Users\Oussama\Documents\3dsMax\scenes\ev geo 30it br2.jpg"/>
          <p:cNvPicPr/>
          <p:nvPr/>
        </p:nvPicPr>
        <p:blipFill>
          <a:blip r:embed="rId6">
            <a:extLst>
              <a:ext uri="{28A0092B-C50C-407E-A947-70E740481C1C}">
                <a14:useLocalDpi xmlns:a14="http://schemas.microsoft.com/office/drawing/2010/main" val="0"/>
              </a:ext>
            </a:extLst>
          </a:blip>
          <a:srcRect/>
          <a:stretch>
            <a:fillRect/>
          </a:stretch>
        </p:blipFill>
        <p:spPr bwMode="auto">
          <a:xfrm>
            <a:off x="3405113" y="2234601"/>
            <a:ext cx="5205487" cy="4387299"/>
          </a:xfrm>
          <a:prstGeom prst="rect">
            <a:avLst/>
          </a:prstGeom>
          <a:noFill/>
          <a:ln>
            <a:noFill/>
          </a:ln>
        </p:spPr>
      </p:pic>
      <p:sp>
        <p:nvSpPr>
          <p:cNvPr id="7" name="Rectangle 4"/>
          <p:cNvSpPr>
            <a:spLocks noChangeArrowheads="1"/>
          </p:cNvSpPr>
          <p:nvPr/>
        </p:nvSpPr>
        <p:spPr bwMode="auto">
          <a:xfrm>
            <a:off x="10744528" y="194635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8" name="Objet 7"/>
          <p:cNvGraphicFramePr>
            <a:graphicFrameLocks noChangeAspect="1"/>
          </p:cNvGraphicFramePr>
          <p:nvPr>
            <p:extLst/>
          </p:nvPr>
        </p:nvGraphicFramePr>
        <p:xfrm>
          <a:off x="7472051" y="1726050"/>
          <a:ext cx="4620975" cy="3459079"/>
        </p:xfrm>
        <a:graphic>
          <a:graphicData uri="http://schemas.openxmlformats.org/presentationml/2006/ole">
            <mc:AlternateContent xmlns:mc="http://schemas.openxmlformats.org/markup-compatibility/2006">
              <mc:Choice xmlns:v="urn:schemas-microsoft-com:vml" Requires="v">
                <p:oleObj spid="_x0000_s9221" name="Image bitmap" r:id="rId7" imgW="6838095" imgH="5144218" progId="Paint.Picture">
                  <p:embed/>
                </p:oleObj>
              </mc:Choice>
              <mc:Fallback>
                <p:oleObj name="Image bitmap" r:id="rId7" imgW="6838095" imgH="5144218" progId="Paint.Picture">
                  <p:embed/>
                  <p:pic>
                    <p:nvPicPr>
                      <p:cNvPr id="8" name="Obje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72051" y="1726050"/>
                        <a:ext cx="4620975" cy="3459079"/>
                      </a:xfrm>
                      <a:prstGeom prst="rect">
                        <a:avLst/>
                      </a:prstGeom>
                      <a:noFill/>
                    </p:spPr>
                  </p:pic>
                </p:oleObj>
              </mc:Fallback>
            </mc:AlternateContent>
          </a:graphicData>
        </a:graphic>
      </p:graphicFrame>
    </p:spTree>
    <p:extLst>
      <p:ext uri="{BB962C8B-B14F-4D97-AF65-F5344CB8AC3E}">
        <p14:creationId xmlns:p14="http://schemas.microsoft.com/office/powerpoint/2010/main" val="39050419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FR" sz="3200" dirty="0"/>
              <a:t>PROVISIONNER LA CROISSANCE ET LE DEVELOPPEMENT </a:t>
            </a:r>
            <a:br>
              <a:rPr lang="fr-FR" sz="3200" dirty="0"/>
            </a:br>
            <a:r>
              <a:rPr lang="fr-FR" sz="3200" dirty="0"/>
              <a:t>ETAPE 5 :  IMPLEMENTATION ET RESULTAT</a:t>
            </a:r>
          </a:p>
        </p:txBody>
      </p:sp>
      <p:sp>
        <p:nvSpPr>
          <p:cNvPr id="3" name="Espace réservé du contenu 2"/>
          <p:cNvSpPr>
            <a:spLocks noGrp="1"/>
          </p:cNvSpPr>
          <p:nvPr>
            <p:ph idx="1"/>
          </p:nvPr>
        </p:nvSpPr>
        <p:spPr/>
        <p:txBody>
          <a:bodyPr/>
          <a:lstStyle/>
          <a:p>
            <a:r>
              <a:rPr lang="fr-FR" dirty="0"/>
              <a:t>ALLURE PLANTE SIMULER A PARTIR DES PARAMETRES D’ENTRER</a:t>
            </a:r>
          </a:p>
          <a:p>
            <a:r>
              <a:rPr lang="fr-FR" dirty="0"/>
              <a:t>PROVISIONNEMENT ETAT FUTUR DE PLANTE</a:t>
            </a:r>
          </a:p>
        </p:txBody>
      </p:sp>
      <p:sp>
        <p:nvSpPr>
          <p:cNvPr id="6" name="Espace réservé du numéro de diapositive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10F9B4-E45F-45DE-A182-D2D6DBA25399}"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4" name="Rectangle 3"/>
              <p:cNvSpPr/>
              <p:nvPr/>
            </p:nvSpPr>
            <p:spPr>
              <a:xfrm>
                <a:off x="946246" y="2928830"/>
                <a:ext cx="6096000" cy="3248133"/>
              </a:xfrm>
              <a:prstGeom prst="rect">
                <a:avLst/>
              </a:prstGeom>
            </p:spPr>
            <p:txBody>
              <a:bodyPr>
                <a:spAutoFit/>
              </a:bodyPr>
              <a:lstStyle/>
              <a:p>
                <a:pPr marL="0" marR="0" lvl="0" indent="0" algn="just" defTabSz="914400" rtl="0" eaLnBrk="1" fontAlgn="auto" latinLnBrk="0" hangingPunct="1">
                  <a:lnSpc>
                    <a:spcPct val="150000"/>
                  </a:lnSpc>
                  <a:spcBef>
                    <a:spcPts val="0"/>
                  </a:spcBef>
                  <a:spcAft>
                    <a:spcPts val="0"/>
                  </a:spcAft>
                  <a:buClrTx/>
                  <a:buSzTx/>
                  <a:buFontTx/>
                  <a:buNone/>
                  <a:tabLst>
                    <a:tab pos="3614420" algn="l"/>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Nous choisissons la matrice de la branche 1 (voir équation (2.160)) car elle plus robuste puisque :</a:t>
                </a:r>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tab pos="3614420" algn="l"/>
                  </a:tabLst>
                  <a:defRPr/>
                </a:pPr>
                <a14:m>
                  <m:oMathPara xmlns:m="http://schemas.openxmlformats.org/officeDocument/2006/math">
                    <m:oMathParaPr>
                      <m:jc m:val="centerGroup"/>
                    </m:oMathParaPr>
                    <m:oMath xmlns:m="http://schemas.openxmlformats.org/officeDocument/2006/math">
                      <m:f>
                        <m:f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𝐻</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𝐷</m:t>
                              </m:r>
                            </m:e>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m:t>
                              </m:r>
                            </m:e>
                          </m:d>
                        </m:num>
                        <m:den>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𝐻</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m:t>
                              </m:r>
                            </m:e>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𝐷</m:t>
                              </m:r>
                            </m:e>
                          </m:d>
                        </m:den>
                      </m:f>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=8.08≈</m:t>
                      </m:r>
                      <m:f>
                        <m:f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𝑓𝑟𝑒𝑞𝑢𝑒𝑛𝑐𝑒</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𝑌</m:t>
                              </m:r>
                            </m:e>
                          </m:d>
                        </m:num>
                        <m:den>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𝑓𝑟𝑒𝑞𝑢𝑒𝑛𝑐𝑒</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𝑋</m:t>
                              </m:r>
                            </m:e>
                          </m:d>
                        </m:den>
                      </m:f>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=7.32</m:t>
                      </m:r>
                    </m:oMath>
                  </m:oMathPara>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𝐻</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m:t>
                      </m:r>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dPr>
                        <m:e>
                          <m:m>
                            <m:mPr>
                              <m:mcs>
                                <m:mc>
                                  <m:mcPr>
                                    <m:count m:val="2"/>
                                    <m:mcJc m:val="center"/>
                                  </m:mcPr>
                                </m:mc>
                              </m:mcs>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mPr>
                            <m:mr>
                              <m:e>
                                <m:m>
                                  <m:mPr>
                                    <m:mcs>
                                      <m:mc>
                                        <m:mcPr>
                                          <m:count m:val="2"/>
                                          <m:mcJc m:val="center"/>
                                        </m:mcPr>
                                      </m:mc>
                                    </m:mcs>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mPr>
                                  <m:m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  0.02</m:t>
                                      </m:r>
                                    </m:e>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 0.19</m:t>
                                      </m:r>
                                    </m:e>
                                  </m:mr>
                                  <m:m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 0.05</m:t>
                                      </m:r>
                                    </m:e>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0.21</m:t>
                                      </m:r>
                                    </m:e>
                                  </m:mr>
                                </m:m>
                              </m:e>
                              <m:e>
                                <m:m>
                                  <m:mPr>
                                    <m:mcs>
                                      <m:mc>
                                        <m:mcPr>
                                          <m:count m:val="2"/>
                                          <m:mcJc m:val="center"/>
                                        </m:mcPr>
                                      </m:mc>
                                    </m:mcs>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mPr>
                                  <m:m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 0.71</m:t>
                                      </m:r>
                                    </m:e>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 0.08</m:t>
                                      </m:r>
                                    </m:e>
                                  </m:mr>
                                  <m:m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0.67</m:t>
                                      </m:r>
                                    </m:e>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0.07</m:t>
                                      </m:r>
                                    </m:e>
                                  </m:mr>
                                </m:m>
                              </m:e>
                            </m:mr>
                            <m:mr>
                              <m:e>
                                <m:m>
                                  <m:mPr>
                                    <m:mcs>
                                      <m:mc>
                                        <m:mcPr>
                                          <m:count m:val="2"/>
                                          <m:mcJc m:val="center"/>
                                        </m:mcPr>
                                      </m:mc>
                                    </m:mcs>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mPr>
                                  <m:m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 0.02</m:t>
                                      </m:r>
                                    </m:e>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0.18</m:t>
                                      </m:r>
                                    </m:e>
                                  </m:mr>
                                  <m:m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0</m:t>
                                      </m:r>
                                    </m:e>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0.16</m:t>
                                      </m:r>
                                    </m:e>
                                  </m:mr>
                                </m:m>
                              </m:e>
                              <m:e>
                                <m:m>
                                  <m:mPr>
                                    <m:mcs>
                                      <m:mc>
                                        <m:mcPr>
                                          <m:count m:val="2"/>
                                          <m:mcJc m:val="center"/>
                                        </m:mcPr>
                                      </m:mc>
                                    </m:mcs>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mPr>
                                  <m:m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0.71</m:t>
                                      </m:r>
                                    </m:e>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0.099</m:t>
                                      </m:r>
                                    </m:e>
                                  </m:mr>
                                  <m:mr>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0.8</m:t>
                                      </m:r>
                                    </m:e>
                                    <m:e>
                                      <m:r>
                                        <a:rPr kumimoji="0" lang="fr-FR" sz="1800" b="0" i="0"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0.04</m:t>
                                      </m:r>
                                    </m:e>
                                  </m:mr>
                                </m:m>
                              </m:e>
                            </m:mr>
                          </m:m>
                        </m:e>
                      </m:d>
                    </m:oMath>
                  </m:oMathPara>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946246" y="2928830"/>
                <a:ext cx="6096000" cy="3248133"/>
              </a:xfrm>
              <a:prstGeom prst="rect">
                <a:avLst/>
              </a:prstGeom>
              <a:blipFill rotWithShape="0">
                <a:blip r:embed="rId3"/>
                <a:stretch>
                  <a:fillRect l="-800" r="-90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810784" y="3358801"/>
                <a:ext cx="3799195" cy="2169825"/>
              </a:xfrm>
              <a:prstGeom prst="rect">
                <a:avLst/>
              </a:prstGeom>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Règle A : g </a:t>
                </a: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a:t>
                </a: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g            </a:t>
                </a:r>
                <a14:m>
                  <m:oMath xmlns:m="http://schemas.openxmlformats.org/officeDocument/2006/math">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𝐻</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𝑛</m:t>
                        </m:r>
                      </m:sub>
                    </m:sSub>
                    <m:d>
                      <m:d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d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𝐴</m:t>
                        </m:r>
                      </m:e>
                    </m:d>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oMath>
                </a14:m>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 </a:t>
                </a:r>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Règle B : f </a:t>
                </a: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a:t>
                </a: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g           </a:t>
                </a:r>
                <a14:m>
                  <m:oMath xmlns:m="http://schemas.openxmlformats.org/officeDocument/2006/math">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𝐻</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𝑛</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𝐵</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m:t>
                    </m:r>
                  </m:oMath>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Règle C : f </a:t>
                </a: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a:t>
                </a: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f            </a:t>
                </a:r>
                <a14:m>
                  <m:oMath xmlns:m="http://schemas.openxmlformats.org/officeDocument/2006/math">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𝐻</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𝑛</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𝐶</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m:t>
                    </m:r>
                  </m:oMath>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Règle D : f </a:t>
                </a: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a:t>
                </a: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fr-FR" sz="1800" b="0"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Y@f</a:t>
                </a: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14:m>
                  <m:oMath xmlns:m="http://schemas.openxmlformats.org/officeDocument/2006/math">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𝐻</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𝑛</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𝐷</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m:t>
                    </m:r>
                  </m:oMath>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Règle E : </a:t>
                </a:r>
                <a:r>
                  <a:rPr kumimoji="0" lang="fr-FR" sz="1800" b="0"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f</a:t>
                </a:r>
                <a:r>
                  <a:rPr kumimoji="0" lang="fr-FR" sz="1800" b="0"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a:t>
                </a:r>
                <a:r>
                  <a:rPr kumimoji="0" lang="fr-FR" sz="1800" b="0"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X</a:t>
                </a:r>
                <a:r>
                  <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[#@f]@f            </a:t>
                </a:r>
                <a14:m>
                  <m:oMath xmlns:m="http://schemas.openxmlformats.org/officeDocument/2006/math">
                    <m:sSub>
                      <m:sSubPr>
                        <m:ctrlP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ctrlPr>
                      </m:sSubPr>
                      <m:e>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𝐻</m:t>
                        </m:r>
                      </m:e>
                      <m: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𝑛</m:t>
                        </m:r>
                      </m:sub>
                    </m:sSub>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𝐸</m:t>
                    </m:r>
                    <m:r>
                      <a:rPr kumimoji="0" lang="fr-FR" sz="1800" b="0" i="1" u="none" strike="noStrike" kern="1200" cap="none" spc="0" normalizeH="0" baseline="0" noProof="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m:t>
                    </m:r>
                  </m:oMath>
                </a14:m>
                <a:endParaRPr kumimoji="0" lang="fr-F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7810784" y="3358801"/>
                <a:ext cx="3799195" cy="2169825"/>
              </a:xfrm>
              <a:prstGeom prst="rect">
                <a:avLst/>
              </a:prstGeom>
              <a:blipFill rotWithShape="0">
                <a:blip r:embed="rId4"/>
                <a:stretch>
                  <a:fillRect l="-1282" b="-1685"/>
                </a:stretch>
              </a:blipFill>
            </p:spPr>
            <p:txBody>
              <a:bodyPr/>
              <a:lstStyle/>
              <a:p>
                <a:r>
                  <a:rPr lang="fr-FR">
                    <a:noFill/>
                  </a:rPr>
                  <a:t> </a:t>
                </a:r>
              </a:p>
            </p:txBody>
          </p:sp>
        </mc:Fallback>
      </mc:AlternateContent>
    </p:spTree>
    <p:extLst>
      <p:ext uri="{BB962C8B-B14F-4D97-AF65-F5344CB8AC3E}">
        <p14:creationId xmlns:p14="http://schemas.microsoft.com/office/powerpoint/2010/main" val="29699579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FR" sz="3200" dirty="0"/>
              <a:t>PROVISIONNER LA CROISSANCE ET LE DEVELOPPEMENT </a:t>
            </a:r>
            <a:br>
              <a:rPr lang="fr-FR" sz="3200" dirty="0"/>
            </a:br>
            <a:r>
              <a:rPr lang="fr-FR" sz="3200" dirty="0"/>
              <a:t>ETAPE 5 :  IMPLEMENTATION ET RESULTAT</a:t>
            </a:r>
          </a:p>
        </p:txBody>
      </p:sp>
      <p:sp>
        <p:nvSpPr>
          <p:cNvPr id="3" name="Espace réservé du contenu 2"/>
          <p:cNvSpPr>
            <a:spLocks noGrp="1"/>
          </p:cNvSpPr>
          <p:nvPr>
            <p:ph idx="1"/>
          </p:nvPr>
        </p:nvSpPr>
        <p:spPr/>
        <p:txBody>
          <a:bodyPr/>
          <a:lstStyle/>
          <a:p>
            <a:r>
              <a:rPr lang="fr-FR" dirty="0"/>
              <a:t>ALLURE PLANTE SIMULER A PARTIR DES PARAMETRES D’ENTRER</a:t>
            </a:r>
          </a:p>
          <a:p>
            <a:r>
              <a:rPr lang="fr-FR" dirty="0"/>
              <a:t>PROVISIONNEMENT ETAT FUTUR DE PLANTE</a:t>
            </a:r>
          </a:p>
        </p:txBody>
      </p:sp>
      <p:sp>
        <p:nvSpPr>
          <p:cNvPr id="4" name="Espace réservé du numéro de diapositive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10F9B4-E45F-45DE-A182-D2D6DBA25399}" type="slidenum">
              <a:rPr kumimoji="0" lang="fr-FR"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fr-FR"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5" name="Image 4" descr="C:\Users\Oussama\Documents\3dsMax\scenes\30it br1.jpg"/>
          <p:cNvPicPr/>
          <p:nvPr/>
        </p:nvPicPr>
        <p:blipFill>
          <a:blip r:embed="rId3">
            <a:extLst>
              <a:ext uri="{28A0092B-C50C-407E-A947-70E740481C1C}">
                <a14:useLocalDpi xmlns:a14="http://schemas.microsoft.com/office/drawing/2010/main" val="0"/>
              </a:ext>
            </a:extLst>
          </a:blip>
          <a:srcRect/>
          <a:stretch>
            <a:fillRect/>
          </a:stretch>
        </p:blipFill>
        <p:spPr bwMode="auto">
          <a:xfrm>
            <a:off x="636064" y="4382082"/>
            <a:ext cx="2735580" cy="2051685"/>
          </a:xfrm>
          <a:prstGeom prst="rect">
            <a:avLst/>
          </a:prstGeom>
          <a:noFill/>
          <a:ln>
            <a:noFill/>
          </a:ln>
        </p:spPr>
      </p:pic>
      <p:pic>
        <p:nvPicPr>
          <p:cNvPr id="6" name="Image 5" descr="C:\Users\Oussama\Documents\3dsMax\scenes\30it br2.jpg"/>
          <p:cNvPicPr/>
          <p:nvPr/>
        </p:nvPicPr>
        <p:blipFill>
          <a:blip r:embed="rId4">
            <a:extLst>
              <a:ext uri="{28A0092B-C50C-407E-A947-70E740481C1C}">
                <a14:useLocalDpi xmlns:a14="http://schemas.microsoft.com/office/drawing/2010/main" val="0"/>
              </a:ext>
            </a:extLst>
          </a:blip>
          <a:srcRect/>
          <a:stretch>
            <a:fillRect/>
          </a:stretch>
        </p:blipFill>
        <p:spPr bwMode="auto">
          <a:xfrm>
            <a:off x="3169508" y="3827780"/>
            <a:ext cx="3312160" cy="2484120"/>
          </a:xfrm>
          <a:prstGeom prst="rect">
            <a:avLst/>
          </a:prstGeom>
          <a:noFill/>
          <a:ln>
            <a:noFill/>
          </a:ln>
        </p:spPr>
      </p:pic>
      <p:pic>
        <p:nvPicPr>
          <p:cNvPr id="7" name="Image 6" descr="C:\Users\Oussama\Documents\3dsMax\scenes\br1 br2.jpg"/>
          <p:cNvPicPr/>
          <p:nvPr/>
        </p:nvPicPr>
        <p:blipFill>
          <a:blip r:embed="rId5">
            <a:extLst>
              <a:ext uri="{28A0092B-C50C-407E-A947-70E740481C1C}">
                <a14:useLocalDpi xmlns:a14="http://schemas.microsoft.com/office/drawing/2010/main" val="0"/>
              </a:ext>
            </a:extLst>
          </a:blip>
          <a:srcRect/>
          <a:stretch>
            <a:fillRect/>
          </a:stretch>
        </p:blipFill>
        <p:spPr bwMode="auto">
          <a:xfrm>
            <a:off x="6213476" y="2850600"/>
            <a:ext cx="5764530" cy="4323080"/>
          </a:xfrm>
          <a:prstGeom prst="rect">
            <a:avLst/>
          </a:prstGeom>
          <a:noFill/>
          <a:ln>
            <a:noFill/>
          </a:ln>
        </p:spPr>
      </p:pic>
    </p:spTree>
    <p:extLst>
      <p:ext uri="{BB962C8B-B14F-4D97-AF65-F5344CB8AC3E}">
        <p14:creationId xmlns:p14="http://schemas.microsoft.com/office/powerpoint/2010/main" val="12224222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9CEEA3-BC47-4978-809C-D6F851B35BCF}"/>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A5F118F9-1FEB-4119-BD49-ABD01110B174}"/>
              </a:ext>
            </a:extLst>
          </p:cNvPr>
          <p:cNvSpPr>
            <a:spLocks noGrp="1"/>
          </p:cNvSpPr>
          <p:nvPr>
            <p:ph idx="1"/>
          </p:nvPr>
        </p:nvSpPr>
        <p:spPr/>
        <p:txBody>
          <a:bodyPr/>
          <a:lstStyle/>
          <a:p>
            <a:r>
              <a:rPr lang="fr-FR" dirty="0"/>
              <a:t>As you knew that the Textile is dependent on the raw material, and this one is more often of vegetable origin, we can develop more models that are sophisticated and which make it possible to improve the production of the cotton for example.  </a:t>
            </a:r>
          </a:p>
          <a:p>
            <a:r>
              <a:rPr lang="fr-FR" dirty="0"/>
              <a:t>The beginning always begins with experience and observation, and this thesis approaches the mechanism of vegetal growth.</a:t>
            </a:r>
          </a:p>
        </p:txBody>
      </p:sp>
      <p:sp>
        <p:nvSpPr>
          <p:cNvPr id="4" name="Espace réservé du numéro de diapositive 3">
            <a:extLst>
              <a:ext uri="{FF2B5EF4-FFF2-40B4-BE49-F238E27FC236}">
                <a16:creationId xmlns:a16="http://schemas.microsoft.com/office/drawing/2014/main" id="{9E24A19A-17F9-4248-A60F-830329AF3DB0}"/>
              </a:ext>
            </a:extLst>
          </p:cNvPr>
          <p:cNvSpPr>
            <a:spLocks noGrp="1"/>
          </p:cNvSpPr>
          <p:nvPr>
            <p:ph type="sldNum" sz="quarter" idx="12"/>
          </p:nvPr>
        </p:nvSpPr>
        <p:spPr/>
        <p:txBody>
          <a:bodyPr/>
          <a:lstStyle/>
          <a:p>
            <a:fld id="{F210F9B4-E45F-45DE-A182-D2D6DBA25399}" type="slidenum">
              <a:rPr lang="fr-FR" smtClean="0"/>
              <a:t>48</a:t>
            </a:fld>
            <a:endParaRPr lang="fr-FR"/>
          </a:p>
        </p:txBody>
      </p:sp>
    </p:spTree>
    <p:extLst>
      <p:ext uri="{BB962C8B-B14F-4D97-AF65-F5344CB8AC3E}">
        <p14:creationId xmlns:p14="http://schemas.microsoft.com/office/powerpoint/2010/main" val="11244254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E1B15B1-0E13-4ECD-B753-2C607B0BA76C}"/>
              </a:ext>
            </a:extLst>
          </p:cNvPr>
          <p:cNvSpPr>
            <a:spLocks noGrp="1"/>
          </p:cNvSpPr>
          <p:nvPr>
            <p:ph type="title"/>
          </p:nvPr>
        </p:nvSpPr>
        <p:spPr/>
        <p:txBody>
          <a:bodyPr/>
          <a:lstStyle/>
          <a:p>
            <a:endParaRPr lang="fr-FR"/>
          </a:p>
        </p:txBody>
      </p:sp>
      <p:pic>
        <p:nvPicPr>
          <p:cNvPr id="6" name="Espace réservé du contenu 5">
            <a:extLst>
              <a:ext uri="{FF2B5EF4-FFF2-40B4-BE49-F238E27FC236}">
                <a16:creationId xmlns:a16="http://schemas.microsoft.com/office/drawing/2014/main" id="{FE2C2DB8-ACD1-43BE-AA09-AE61D04E801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9200" y="2482056"/>
            <a:ext cx="9753600" cy="3038475"/>
          </a:xfrm>
        </p:spPr>
      </p:pic>
      <p:sp>
        <p:nvSpPr>
          <p:cNvPr id="4" name="Espace réservé du numéro de diapositive 3">
            <a:extLst>
              <a:ext uri="{FF2B5EF4-FFF2-40B4-BE49-F238E27FC236}">
                <a16:creationId xmlns:a16="http://schemas.microsoft.com/office/drawing/2014/main" id="{CDA7A173-CD8F-482B-B919-FF68A4520E2B}"/>
              </a:ext>
            </a:extLst>
          </p:cNvPr>
          <p:cNvSpPr>
            <a:spLocks noGrp="1"/>
          </p:cNvSpPr>
          <p:nvPr>
            <p:ph type="sldNum" sz="quarter" idx="12"/>
          </p:nvPr>
        </p:nvSpPr>
        <p:spPr/>
        <p:txBody>
          <a:bodyPr/>
          <a:lstStyle/>
          <a:p>
            <a:fld id="{F210F9B4-E45F-45DE-A182-D2D6DBA25399}" type="slidenum">
              <a:rPr lang="fr-FR" smtClean="0"/>
              <a:t>49</a:t>
            </a:fld>
            <a:endParaRPr lang="fr-FR"/>
          </a:p>
        </p:txBody>
      </p:sp>
      <p:pic>
        <p:nvPicPr>
          <p:cNvPr id="8" name="Image 7">
            <a:extLst>
              <a:ext uri="{FF2B5EF4-FFF2-40B4-BE49-F238E27FC236}">
                <a16:creationId xmlns:a16="http://schemas.microsoft.com/office/drawing/2014/main" id="{D43FD1CE-130F-4EDB-BF0F-4BA3865300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2389" y="804863"/>
            <a:ext cx="2152650" cy="885825"/>
          </a:xfrm>
          <a:prstGeom prst="rect">
            <a:avLst/>
          </a:prstGeom>
        </p:spPr>
      </p:pic>
    </p:spTree>
    <p:extLst>
      <p:ext uri="{BB962C8B-B14F-4D97-AF65-F5344CB8AC3E}">
        <p14:creationId xmlns:p14="http://schemas.microsoft.com/office/powerpoint/2010/main" val="16863024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A04E4E-1305-4AD0-8423-E4589307995C}"/>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A9CB151D-433C-4875-8EC0-83BF5BDE4B87}"/>
              </a:ext>
            </a:extLst>
          </p:cNvPr>
          <p:cNvSpPr>
            <a:spLocks noGrp="1"/>
          </p:cNvSpPr>
          <p:nvPr>
            <p:ph idx="1"/>
          </p:nvPr>
        </p:nvSpPr>
        <p:spPr/>
        <p:txBody>
          <a:bodyPr/>
          <a:lstStyle/>
          <a:p>
            <a:endParaRPr lang="fr-FR"/>
          </a:p>
        </p:txBody>
      </p:sp>
      <p:pic>
        <p:nvPicPr>
          <p:cNvPr id="4" name="Image 3">
            <a:extLst>
              <a:ext uri="{FF2B5EF4-FFF2-40B4-BE49-F238E27FC236}">
                <a16:creationId xmlns:a16="http://schemas.microsoft.com/office/drawing/2014/main" id="{7E75E2B5-413E-4F4A-B4FD-E9183A516600}"/>
              </a:ext>
            </a:extLst>
          </p:cNvPr>
          <p:cNvPicPr>
            <a:picLocks noChangeAspect="1"/>
          </p:cNvPicPr>
          <p:nvPr/>
        </p:nvPicPr>
        <p:blipFill>
          <a:blip r:embed="rId2"/>
          <a:stretch>
            <a:fillRect/>
          </a:stretch>
        </p:blipFill>
        <p:spPr>
          <a:xfrm>
            <a:off x="964810" y="1635941"/>
            <a:ext cx="9288193" cy="5222059"/>
          </a:xfrm>
          <a:prstGeom prst="rect">
            <a:avLst/>
          </a:prstGeom>
        </p:spPr>
      </p:pic>
    </p:spTree>
    <p:extLst>
      <p:ext uri="{BB962C8B-B14F-4D97-AF65-F5344CB8AC3E}">
        <p14:creationId xmlns:p14="http://schemas.microsoft.com/office/powerpoint/2010/main" val="1638285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1D673F-28F2-4050-9F03-761EF249B3E8}"/>
              </a:ext>
            </a:extLst>
          </p:cNvPr>
          <p:cNvSpPr>
            <a:spLocks noGrp="1"/>
          </p:cNvSpPr>
          <p:nvPr>
            <p:ph type="title"/>
          </p:nvPr>
        </p:nvSpPr>
        <p:spPr/>
        <p:txBody>
          <a:bodyPr/>
          <a:lstStyle/>
          <a:p>
            <a:endParaRPr lang="fr-FR"/>
          </a:p>
        </p:txBody>
      </p:sp>
      <p:pic>
        <p:nvPicPr>
          <p:cNvPr id="5" name="Espace réservé du contenu 4">
            <a:extLst>
              <a:ext uri="{FF2B5EF4-FFF2-40B4-BE49-F238E27FC236}">
                <a16:creationId xmlns:a16="http://schemas.microsoft.com/office/drawing/2014/main" id="{93AE17B8-8C97-46FB-80DC-54780CB5498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14930" y="1825625"/>
            <a:ext cx="6962140" cy="4351338"/>
          </a:xfrm>
        </p:spPr>
      </p:pic>
    </p:spTree>
    <p:extLst>
      <p:ext uri="{BB962C8B-B14F-4D97-AF65-F5344CB8AC3E}">
        <p14:creationId xmlns:p14="http://schemas.microsoft.com/office/powerpoint/2010/main" val="18368350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A92617-E9CF-4284-BFD5-B26141EA52D0}"/>
              </a:ext>
            </a:extLst>
          </p:cNvPr>
          <p:cNvSpPr>
            <a:spLocks noGrp="1"/>
          </p:cNvSpPr>
          <p:nvPr>
            <p:ph type="title"/>
          </p:nvPr>
        </p:nvSpPr>
        <p:spPr/>
        <p:txBody>
          <a:bodyPr/>
          <a:lstStyle/>
          <a:p>
            <a:endParaRPr lang="fr-FR"/>
          </a:p>
        </p:txBody>
      </p:sp>
      <p:pic>
        <p:nvPicPr>
          <p:cNvPr id="6" name="Espace réservé du contenu 5">
            <a:extLst>
              <a:ext uri="{FF2B5EF4-FFF2-40B4-BE49-F238E27FC236}">
                <a16:creationId xmlns:a16="http://schemas.microsoft.com/office/drawing/2014/main" id="{A41058C6-A2C1-405B-9047-FDBE61AD6EA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14930" y="1825625"/>
            <a:ext cx="6962140" cy="4351338"/>
          </a:xfrm>
        </p:spPr>
      </p:pic>
      <p:sp>
        <p:nvSpPr>
          <p:cNvPr id="4" name="Espace réservé du numéro de diapositive 3">
            <a:extLst>
              <a:ext uri="{FF2B5EF4-FFF2-40B4-BE49-F238E27FC236}">
                <a16:creationId xmlns:a16="http://schemas.microsoft.com/office/drawing/2014/main" id="{7C5AAF51-B974-4D56-A2F6-3B176831683A}"/>
              </a:ext>
            </a:extLst>
          </p:cNvPr>
          <p:cNvSpPr>
            <a:spLocks noGrp="1"/>
          </p:cNvSpPr>
          <p:nvPr>
            <p:ph type="sldNum" sz="quarter" idx="12"/>
          </p:nvPr>
        </p:nvSpPr>
        <p:spPr/>
        <p:txBody>
          <a:bodyPr/>
          <a:lstStyle/>
          <a:p>
            <a:fld id="{F210F9B4-E45F-45DE-A182-D2D6DBA25399}" type="slidenum">
              <a:rPr lang="fr-FR" smtClean="0"/>
              <a:t>52</a:t>
            </a:fld>
            <a:endParaRPr lang="fr-FR"/>
          </a:p>
        </p:txBody>
      </p:sp>
    </p:spTree>
    <p:extLst>
      <p:ext uri="{BB962C8B-B14F-4D97-AF65-F5344CB8AC3E}">
        <p14:creationId xmlns:p14="http://schemas.microsoft.com/office/powerpoint/2010/main" val="5499638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19D2D1-ADA9-45BD-BAA7-811E1DDF8BE7}"/>
              </a:ext>
            </a:extLst>
          </p:cNvPr>
          <p:cNvSpPr>
            <a:spLocks noGrp="1"/>
          </p:cNvSpPr>
          <p:nvPr>
            <p:ph type="title"/>
          </p:nvPr>
        </p:nvSpPr>
        <p:spPr/>
        <p:txBody>
          <a:bodyPr/>
          <a:lstStyle/>
          <a:p>
            <a:endParaRPr lang="fr-FR"/>
          </a:p>
        </p:txBody>
      </p:sp>
      <p:pic>
        <p:nvPicPr>
          <p:cNvPr id="6" name="Espace réservé du contenu 5">
            <a:extLst>
              <a:ext uri="{FF2B5EF4-FFF2-40B4-BE49-F238E27FC236}">
                <a16:creationId xmlns:a16="http://schemas.microsoft.com/office/drawing/2014/main" id="{F25AD6E6-EC6D-46A2-A6A1-60C6D468FAB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14930" y="1825625"/>
            <a:ext cx="6962140" cy="4351338"/>
          </a:xfrm>
        </p:spPr>
      </p:pic>
      <p:sp>
        <p:nvSpPr>
          <p:cNvPr id="4" name="Espace réservé du numéro de diapositive 3">
            <a:extLst>
              <a:ext uri="{FF2B5EF4-FFF2-40B4-BE49-F238E27FC236}">
                <a16:creationId xmlns:a16="http://schemas.microsoft.com/office/drawing/2014/main" id="{ACA7B737-D9A2-4FB8-AD1E-E3D3864302C2}"/>
              </a:ext>
            </a:extLst>
          </p:cNvPr>
          <p:cNvSpPr>
            <a:spLocks noGrp="1"/>
          </p:cNvSpPr>
          <p:nvPr>
            <p:ph type="sldNum" sz="quarter" idx="12"/>
          </p:nvPr>
        </p:nvSpPr>
        <p:spPr/>
        <p:txBody>
          <a:bodyPr/>
          <a:lstStyle/>
          <a:p>
            <a:fld id="{F210F9B4-E45F-45DE-A182-D2D6DBA25399}" type="slidenum">
              <a:rPr lang="fr-FR" smtClean="0"/>
              <a:t>53</a:t>
            </a:fld>
            <a:endParaRPr lang="fr-FR"/>
          </a:p>
        </p:txBody>
      </p:sp>
    </p:spTree>
    <p:extLst>
      <p:ext uri="{BB962C8B-B14F-4D97-AF65-F5344CB8AC3E}">
        <p14:creationId xmlns:p14="http://schemas.microsoft.com/office/powerpoint/2010/main" val="358283044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A6AFD80-6263-4886-9D3D-C09DD0100BFF}"/>
              </a:ext>
            </a:extLst>
          </p:cNvPr>
          <p:cNvSpPr>
            <a:spLocks noGrp="1"/>
          </p:cNvSpPr>
          <p:nvPr>
            <p:ph type="title"/>
          </p:nvPr>
        </p:nvSpPr>
        <p:spPr/>
        <p:txBody>
          <a:bodyPr/>
          <a:lstStyle/>
          <a:p>
            <a:endParaRPr lang="fr-FR"/>
          </a:p>
        </p:txBody>
      </p:sp>
      <p:pic>
        <p:nvPicPr>
          <p:cNvPr id="6" name="Espace réservé du contenu 5">
            <a:extLst>
              <a:ext uri="{FF2B5EF4-FFF2-40B4-BE49-F238E27FC236}">
                <a16:creationId xmlns:a16="http://schemas.microsoft.com/office/drawing/2014/main" id="{FE2D22FF-CB0A-4EFA-99F9-4F7A2EB7EAF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14930" y="1825625"/>
            <a:ext cx="6962140" cy="4351338"/>
          </a:xfrm>
        </p:spPr>
      </p:pic>
      <p:sp>
        <p:nvSpPr>
          <p:cNvPr id="4" name="Espace réservé du numéro de diapositive 3">
            <a:extLst>
              <a:ext uri="{FF2B5EF4-FFF2-40B4-BE49-F238E27FC236}">
                <a16:creationId xmlns:a16="http://schemas.microsoft.com/office/drawing/2014/main" id="{5770C14A-821E-465D-8E48-917617E818B5}"/>
              </a:ext>
            </a:extLst>
          </p:cNvPr>
          <p:cNvSpPr>
            <a:spLocks noGrp="1"/>
          </p:cNvSpPr>
          <p:nvPr>
            <p:ph type="sldNum" sz="quarter" idx="12"/>
          </p:nvPr>
        </p:nvSpPr>
        <p:spPr/>
        <p:txBody>
          <a:bodyPr/>
          <a:lstStyle/>
          <a:p>
            <a:fld id="{F210F9B4-E45F-45DE-A182-D2D6DBA25399}" type="slidenum">
              <a:rPr lang="fr-FR" smtClean="0"/>
              <a:t>54</a:t>
            </a:fld>
            <a:endParaRPr lang="fr-FR"/>
          </a:p>
        </p:txBody>
      </p:sp>
    </p:spTree>
    <p:extLst>
      <p:ext uri="{BB962C8B-B14F-4D97-AF65-F5344CB8AC3E}">
        <p14:creationId xmlns:p14="http://schemas.microsoft.com/office/powerpoint/2010/main" val="41850279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7D0988D-37C7-4FAE-B986-35C025277669}"/>
              </a:ext>
            </a:extLst>
          </p:cNvPr>
          <p:cNvSpPr>
            <a:spLocks noGrp="1"/>
          </p:cNvSpPr>
          <p:nvPr>
            <p:ph type="title"/>
          </p:nvPr>
        </p:nvSpPr>
        <p:spPr/>
        <p:txBody>
          <a:bodyPr/>
          <a:lstStyle/>
          <a:p>
            <a:endParaRPr lang="fr-FR"/>
          </a:p>
        </p:txBody>
      </p:sp>
      <p:pic>
        <p:nvPicPr>
          <p:cNvPr id="6" name="Espace réservé du contenu 5">
            <a:extLst>
              <a:ext uri="{FF2B5EF4-FFF2-40B4-BE49-F238E27FC236}">
                <a16:creationId xmlns:a16="http://schemas.microsoft.com/office/drawing/2014/main" id="{8E39F1C9-8357-4BAF-9058-AA397798794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2560320"/>
            <a:ext cx="5822188" cy="3638868"/>
          </a:xfrm>
        </p:spPr>
      </p:pic>
      <p:sp>
        <p:nvSpPr>
          <p:cNvPr id="4" name="Espace réservé du numéro de diapositive 3">
            <a:extLst>
              <a:ext uri="{FF2B5EF4-FFF2-40B4-BE49-F238E27FC236}">
                <a16:creationId xmlns:a16="http://schemas.microsoft.com/office/drawing/2014/main" id="{FCF6FA4A-5A40-411F-9F0D-8B3F9B6B2C6D}"/>
              </a:ext>
            </a:extLst>
          </p:cNvPr>
          <p:cNvSpPr>
            <a:spLocks noGrp="1"/>
          </p:cNvSpPr>
          <p:nvPr>
            <p:ph type="sldNum" sz="quarter" idx="12"/>
          </p:nvPr>
        </p:nvSpPr>
        <p:spPr/>
        <p:txBody>
          <a:bodyPr/>
          <a:lstStyle/>
          <a:p>
            <a:fld id="{F210F9B4-E45F-45DE-A182-D2D6DBA25399}" type="slidenum">
              <a:rPr lang="fr-FR" smtClean="0"/>
              <a:t>55</a:t>
            </a:fld>
            <a:endParaRPr lang="fr-FR"/>
          </a:p>
        </p:txBody>
      </p:sp>
      <p:pic>
        <p:nvPicPr>
          <p:cNvPr id="8" name="Image 7">
            <a:extLst>
              <a:ext uri="{FF2B5EF4-FFF2-40B4-BE49-F238E27FC236}">
                <a16:creationId xmlns:a16="http://schemas.microsoft.com/office/drawing/2014/main" id="{56C8D58E-B19D-4892-9D2D-A70A79E8D7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560320"/>
            <a:ext cx="5822189" cy="3638868"/>
          </a:xfrm>
          <a:prstGeom prst="rect">
            <a:avLst/>
          </a:prstGeom>
        </p:spPr>
      </p:pic>
    </p:spTree>
    <p:extLst>
      <p:ext uri="{BB962C8B-B14F-4D97-AF65-F5344CB8AC3E}">
        <p14:creationId xmlns:p14="http://schemas.microsoft.com/office/powerpoint/2010/main" val="13754406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E3048D-61BB-4D80-8CA7-FA0EF9B6F67F}"/>
              </a:ext>
            </a:extLst>
          </p:cNvPr>
          <p:cNvSpPr>
            <a:spLocks noGrp="1"/>
          </p:cNvSpPr>
          <p:nvPr>
            <p:ph type="title"/>
          </p:nvPr>
        </p:nvSpPr>
        <p:spPr>
          <a:xfrm>
            <a:off x="613117" y="294786"/>
            <a:ext cx="10515600" cy="1325563"/>
          </a:xfrm>
        </p:spPr>
        <p:txBody>
          <a:bodyPr/>
          <a:lstStyle/>
          <a:p>
            <a:endParaRPr lang="fr-FR"/>
          </a:p>
        </p:txBody>
      </p:sp>
      <p:pic>
        <p:nvPicPr>
          <p:cNvPr id="6" name="Espace réservé du contenu 5">
            <a:extLst>
              <a:ext uri="{FF2B5EF4-FFF2-40B4-BE49-F238E27FC236}">
                <a16:creationId xmlns:a16="http://schemas.microsoft.com/office/drawing/2014/main" id="{7E8FC8CB-E521-4847-AD56-1413BEB1886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7177" y="2837888"/>
            <a:ext cx="5178116" cy="3883587"/>
          </a:xfrm>
        </p:spPr>
      </p:pic>
      <p:sp>
        <p:nvSpPr>
          <p:cNvPr id="4" name="Espace réservé du numéro de diapositive 3">
            <a:extLst>
              <a:ext uri="{FF2B5EF4-FFF2-40B4-BE49-F238E27FC236}">
                <a16:creationId xmlns:a16="http://schemas.microsoft.com/office/drawing/2014/main" id="{F463F1CD-7933-4F25-978B-52ED052357D4}"/>
              </a:ext>
            </a:extLst>
          </p:cNvPr>
          <p:cNvSpPr>
            <a:spLocks noGrp="1"/>
          </p:cNvSpPr>
          <p:nvPr>
            <p:ph type="sldNum" sz="quarter" idx="12"/>
          </p:nvPr>
        </p:nvSpPr>
        <p:spPr/>
        <p:txBody>
          <a:bodyPr/>
          <a:lstStyle/>
          <a:p>
            <a:fld id="{F210F9B4-E45F-45DE-A182-D2D6DBA25399}" type="slidenum">
              <a:rPr lang="fr-FR" smtClean="0"/>
              <a:t>56</a:t>
            </a:fld>
            <a:endParaRPr lang="fr-FR"/>
          </a:p>
        </p:txBody>
      </p:sp>
      <p:pic>
        <p:nvPicPr>
          <p:cNvPr id="8" name="Image 7">
            <a:extLst>
              <a:ext uri="{FF2B5EF4-FFF2-40B4-BE49-F238E27FC236}">
                <a16:creationId xmlns:a16="http://schemas.microsoft.com/office/drawing/2014/main" id="{9184963A-24F3-4F6E-A41E-C57809BAF8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6708" y="2876527"/>
            <a:ext cx="5126598" cy="3844948"/>
          </a:xfrm>
          <a:prstGeom prst="rect">
            <a:avLst/>
          </a:prstGeom>
        </p:spPr>
      </p:pic>
    </p:spTree>
    <p:extLst>
      <p:ext uri="{BB962C8B-B14F-4D97-AF65-F5344CB8AC3E}">
        <p14:creationId xmlns:p14="http://schemas.microsoft.com/office/powerpoint/2010/main" val="181098972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A298B9-1C81-41AE-9554-F772B27EAFAD}"/>
              </a:ext>
            </a:extLst>
          </p:cNvPr>
          <p:cNvSpPr>
            <a:spLocks noGrp="1"/>
          </p:cNvSpPr>
          <p:nvPr>
            <p:ph type="title"/>
          </p:nvPr>
        </p:nvSpPr>
        <p:spPr/>
        <p:txBody>
          <a:bodyPr/>
          <a:lstStyle/>
          <a:p>
            <a:endParaRPr lang="fr-FR"/>
          </a:p>
        </p:txBody>
      </p:sp>
      <p:pic>
        <p:nvPicPr>
          <p:cNvPr id="6" name="Espace réservé du contenu 5">
            <a:extLst>
              <a:ext uri="{FF2B5EF4-FFF2-40B4-BE49-F238E27FC236}">
                <a16:creationId xmlns:a16="http://schemas.microsoft.com/office/drawing/2014/main" id="{C5154F9C-D9DF-4EC2-BD6B-3D17B868DF3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3422" y="1690688"/>
            <a:ext cx="4320442" cy="2700277"/>
          </a:xfrm>
        </p:spPr>
      </p:pic>
      <p:sp>
        <p:nvSpPr>
          <p:cNvPr id="4" name="Espace réservé du numéro de diapositive 3">
            <a:extLst>
              <a:ext uri="{FF2B5EF4-FFF2-40B4-BE49-F238E27FC236}">
                <a16:creationId xmlns:a16="http://schemas.microsoft.com/office/drawing/2014/main" id="{689A3B07-2901-4090-B48B-5778C4F08D2B}"/>
              </a:ext>
            </a:extLst>
          </p:cNvPr>
          <p:cNvSpPr>
            <a:spLocks noGrp="1"/>
          </p:cNvSpPr>
          <p:nvPr>
            <p:ph type="sldNum" sz="quarter" idx="12"/>
          </p:nvPr>
        </p:nvSpPr>
        <p:spPr/>
        <p:txBody>
          <a:bodyPr/>
          <a:lstStyle/>
          <a:p>
            <a:fld id="{F210F9B4-E45F-45DE-A182-D2D6DBA25399}" type="slidenum">
              <a:rPr lang="fr-FR" smtClean="0"/>
              <a:t>57</a:t>
            </a:fld>
            <a:endParaRPr lang="fr-FR"/>
          </a:p>
        </p:txBody>
      </p:sp>
      <p:pic>
        <p:nvPicPr>
          <p:cNvPr id="10" name="Image 9">
            <a:extLst>
              <a:ext uri="{FF2B5EF4-FFF2-40B4-BE49-F238E27FC236}">
                <a16:creationId xmlns:a16="http://schemas.microsoft.com/office/drawing/2014/main" id="{76151EC8-CF4D-4E39-B6DA-7C2ED16522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33357" y="1690687"/>
            <a:ext cx="4320443" cy="2700277"/>
          </a:xfrm>
          <a:prstGeom prst="rect">
            <a:avLst/>
          </a:prstGeom>
        </p:spPr>
      </p:pic>
      <p:pic>
        <p:nvPicPr>
          <p:cNvPr id="12" name="Image 11">
            <a:extLst>
              <a:ext uri="{FF2B5EF4-FFF2-40B4-BE49-F238E27FC236}">
                <a16:creationId xmlns:a16="http://schemas.microsoft.com/office/drawing/2014/main" id="{1725F852-C310-4EC6-84C5-9DD5887DF8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81401" y="4522177"/>
            <a:ext cx="3737317" cy="2335823"/>
          </a:xfrm>
          <a:prstGeom prst="rect">
            <a:avLst/>
          </a:prstGeom>
        </p:spPr>
      </p:pic>
    </p:spTree>
    <p:extLst>
      <p:ext uri="{BB962C8B-B14F-4D97-AF65-F5344CB8AC3E}">
        <p14:creationId xmlns:p14="http://schemas.microsoft.com/office/powerpoint/2010/main" val="79677374"/>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226</TotalTime>
  <Words>4669</Words>
  <Application>Microsoft Office PowerPoint</Application>
  <PresentationFormat>Grand écran</PresentationFormat>
  <Paragraphs>716</Paragraphs>
  <Slides>57</Slides>
  <Notes>43</Notes>
  <HiddenSlides>0</HiddenSlides>
  <MMClips>0</MMClips>
  <ScaleCrop>false</ScaleCrop>
  <HeadingPairs>
    <vt:vector size="8" baseType="variant">
      <vt:variant>
        <vt:lpstr>Polices utilisées</vt:lpstr>
      </vt:variant>
      <vt:variant>
        <vt:i4>8</vt:i4>
      </vt:variant>
      <vt:variant>
        <vt:lpstr>Thème</vt:lpstr>
      </vt:variant>
      <vt:variant>
        <vt:i4>2</vt:i4>
      </vt:variant>
      <vt:variant>
        <vt:lpstr>Serveurs OLE incorporés</vt:lpstr>
      </vt:variant>
      <vt:variant>
        <vt:i4>1</vt:i4>
      </vt:variant>
      <vt:variant>
        <vt:lpstr>Titres des diapositives</vt:lpstr>
      </vt:variant>
      <vt:variant>
        <vt:i4>57</vt:i4>
      </vt:variant>
    </vt:vector>
  </HeadingPairs>
  <TitlesOfParts>
    <vt:vector size="68" baseType="lpstr">
      <vt:lpstr>Algerian</vt:lpstr>
      <vt:lpstr>Arial</vt:lpstr>
      <vt:lpstr>Calibri</vt:lpstr>
      <vt:lpstr>Calibri Light</vt:lpstr>
      <vt:lpstr>Cambria Math</vt:lpstr>
      <vt:lpstr>Symbol</vt:lpstr>
      <vt:lpstr>Times New Roman</vt:lpstr>
      <vt:lpstr>Wingdings</vt:lpstr>
      <vt:lpstr>Thème Office</vt:lpstr>
      <vt:lpstr>1_Thème Office</vt:lpstr>
      <vt:lpstr>Image bitmap</vt:lpstr>
      <vt:lpstr>THE SECOND INTERNATIONAL FORUM ON TEXTILES FOR GRADUATE STUDENTS</vt:lpstr>
      <vt:lpstr> Who I’m ?</vt:lpstr>
      <vt:lpstr> Who I’m ?</vt:lpstr>
      <vt:lpstr>Présentation PowerPoint</vt:lpstr>
      <vt:lpstr>RECONSTRUCTION STATIQUE D’UNE BRANCHE  ETAPE 1: Modélisation &amp; Formalisme</vt:lpstr>
      <vt:lpstr>RECONSTRUCTION STATIQUE D’UNE BRANCHE  ETAPE 1: Modélisation &amp; Formalisme</vt:lpstr>
      <vt:lpstr>RECONSTRUCTION STATIQUE D’UNE BRANCHE  ETAPE 2: Collecte des données</vt:lpstr>
      <vt:lpstr>RECONSTRUCTION STATIQUE D’UNE BRANCHE  ETAPE 2: Collecte des données</vt:lpstr>
      <vt:lpstr>RECONSTRUCTION STATIQUE D’UNE BRANCHE  ETAPE 3: Exploitation des données et Conversion</vt:lpstr>
      <vt:lpstr>RECONSTRUCTION STATIQUE D’UNE BRANCHE  ETAPE 3: Exploitation des données et Conversion</vt:lpstr>
      <vt:lpstr>RECONSTRUCTION STATIQUE D’UNE BRANCHE  ETAPE 3: Exploitation des données et Conversion</vt:lpstr>
      <vt:lpstr>RECONSTRUCTION STATIQUE D’UNE BRANCHE  ETAPE 4: Compilation du script </vt:lpstr>
      <vt:lpstr>PROVISIONNER LA CROISSANCE ET LE DEVELOPPEMENT</vt:lpstr>
      <vt:lpstr>PROVISIONNER LA CROISSANCE ET LE DEVELOPPEMENT  ETAPE 1 : MOYEN DE RECONSTRUCTION FORMEL</vt:lpstr>
      <vt:lpstr>PROVISIONNER LA CROISSANCE ET LE DEVELOPPEMENT  ETAPE 1 : MOYEN DE RECONSTRUCTION FORMEL</vt:lpstr>
      <vt:lpstr>PROVISIONNER LA CROISSANCE ET LE DEVELOPPEMENT  ETAPE 1 : MOYEN DE RECONSTRUCTION FORMEL</vt:lpstr>
      <vt:lpstr>PROVISIONNER LA CROISSANCE ET LE DEVELOPPEMENT  ETAPE 1 : MOYEN DE RECONSTRUCTION FORMEL</vt:lpstr>
      <vt:lpstr>PROVISIONNER LA CROISSANCE ET LE DEVELOPPEMENT  ETAPE 1 : MOYEN DE RECONSTRUCTION FORMEL</vt:lpstr>
      <vt:lpstr>PROVISIONNER LA CROISSANCE ET LE DEVELOPPEMENT  ETAPE 1 : MOYEN DE RECONSTRUCTION FORMEL</vt:lpstr>
      <vt:lpstr>PROVISIONNER LA CROISSANCE ET LE DEVELOPPEMENT  ETAPE 1 : MOYEN DE RECONSTRUCTION FORMEL</vt:lpstr>
      <vt:lpstr>PROVISIONNER LA CROISSANCE ET LE DEVELOPPEMENT  ETAPE 1 : MOYEN DE RECONSTRUCTION FORMEL</vt:lpstr>
      <vt:lpstr>PROVISIONNER LA CROISSANCE ET LE DEVELOPPEMENT  ETAPE 1 : MOYEN DE RECONSTRUCTION FORMEL</vt:lpstr>
      <vt:lpstr>PROVISIONNER LA CROISSANCE ET LE DEVELOPPEMENT  ETAPE 1 : MOYEN DE RECONSTRUCTION FORMEL</vt:lpstr>
      <vt:lpstr>PROVISIONNER LA CROISSANCE ET LE DEVELOPPEMENT  ETAPE 1 : MOYEN DE RECONSTRUCTION FORMEL</vt:lpstr>
      <vt:lpstr>PROVISIONNER LA CROISSANCE ET LE DEVELOPPEMENT  ETAPE 1 : CARACTERISATION DE LA STRUCTURE DE PLANTE</vt:lpstr>
      <vt:lpstr>PROVISIONNER LA CROISSANCE ET LE DEVELOPPEMENT  ETAPE 1 : CARACTERISATION DE LA STRUCTURE DE PLANTE</vt:lpstr>
      <vt:lpstr>PROVISIONNER LA CROISSANCE ET LE DEVELOPPEMENT  ETAPE 1 : CARACTERISATION DE LA STRUCTURE DE PLANTE</vt:lpstr>
      <vt:lpstr>PROVISIONNER LA CROISSANCE ET LE DEVELOPPEMENT  ETAPE 1 : CARACTERISATION DE LA STRUCTURE DE PLANTE</vt:lpstr>
      <vt:lpstr>PROVISIONNER LA CROISSANCE ET LE DEVELOPPEMENT  ETAPE 1 : CARACTERISATION DE LA STRUCTURE DE PLANTE</vt:lpstr>
      <vt:lpstr>PROVISIONNER LA CROISSANCE ET LE DEVELOPPEMENT  ETAPE 1 : CARACTERISATION DE LA STRUCTURE DE PLANTE</vt:lpstr>
      <vt:lpstr>PROVISIONNER LA CROISSANCE ET LE DEVELOPPEMENT  ETAPE 1 : CARACTERISATION DE LA STRUCTURE DE PLANTE</vt:lpstr>
      <vt:lpstr>PROVISIONNER LA CROISSANCE ET LE DEVELOPPEMENT  ETAPE 1 : CARACTERISATION DE LA STRUCTURE DE PLANTE</vt:lpstr>
      <vt:lpstr>PROVISIONNER LA CROISSANCE ET LE DEVELOPPEMENT  ETAPE 1 : CARACTERISATION DE LA STRUCTURE DE PLANTE</vt:lpstr>
      <vt:lpstr>PROVISIONNER LA CROISSANCE ET LE DEVELOPPEMENT  ETAPE 1 : CARACTERISATION DE LA STRUCTURE DE PLANTE</vt:lpstr>
      <vt:lpstr>PROVISIONNER LA CROISSANCE ET LE DEVELOPPEMENT  ETAPE 1 : CARACTERISATION DE LA STRUCTURE DE PLANTE</vt:lpstr>
      <vt:lpstr>PROVISIONNER LA CROISSANCE ET LE DEVELOPPEMENT  ETAPE 1 : CARACTERISATION DE LA STRUCTURE DE PLANTE</vt:lpstr>
      <vt:lpstr>PROVISIONNER LA CROISSANCE ET LE DEVELOPPEMENT  ETAPE 1 : CARACTERISATION DE LA STRUCTURE DE PLANTE</vt:lpstr>
      <vt:lpstr>PROVISIONNER LA CROISSANCE ET LE DEVELOPPEMENT  ETAPE 2 : CARACTERISATION DE LA GEOMETRIE DE PLANTE</vt:lpstr>
      <vt:lpstr>PROVISIONNER LA CROISSANCE ET LE DEVELOPPEMENT  ETAPE 2 : CARACTERISATION DE LA GEOMETRIE DE PLANTE</vt:lpstr>
      <vt:lpstr>PROVISIONNER LA CROISSANCE ET LE DEVELOPPEMENT  ETAPE 2 : CARACTERISATION DE LA GEOMETRIE DE PLANTE</vt:lpstr>
      <vt:lpstr>PROVISIONNER LA CROISSANCE ET LE DEVELOPPEMENT  ETAPE 2 : CARACTERISATION DE LA GEOMETRIE DE PLANTE</vt:lpstr>
      <vt:lpstr>PROVISIONNER LA CROISSANCE ET LE DEVELOPPEMENT  ETAPE 2 : CARACTERISATION DE LA GEOMETRIE DE PLANTE</vt:lpstr>
      <vt:lpstr>PROVISIONNER LA CROISSANCE ET LE DEVELOPPEMENT  ETAPE 2 : CARACTERISATION DE LA GEOMETRIE DE PLANTE</vt:lpstr>
      <vt:lpstr>PROVISIONNER LA CROISSANCE ET LE DEVELOPPEMENT  ETAPE 2 : CARACTERISATION DE LA GEOMETRIE DE PLANTE</vt:lpstr>
      <vt:lpstr>PROVISIONNER LA CROISSANCE ET LE DEVELOPPEMENT  ETAPE 2 : CARACTERISATION DE LA GEOMETRIE DE PLANTE</vt:lpstr>
      <vt:lpstr>PROVISIONNER LA CROISSANCE ET LE DEVELOPPEMENT  ETAPE 5 :  IMPLEMENTATION ET RESULTAT</vt:lpstr>
      <vt:lpstr>PROVISIONNER LA CROISSANCE ET LE DEVELOPPEMENT  ETAPE 5 :  IMPLEMENTATION ET RESULTAT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SECOND INTERNATIONAL FORUM ON TEXTILES FOR GRADUATE STUDENTS</dc:title>
  <dc:creator>oussema</dc:creator>
  <cp:lastModifiedBy>oussema</cp:lastModifiedBy>
  <cp:revision>9</cp:revision>
  <dcterms:created xsi:type="dcterms:W3CDTF">2018-09-07T15:19:05Z</dcterms:created>
  <dcterms:modified xsi:type="dcterms:W3CDTF">2018-09-07T19:05:49Z</dcterms:modified>
</cp:coreProperties>
</file>